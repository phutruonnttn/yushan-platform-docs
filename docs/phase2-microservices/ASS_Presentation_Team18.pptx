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y="5143500" cx="9144000"/>
  <p:notesSz cx="6858000" cy="9144000"/>
  <p:embeddedFontLst>
    <p:embeddedFont>
      <p:font typeface="Play"/>
      <p:regular r:id="rId55"/>
      <p:bold r:id="rId56"/>
    </p:embeddedFont>
    <p:embeddedFont>
      <p:font typeface="Average"/>
      <p:regular r:id="rId57"/>
    </p:embeddedFont>
    <p:embeddedFont>
      <p:font typeface="Roboto Mono"/>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F019049-BCBF-475E-B298-90896E157E7F}">
  <a:tblStyle styleId="{AF019049-BCBF-475E-B298-90896E157E7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35C393D-EF75-4AB4-8CA3-5B0A3B47D541}"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1" Type="http://schemas.openxmlformats.org/officeDocument/2006/relationships/font" Target="fonts/RobotoMono-boldItalic.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RobotoMono-italic.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font" Target="fonts/Play-regular.fntdata"/><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font" Target="fonts/Average-regular.fntdata"/><Relationship Id="rId12" Type="http://schemas.openxmlformats.org/officeDocument/2006/relationships/slide" Target="slides/slide5.xml"/><Relationship Id="rId56" Type="http://schemas.openxmlformats.org/officeDocument/2006/relationships/font" Target="fonts/Play-bold.fntdata"/><Relationship Id="rId15" Type="http://schemas.openxmlformats.org/officeDocument/2006/relationships/slide" Target="slides/slide8.xml"/><Relationship Id="rId59" Type="http://schemas.openxmlformats.org/officeDocument/2006/relationships/font" Target="fonts/RobotoMono-bold.fntdata"/><Relationship Id="rId14" Type="http://schemas.openxmlformats.org/officeDocument/2006/relationships/slide" Target="slides/slide7.xml"/><Relationship Id="rId58" Type="http://schemas.openxmlformats.org/officeDocument/2006/relationships/font" Target="fonts/RobotoMono-regular.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157.245.61.206:3000/" TargetMode="External"/><Relationship Id="rId3" Type="http://schemas.openxmlformats.org/officeDocument/2006/relationships/hyperlink" Target="http://167.172.77.106:5601/" TargetMode="External"/><Relationship Id="rId4" Type="http://schemas.openxmlformats.org/officeDocument/2006/relationships/hyperlink" Target="http://167.172.77.106:9200/" TargetMode="External"/><Relationship Id="rId5" Type="http://schemas.openxmlformats.org/officeDocument/2006/relationships/hyperlink" Target="http://157.245.61.206:9090/"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9d37a80792_1_65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g39d37a80792_1_6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9d37a80792_1_65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39d37a80792_1_6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9d37a80792_1_66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g39d37a80792_1_6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9d37a80792_1_66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39d37a80792_1_6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9d37a80792_1_67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g39d37a80792_1_6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9d37a80792_1_67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39d37a80792_1_6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9d37a80792_1_68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9d37a80792_1_6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9d37a80792_1_68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g39d37a80792_1_6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9d37a80792_1_69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g39d37a80792_1_6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9d37a80792_1_70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g39d37a80792_1_7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9d37a80792_1_70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g39d37a80792_1_7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9d37a80792_1_71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g39d37a80792_1_7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9d37a80792_1_71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39d37a80792_1_7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9d37a80792_1_72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g39d37a80792_1_7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9d37a80792_1_73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g39d37a80792_1_7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9d37a80792_1_75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39d37a80792_1_7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9d37a80792_1_76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g39d37a80792_1_7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9d37a80792_1_76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g39d37a80792_1_7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9d37a80792_1_77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g39d37a80792_1_7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9d37a80792_1_77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g39d37a80792_1_7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9d37a80792_1_78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g39d37a80792_1_7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9d37a80792_1_78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g39d37a80792_1_7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9d37a80792_1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9d37a80792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In this part me and yang will walk through the Yushan platform’s physical architecture design.</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9d37a80792_1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9d37a80792_1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vi"/>
              <a:t>First, for the architectural decisions part</a:t>
            </a:r>
            <a:endParaRPr/>
          </a:p>
          <a:p>
            <a:pPr indent="-298450" lvl="0" marL="457200" rtl="0" algn="l">
              <a:spcBef>
                <a:spcPts val="0"/>
              </a:spcBef>
              <a:spcAft>
                <a:spcPts val="0"/>
              </a:spcAft>
              <a:buSzPts val="1100"/>
              <a:buChar char="●"/>
            </a:pPr>
            <a:r>
              <a:rPr lang="vi"/>
              <a:t>We run our system as domain‑split microservices. This lets each service scale on its own.</a:t>
            </a:r>
            <a:endParaRPr/>
          </a:p>
          <a:p>
            <a:pPr indent="-298450" lvl="0" marL="457200" rtl="0" algn="l">
              <a:spcBef>
                <a:spcPts val="0"/>
              </a:spcBef>
              <a:spcAft>
                <a:spcPts val="0"/>
              </a:spcAft>
              <a:buSzPts val="1100"/>
              <a:buChar char="●"/>
            </a:pPr>
            <a:r>
              <a:rPr lang="vi"/>
              <a:t>And then, all backends are Dockerized Spring Boot apps. Containers give us consistent environments and faster, safer deployments.</a:t>
            </a:r>
            <a:endParaRPr/>
          </a:p>
          <a:p>
            <a:pPr indent="-298450" lvl="0" marL="457200" rtl="0" algn="l">
              <a:spcBef>
                <a:spcPts val="0"/>
              </a:spcBef>
              <a:spcAft>
                <a:spcPts val="0"/>
              </a:spcAft>
              <a:buSzPts val="1100"/>
              <a:buChar char="●"/>
            </a:pPr>
            <a:r>
              <a:rPr lang="vi"/>
              <a:t>Infrastructure is provisioned on DigitalOcean with Terraform. That makes our infra easy to review.</a:t>
            </a:r>
            <a:endParaRPr/>
          </a:p>
          <a:p>
            <a:pPr indent="-298450" lvl="0" marL="457200" rtl="0" algn="l">
              <a:spcBef>
                <a:spcPts val="0"/>
              </a:spcBef>
              <a:spcAft>
                <a:spcPts val="0"/>
              </a:spcAft>
              <a:buSzPts val="1100"/>
              <a:buChar char="●"/>
            </a:pPr>
            <a:r>
              <a:rPr lang="vi">
                <a:solidFill>
                  <a:schemeClr val="dk1"/>
                </a:solidFill>
              </a:rPr>
              <a:t>Also, </a:t>
            </a:r>
            <a:r>
              <a:rPr lang="vi"/>
              <a:t>we use a centralized runtime: a Config Server for configuration and Eureka for service registration and discovery. This avoids hard‑coded addresses and reduces configuration errors.</a:t>
            </a:r>
            <a:endParaRPr/>
          </a:p>
          <a:p>
            <a:pPr indent="-298450" lvl="0" marL="457200" rtl="0" algn="l">
              <a:spcBef>
                <a:spcPts val="0"/>
              </a:spcBef>
              <a:spcAft>
                <a:spcPts val="0"/>
              </a:spcAft>
              <a:buSzPts val="1100"/>
              <a:buChar char="●"/>
            </a:pPr>
            <a:r>
              <a:rPr lang="vi"/>
              <a:t>A single API Gateway is the public entry point.</a:t>
            </a:r>
            <a:endParaRPr/>
          </a:p>
          <a:p>
            <a:pPr indent="-298450" lvl="0" marL="457200" rtl="0" algn="l">
              <a:spcBef>
                <a:spcPts val="0"/>
              </a:spcBef>
              <a:spcAft>
                <a:spcPts val="0"/>
              </a:spcAft>
              <a:buSzPts val="1100"/>
              <a:buChar char="●"/>
            </a:pPr>
            <a:r>
              <a:rPr lang="vi"/>
              <a:t>Each service owns its PostgreSQL database. We use sync and async events to decouple services and Redis for fast counters and caching. This combination gives us strong transactions, scalable background processing, and low‑latency reads.</a:t>
            </a:r>
            <a:endParaRPr/>
          </a:p>
          <a:p>
            <a:pPr indent="-298450" lvl="0" marL="457200" rtl="0" algn="l">
              <a:spcBef>
                <a:spcPts val="0"/>
              </a:spcBef>
              <a:spcAft>
                <a:spcPts val="0"/>
              </a:spcAft>
              <a:buSzPts val="1100"/>
              <a:buChar char="●"/>
            </a:pPr>
            <a:r>
              <a:rPr lang="vi"/>
              <a:t>Finally, we use CI/CD for repeatable builds and safer releases.</a:t>
            </a:r>
            <a:endParaRPr/>
          </a:p>
          <a:p>
            <a:pPr indent="-298450" lvl="0" marL="457200" rtl="0" algn="l">
              <a:spcBef>
                <a:spcPts val="0"/>
              </a:spcBef>
              <a:spcAft>
                <a:spcPts val="0"/>
              </a:spcAft>
              <a:buSzPts val="1100"/>
              <a:buChar char="●"/>
            </a:pPr>
            <a:r>
              <a:rPr lang="vi"/>
              <a:t>These decisions together keep the platform reliable, scalable, and easier to operate.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9d37a80792_1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9d37a80792_1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vi"/>
              <a:t>Then we move to our physical architecture, we’ll show our architecture diagram later, I just overview now</a:t>
            </a:r>
            <a:endParaRPr/>
          </a:p>
          <a:p>
            <a:pPr indent="-298450" lvl="0" marL="457200" rtl="0" algn="l">
              <a:spcBef>
                <a:spcPts val="0"/>
              </a:spcBef>
              <a:spcAft>
                <a:spcPts val="0"/>
              </a:spcAft>
              <a:buSzPts val="1100"/>
              <a:buChar char="●"/>
            </a:pPr>
            <a:r>
              <a:rPr lang="vi"/>
              <a:t>Our frontend is hosted on GitHub Pages to serve static assets fast and keep costs low.</a:t>
            </a:r>
            <a:endParaRPr/>
          </a:p>
          <a:p>
            <a:pPr indent="-298450" lvl="0" marL="457200" rtl="0" algn="l">
              <a:spcBef>
                <a:spcPts val="0"/>
              </a:spcBef>
              <a:spcAft>
                <a:spcPts val="0"/>
              </a:spcAft>
              <a:buSzPts val="1100"/>
              <a:buChar char="●"/>
            </a:pPr>
            <a:r>
              <a:rPr lang="vi"/>
              <a:t>Also, our all API calls go through a single API Gateway, which handles authentication and routing so the backend can stay private.</a:t>
            </a:r>
            <a:endParaRPr/>
          </a:p>
          <a:p>
            <a:pPr indent="-298450" lvl="0" marL="457200" rtl="0" algn="l">
              <a:spcBef>
                <a:spcPts val="0"/>
              </a:spcBef>
              <a:spcAft>
                <a:spcPts val="0"/>
              </a:spcAft>
              <a:buSzPts val="1100"/>
              <a:buChar char="●"/>
            </a:pPr>
            <a:r>
              <a:rPr lang="vi"/>
              <a:t>And then, core services and control components run on DigitalOcean. This makes the infrastructure repeatable and easy to change.</a:t>
            </a:r>
            <a:endParaRPr/>
          </a:p>
          <a:p>
            <a:pPr indent="-298450" lvl="0" marL="457200" rtl="0" algn="l">
              <a:spcBef>
                <a:spcPts val="0"/>
              </a:spcBef>
              <a:spcAft>
                <a:spcPts val="0"/>
              </a:spcAft>
              <a:buSzPts val="1100"/>
              <a:buChar char="●"/>
            </a:pPr>
            <a:r>
              <a:rPr lang="vi"/>
              <a:t>Each service runs as its own container on droplets, which simplifies deployments and isolates errors.</a:t>
            </a:r>
            <a:endParaRPr/>
          </a:p>
          <a:p>
            <a:pPr indent="-298450" lvl="0" marL="457200" rtl="0" algn="l">
              <a:spcBef>
                <a:spcPts val="0"/>
              </a:spcBef>
              <a:spcAft>
                <a:spcPts val="0"/>
              </a:spcAft>
              <a:buSzPts val="1100"/>
              <a:buChar char="●"/>
            </a:pPr>
            <a:r>
              <a:rPr lang="vi"/>
              <a:t>The middleware layer uses Postgres for durable data, Redis for hot data and one time data, Kafka for reliable event streams, Elasticsearch for search, and Spaces for large files.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9d37a80792_1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9d37a80792_1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vi" sz="1000">
                <a:solidFill>
                  <a:schemeClr val="dk1"/>
                </a:solidFill>
              </a:rPr>
              <a:t>This table shows the DigitalOcean cost breakdown. We use small droplets and Spaces to keep costs low.</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9d37a80792_1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9d37a80792_1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vi"/>
              <a:t>Next, for the persistence design</a:t>
            </a:r>
            <a:endParaRPr/>
          </a:p>
          <a:p>
            <a:pPr indent="-298450" lvl="0" marL="457200" rtl="0" algn="l">
              <a:spcBef>
                <a:spcPts val="0"/>
              </a:spcBef>
              <a:spcAft>
                <a:spcPts val="0"/>
              </a:spcAft>
              <a:buSzPts val="1100"/>
              <a:buChar char="●"/>
            </a:pPr>
            <a:r>
              <a:rPr lang="vi"/>
              <a:t>User accounts and authentication need strong consistency and safe storage, so we keep them in a transactional database with hashed passwords and migrations.</a:t>
            </a:r>
            <a:endParaRPr/>
          </a:p>
          <a:p>
            <a:pPr indent="-298450" lvl="0" marL="457200" rtl="0" algn="l">
              <a:spcBef>
                <a:spcPts val="0"/>
              </a:spcBef>
              <a:spcAft>
                <a:spcPts val="0"/>
              </a:spcAft>
              <a:buSzPts val="1100"/>
              <a:buChar char="●"/>
            </a:pPr>
            <a:r>
              <a:rPr lang="vi"/>
              <a:t>Content metadata and indexes stay in the relational store so we can run joins and fast lookups.</a:t>
            </a:r>
            <a:endParaRPr/>
          </a:p>
          <a:p>
            <a:pPr indent="-298450" lvl="0" marL="457200" rtl="0" algn="l">
              <a:spcBef>
                <a:spcPts val="0"/>
              </a:spcBef>
              <a:spcAft>
                <a:spcPts val="0"/>
              </a:spcAft>
              <a:buSzPts val="1100"/>
              <a:buChar char="●"/>
            </a:pPr>
            <a:r>
              <a:rPr lang="vi"/>
              <a:t>Large chapter bodies and images are stored in object storage. That keeps the database small.</a:t>
            </a:r>
            <a:endParaRPr/>
          </a:p>
          <a:p>
            <a:pPr indent="-298450" lvl="0" marL="457200" rtl="0" algn="l">
              <a:spcBef>
                <a:spcPts val="0"/>
              </a:spcBef>
              <a:spcAft>
                <a:spcPts val="0"/>
              </a:spcAft>
              <a:buSzPts val="1100"/>
              <a:buChar char="●"/>
            </a:pPr>
            <a:r>
              <a:rPr lang="vi"/>
              <a:t>And then, Full‑text search runs in Elasticsearch so text queries are fast.</a:t>
            </a:r>
            <a:endParaRPr/>
          </a:p>
          <a:p>
            <a:pPr indent="-298450" lvl="0" marL="457200" rtl="0" algn="l">
              <a:spcBef>
                <a:spcPts val="0"/>
              </a:spcBef>
              <a:spcAft>
                <a:spcPts val="0"/>
              </a:spcAft>
              <a:buSzPts val="1100"/>
              <a:buChar char="●"/>
            </a:pPr>
            <a:r>
              <a:rPr lang="vi"/>
              <a:t>Rankings and one‑time tokens live in Redis for very low‑latency reads and writes.</a:t>
            </a:r>
            <a:endParaRPr/>
          </a:p>
          <a:p>
            <a:pPr indent="-298450" lvl="0" marL="457200" rtl="0" algn="l">
              <a:spcBef>
                <a:spcPts val="0"/>
              </a:spcBef>
              <a:spcAft>
                <a:spcPts val="0"/>
              </a:spcAft>
              <a:buSzPts val="1100"/>
              <a:buChar char="●"/>
            </a:pPr>
            <a:r>
              <a:rPr lang="vi"/>
              <a:t>Finally, Kafka holds our event stream so services are decoupled and events can be replayed for some services.</a:t>
            </a:r>
            <a:endParaRPr/>
          </a:p>
          <a:p>
            <a:pPr indent="-298450" lvl="0" marL="457200" rtl="0" algn="l">
              <a:spcBef>
                <a:spcPts val="0"/>
              </a:spcBef>
              <a:spcAft>
                <a:spcPts val="0"/>
              </a:spcAft>
              <a:buSzPts val="1100"/>
              <a:buChar char="●"/>
            </a:pPr>
            <a:r>
              <a:rPr lang="vi"/>
              <a:t>Together, this mix gives us durability, speed, and the ability to scale each concern independently.</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9d37a80792_1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9d37a80792_1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vi"/>
              <a:t>Well, we use health checks so the platform can detect and restart unhealthy instances quickly.</a:t>
            </a:r>
            <a:endParaRPr/>
          </a:p>
          <a:p>
            <a:pPr indent="-298450" lvl="0" marL="457200" rtl="0" algn="l">
              <a:spcBef>
                <a:spcPts val="0"/>
              </a:spcBef>
              <a:spcAft>
                <a:spcPts val="0"/>
              </a:spcAft>
              <a:buSzPts val="1100"/>
              <a:buChar char="●"/>
            </a:pPr>
            <a:r>
              <a:rPr lang="vi"/>
              <a:t>For events, we add retries and dead‑letter queues so messages are not lost</a:t>
            </a:r>
            <a:endParaRPr/>
          </a:p>
          <a:p>
            <a:pPr indent="-298450" lvl="0" marL="457200" rtl="0" algn="l">
              <a:spcBef>
                <a:spcPts val="0"/>
              </a:spcBef>
              <a:spcAft>
                <a:spcPts val="0"/>
              </a:spcAft>
              <a:buSzPts val="1100"/>
              <a:buChar char="●"/>
            </a:pPr>
            <a:r>
              <a:rPr lang="vi"/>
              <a:t>And, we keep DNS and TLS automated so the public API stays reachable and certificates renew without manual work.</a:t>
            </a:r>
            <a:endParaRPr/>
          </a:p>
          <a:p>
            <a:pPr indent="-298450" lvl="0" marL="457200" rtl="0" algn="l">
              <a:spcBef>
                <a:spcPts val="0"/>
              </a:spcBef>
              <a:spcAft>
                <a:spcPts val="0"/>
              </a:spcAft>
              <a:buSzPts val="1100"/>
              <a:buChar char="●"/>
            </a:pPr>
            <a:r>
              <a:rPr lang="vi"/>
              <a:t>For visibility, we show metrics in Grafana dashboards so we can track service health and performance.</a:t>
            </a:r>
            <a:endParaRPr/>
          </a:p>
          <a:p>
            <a:pPr indent="-298450" lvl="0" marL="457200" rtl="0" algn="l">
              <a:spcBef>
                <a:spcPts val="0"/>
              </a:spcBef>
              <a:spcAft>
                <a:spcPts val="0"/>
              </a:spcAft>
              <a:buSzPts val="1100"/>
              <a:buChar char="●"/>
            </a:pPr>
            <a:r>
              <a:rPr lang="vi"/>
              <a:t>Finally, we enable automated alerts for critical issues so engineers can respond fast and reduce downtime.</a:t>
            </a:r>
            <a:endParaRPr/>
          </a:p>
          <a:p>
            <a:pPr indent="-298450" lvl="0" marL="457200" rtl="0" algn="l">
              <a:spcBef>
                <a:spcPts val="0"/>
              </a:spcBef>
              <a:spcAft>
                <a:spcPts val="0"/>
              </a:spcAft>
              <a:buSzPts val="1100"/>
              <a:buChar char="●"/>
            </a:pPr>
            <a:r>
              <a:rPr lang="vi"/>
              <a:t>These steps make the system more reliable and easier to operate.</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9d37a80792_1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9d37a80792_1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a:t>change</a:t>
            </a:r>
            <a:endParaRPr/>
          </a:p>
          <a:p>
            <a:pPr indent="0" lvl="0" marL="0" rtl="0" algn="l">
              <a:spcBef>
                <a:spcPts val="0"/>
              </a:spcBef>
              <a:spcAft>
                <a:spcPts val="0"/>
              </a:spcAft>
              <a:buClr>
                <a:schemeClr val="dk1"/>
              </a:buClr>
              <a:buSzPts val="1100"/>
              <a:buFont typeface="Arial"/>
              <a:buNone/>
            </a:pPr>
            <a:r>
              <a:rPr lang="vi"/>
              <a:t>2min(All content of Detailed Design: Author Publishes New Chapter)</a:t>
            </a:r>
            <a:endParaRPr>
              <a:solidFill>
                <a:schemeClr val="dk1"/>
              </a:solidFill>
            </a:endParaRPr>
          </a:p>
          <a:p>
            <a:pPr indent="0" lvl="0" marL="0" rtl="0" algn="l">
              <a:lnSpc>
                <a:spcPct val="115000"/>
              </a:lnSpc>
              <a:spcBef>
                <a:spcPts val="1200"/>
              </a:spcBef>
              <a:spcAft>
                <a:spcPts val="0"/>
              </a:spcAft>
              <a:buNone/>
            </a:pPr>
            <a:r>
              <a:rPr lang="vi">
                <a:solidFill>
                  <a:schemeClr val="dk1"/>
                </a:solidFill>
              </a:rPr>
              <a:t>Okay, here are the English speaker notes corresponding to the 3-slide PPT plan for the "Detailed Design: Author Publishes New Chapter" use case.</a:t>
            </a:r>
            <a:endParaRPr>
              <a:solidFill>
                <a:schemeClr val="dk1"/>
              </a:solidFill>
            </a:endParaRPr>
          </a:p>
          <a:p>
            <a:pPr indent="0" lvl="0" marL="0" rtl="0" algn="l">
              <a:lnSpc>
                <a:spcPct val="115000"/>
              </a:lnSpc>
              <a:spcBef>
                <a:spcPts val="1400"/>
              </a:spcBef>
              <a:spcAft>
                <a:spcPts val="0"/>
              </a:spcAft>
              <a:buNone/>
            </a:pPr>
            <a:r>
              <a:rPr b="1" lang="vi" sz="1300">
                <a:solidFill>
                  <a:schemeClr val="dk1"/>
                </a:solidFill>
              </a:rPr>
              <a:t>Speaker Notes for Slide 1: Use Case: Author Publishes Chapter (1/3)</a:t>
            </a:r>
            <a:endParaRPr b="1" sz="1300">
              <a:solidFill>
                <a:schemeClr val="dk1"/>
              </a:solidFill>
            </a:endParaRPr>
          </a:p>
          <a:p>
            <a:pPr indent="0" lvl="0" marL="0" rtl="0" algn="l">
              <a:lnSpc>
                <a:spcPct val="115000"/>
              </a:lnSpc>
              <a:spcBef>
                <a:spcPts val="1200"/>
              </a:spcBef>
              <a:spcAft>
                <a:spcPts val="0"/>
              </a:spcAft>
              <a:buNone/>
            </a:pPr>
            <a:r>
              <a:rPr b="1" lang="vi">
                <a:solidFill>
                  <a:schemeClr val="dk1"/>
                </a:solidFill>
              </a:rPr>
              <a:t>(Start Timer)</a:t>
            </a:r>
            <a:endParaRPr b="1">
              <a:solidFill>
                <a:schemeClr val="dk1"/>
              </a:solidFill>
            </a:endParaRPr>
          </a:p>
          <a:p>
            <a:pPr indent="0" lvl="0" marL="0" rtl="0" algn="l">
              <a:lnSpc>
                <a:spcPct val="115000"/>
              </a:lnSpc>
              <a:spcBef>
                <a:spcPts val="1200"/>
              </a:spcBef>
              <a:spcAft>
                <a:spcPts val="0"/>
              </a:spcAft>
              <a:buNone/>
            </a:pPr>
            <a:r>
              <a:rPr lang="vi">
                <a:solidFill>
                  <a:schemeClr val="dk1"/>
                </a:solidFill>
              </a:rPr>
              <a:t>"Alright, for the final section, let's walk through a representative user case: 'Author Publishes a New Chapter,' to see how our system design works end-to-end.</a:t>
            </a:r>
            <a:endParaRPr>
              <a:solidFill>
                <a:schemeClr val="dk1"/>
              </a:solidFill>
            </a:endParaRPr>
          </a:p>
          <a:p>
            <a:pPr indent="0" lvl="0" marL="0" rtl="0" algn="l">
              <a:lnSpc>
                <a:spcPct val="115000"/>
              </a:lnSpc>
              <a:spcBef>
                <a:spcPts val="1200"/>
              </a:spcBef>
              <a:spcAft>
                <a:spcPts val="0"/>
              </a:spcAft>
              <a:buNone/>
            </a:pPr>
            <a:r>
              <a:rPr b="1" lang="vi">
                <a:solidFill>
                  <a:schemeClr val="dk1"/>
                </a:solidFill>
              </a:rPr>
              <a:t>(Point to Diagram/Slide Content)</a:t>
            </a:r>
            <a:endParaRPr b="1">
              <a:solidFill>
                <a:schemeClr val="dk1"/>
              </a:solidFill>
            </a:endParaRPr>
          </a:p>
          <a:p>
            <a:pPr indent="0" lvl="0" marL="0" rtl="0" algn="l">
              <a:lnSpc>
                <a:spcPct val="115000"/>
              </a:lnSpc>
              <a:spcBef>
                <a:spcPts val="1200"/>
              </a:spcBef>
              <a:spcAft>
                <a:spcPts val="0"/>
              </a:spcAft>
              <a:buNone/>
            </a:pPr>
            <a:r>
              <a:rPr lang="vi">
                <a:solidFill>
                  <a:schemeClr val="dk1"/>
                </a:solidFill>
              </a:rPr>
              <a:t>The process begins when the author finishes writing and hits 'publish' in our </a:t>
            </a:r>
            <a:r>
              <a:rPr b="1" lang="vi">
                <a:solidFill>
                  <a:schemeClr val="dk1"/>
                </a:solidFill>
              </a:rPr>
              <a:t>React frontend</a:t>
            </a:r>
            <a:r>
              <a:rPr lang="vi">
                <a:solidFill>
                  <a:schemeClr val="dk1"/>
                </a:solidFill>
              </a:rPr>
              <a:t>. The frontend then sends a POST request containing the chapter data and the user's JWT authentication token to the </a:t>
            </a:r>
            <a:r>
              <a:rPr lang="vi">
                <a:solidFill>
                  <a:srgbClr val="188038"/>
                </a:solidFill>
                <a:latin typeface="Roboto Mono"/>
                <a:ea typeface="Roboto Mono"/>
                <a:cs typeface="Roboto Mono"/>
                <a:sym typeface="Roboto Mono"/>
              </a:rPr>
              <a:t>/api/v1/chapters</a:t>
            </a:r>
            <a:r>
              <a:rPr lang="vi">
                <a:solidFill>
                  <a:schemeClr val="dk1"/>
                </a:solidFill>
              </a:rPr>
              <a:t> endpoint.</a:t>
            </a:r>
            <a:endParaRPr>
              <a:solidFill>
                <a:schemeClr val="dk1"/>
              </a:solidFill>
            </a:endParaRPr>
          </a:p>
          <a:p>
            <a:pPr indent="0" lvl="0" marL="0" rtl="0" algn="l">
              <a:lnSpc>
                <a:spcPct val="115000"/>
              </a:lnSpc>
              <a:spcBef>
                <a:spcPts val="1200"/>
              </a:spcBef>
              <a:spcAft>
                <a:spcPts val="0"/>
              </a:spcAft>
              <a:buNone/>
            </a:pPr>
            <a:r>
              <a:rPr lang="vi">
                <a:solidFill>
                  <a:schemeClr val="dk1"/>
                </a:solidFill>
              </a:rPr>
              <a:t>This request first hits our </a:t>
            </a:r>
            <a:r>
              <a:rPr b="1" lang="vi">
                <a:solidFill>
                  <a:schemeClr val="dk1"/>
                </a:solidFill>
              </a:rPr>
              <a:t>API Gateway</a:t>
            </a:r>
            <a:r>
              <a:rPr lang="vi">
                <a:solidFill>
                  <a:schemeClr val="dk1"/>
                </a:solidFill>
              </a:rPr>
              <a:t>. The gateway acts as the front door; it matches the path </a:t>
            </a:r>
            <a:r>
              <a:rPr lang="vi">
                <a:solidFill>
                  <a:srgbClr val="188038"/>
                </a:solidFill>
                <a:latin typeface="Roboto Mono"/>
                <a:ea typeface="Roboto Mono"/>
                <a:cs typeface="Roboto Mono"/>
                <a:sym typeface="Roboto Mono"/>
              </a:rPr>
              <a:t>/api/v1/chapters</a:t>
            </a:r>
            <a:r>
              <a:rPr lang="vi">
                <a:solidFill>
                  <a:schemeClr val="dk1"/>
                </a:solidFill>
              </a:rPr>
              <a:t>, looks up a healthy instance of the </a:t>
            </a:r>
            <a:r>
              <a:rPr b="1" lang="vi">
                <a:solidFill>
                  <a:schemeClr val="dk1"/>
                </a:solidFill>
              </a:rPr>
              <a:t>Content Service</a:t>
            </a:r>
            <a:r>
              <a:rPr lang="vi">
                <a:solidFill>
                  <a:schemeClr val="dk1"/>
                </a:solidFill>
              </a:rPr>
              <a:t> using </a:t>
            </a:r>
            <a:r>
              <a:rPr b="1" lang="vi">
                <a:solidFill>
                  <a:schemeClr val="dk1"/>
                </a:solidFill>
              </a:rPr>
              <a:t>Eureka</a:t>
            </a:r>
            <a:r>
              <a:rPr lang="vi">
                <a:solidFill>
                  <a:schemeClr val="dk1"/>
                </a:solidFill>
              </a:rPr>
              <a:t>, and forwards the request to that instance.</a:t>
            </a:r>
            <a:endParaRPr>
              <a:solidFill>
                <a:schemeClr val="dk1"/>
              </a:solidFill>
            </a:endParaRPr>
          </a:p>
          <a:p>
            <a:pPr indent="0" lvl="0" marL="0" rtl="0" algn="l">
              <a:lnSpc>
                <a:spcPct val="115000"/>
              </a:lnSpc>
              <a:spcBef>
                <a:spcPts val="1200"/>
              </a:spcBef>
              <a:spcAft>
                <a:spcPts val="0"/>
              </a:spcAft>
              <a:buNone/>
            </a:pPr>
            <a:r>
              <a:rPr lang="vi">
                <a:solidFill>
                  <a:schemeClr val="dk1"/>
                </a:solidFill>
              </a:rPr>
              <a:t>Once the request reaches the </a:t>
            </a:r>
            <a:r>
              <a:rPr b="1" lang="vi">
                <a:solidFill>
                  <a:schemeClr val="dk1"/>
                </a:solidFill>
              </a:rPr>
              <a:t>Content Service</a:t>
            </a:r>
            <a:r>
              <a:rPr lang="vi">
                <a:solidFill>
                  <a:schemeClr val="dk1"/>
                </a:solidFill>
              </a:rPr>
              <a:t>, security checks kick in. It first validates the JWT token using the shared secret to confirm the user's identity. Then, Spring Security checks if the authenticated user has the necessary permissions – basically, confirming they are indeed the author of this novel."</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6ce85de194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6ce85de194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9d37a80792_1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9d37a80792_1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a:t>change</a:t>
            </a:r>
            <a:endParaRPr/>
          </a:p>
          <a:p>
            <a:pPr indent="0" lvl="0" marL="0" rtl="0" algn="l">
              <a:spcBef>
                <a:spcPts val="0"/>
              </a:spcBef>
              <a:spcAft>
                <a:spcPts val="0"/>
              </a:spcAft>
              <a:buClr>
                <a:schemeClr val="dk1"/>
              </a:buClr>
              <a:buSzPts val="1100"/>
              <a:buFont typeface="Arial"/>
              <a:buNone/>
            </a:pPr>
            <a:r>
              <a:rPr lang="vi"/>
              <a:t>2min(All content of Detailed Design: Author Publishes New Chapter)</a:t>
            </a:r>
            <a:endParaRPr>
              <a:solidFill>
                <a:schemeClr val="dk1"/>
              </a:solidFill>
            </a:endParaRPr>
          </a:p>
          <a:p>
            <a:pPr indent="0" lvl="0" marL="0" rtl="0" algn="l">
              <a:lnSpc>
                <a:spcPct val="115000"/>
              </a:lnSpc>
              <a:spcBef>
                <a:spcPts val="1200"/>
              </a:spcBef>
              <a:spcAft>
                <a:spcPts val="0"/>
              </a:spcAft>
              <a:buNone/>
            </a:pPr>
            <a:r>
              <a:rPr lang="vi">
                <a:solidFill>
                  <a:schemeClr val="dk1"/>
                </a:solidFill>
              </a:rPr>
              <a:t>Okay, here are the English speaker notes corresponding to the 3-slide PPT plan for the "Detailed Design: Author Publishes New Chapter" use case.</a:t>
            </a:r>
            <a:endParaRPr>
              <a:solidFill>
                <a:schemeClr val="dk1"/>
              </a:solidFill>
            </a:endParaRPr>
          </a:p>
          <a:p>
            <a:pPr indent="0" lvl="0" marL="0" rtl="0" algn="l">
              <a:lnSpc>
                <a:spcPct val="115000"/>
              </a:lnSpc>
              <a:spcBef>
                <a:spcPts val="1400"/>
              </a:spcBef>
              <a:spcAft>
                <a:spcPts val="0"/>
              </a:spcAft>
              <a:buNone/>
            </a:pPr>
            <a:r>
              <a:rPr b="1" lang="vi" sz="1300">
                <a:solidFill>
                  <a:schemeClr val="dk1"/>
                </a:solidFill>
              </a:rPr>
              <a:t>Speaker Notes for Slide 1: Use Case: Author Publishes Chapter (1/3)</a:t>
            </a:r>
            <a:endParaRPr b="1" sz="1300">
              <a:solidFill>
                <a:schemeClr val="dk1"/>
              </a:solidFill>
            </a:endParaRPr>
          </a:p>
          <a:p>
            <a:pPr indent="0" lvl="0" marL="0" rtl="0" algn="l">
              <a:lnSpc>
                <a:spcPct val="115000"/>
              </a:lnSpc>
              <a:spcBef>
                <a:spcPts val="1200"/>
              </a:spcBef>
              <a:spcAft>
                <a:spcPts val="0"/>
              </a:spcAft>
              <a:buNone/>
            </a:pPr>
            <a:r>
              <a:rPr b="1" lang="vi">
                <a:solidFill>
                  <a:schemeClr val="dk1"/>
                </a:solidFill>
              </a:rPr>
              <a:t>(Start Timer)</a:t>
            </a:r>
            <a:endParaRPr b="1">
              <a:solidFill>
                <a:schemeClr val="dk1"/>
              </a:solidFill>
            </a:endParaRPr>
          </a:p>
          <a:p>
            <a:pPr indent="0" lvl="0" marL="0" rtl="0" algn="l">
              <a:lnSpc>
                <a:spcPct val="115000"/>
              </a:lnSpc>
              <a:spcBef>
                <a:spcPts val="1200"/>
              </a:spcBef>
              <a:spcAft>
                <a:spcPts val="0"/>
              </a:spcAft>
              <a:buNone/>
            </a:pPr>
            <a:r>
              <a:rPr lang="vi">
                <a:solidFill>
                  <a:schemeClr val="dk1"/>
                </a:solidFill>
              </a:rPr>
              <a:t>"Alright, for the final section, let's walk through a representative user case: 'Author Publishes a New Chapter,' to see how our system design works end-to-end.</a:t>
            </a:r>
            <a:endParaRPr>
              <a:solidFill>
                <a:schemeClr val="dk1"/>
              </a:solidFill>
            </a:endParaRPr>
          </a:p>
          <a:p>
            <a:pPr indent="0" lvl="0" marL="0" rtl="0" algn="l">
              <a:lnSpc>
                <a:spcPct val="115000"/>
              </a:lnSpc>
              <a:spcBef>
                <a:spcPts val="1200"/>
              </a:spcBef>
              <a:spcAft>
                <a:spcPts val="0"/>
              </a:spcAft>
              <a:buNone/>
            </a:pPr>
            <a:r>
              <a:rPr b="1" lang="vi">
                <a:solidFill>
                  <a:schemeClr val="dk1"/>
                </a:solidFill>
              </a:rPr>
              <a:t>(Point to Diagram/Slide Content)</a:t>
            </a:r>
            <a:endParaRPr b="1">
              <a:solidFill>
                <a:schemeClr val="dk1"/>
              </a:solidFill>
            </a:endParaRPr>
          </a:p>
          <a:p>
            <a:pPr indent="0" lvl="0" marL="0" rtl="0" algn="l">
              <a:lnSpc>
                <a:spcPct val="115000"/>
              </a:lnSpc>
              <a:spcBef>
                <a:spcPts val="1200"/>
              </a:spcBef>
              <a:spcAft>
                <a:spcPts val="0"/>
              </a:spcAft>
              <a:buNone/>
            </a:pPr>
            <a:r>
              <a:rPr lang="vi">
                <a:solidFill>
                  <a:schemeClr val="dk1"/>
                </a:solidFill>
              </a:rPr>
              <a:t>The process begins when the author finishes writing and hits 'publish' in our </a:t>
            </a:r>
            <a:r>
              <a:rPr b="1" lang="vi">
                <a:solidFill>
                  <a:schemeClr val="dk1"/>
                </a:solidFill>
              </a:rPr>
              <a:t>React frontend</a:t>
            </a:r>
            <a:r>
              <a:rPr lang="vi">
                <a:solidFill>
                  <a:schemeClr val="dk1"/>
                </a:solidFill>
              </a:rPr>
              <a:t>. The frontend then sends a POST request containing the chapter data and the user's JWT authentication token to the </a:t>
            </a:r>
            <a:r>
              <a:rPr lang="vi">
                <a:solidFill>
                  <a:srgbClr val="188038"/>
                </a:solidFill>
                <a:latin typeface="Roboto Mono"/>
                <a:ea typeface="Roboto Mono"/>
                <a:cs typeface="Roboto Mono"/>
                <a:sym typeface="Roboto Mono"/>
              </a:rPr>
              <a:t>/api/v1/chapters</a:t>
            </a:r>
            <a:r>
              <a:rPr lang="vi">
                <a:solidFill>
                  <a:schemeClr val="dk1"/>
                </a:solidFill>
              </a:rPr>
              <a:t> endpoint.</a:t>
            </a:r>
            <a:endParaRPr>
              <a:solidFill>
                <a:schemeClr val="dk1"/>
              </a:solidFill>
            </a:endParaRPr>
          </a:p>
          <a:p>
            <a:pPr indent="0" lvl="0" marL="0" rtl="0" algn="l">
              <a:lnSpc>
                <a:spcPct val="115000"/>
              </a:lnSpc>
              <a:spcBef>
                <a:spcPts val="1200"/>
              </a:spcBef>
              <a:spcAft>
                <a:spcPts val="0"/>
              </a:spcAft>
              <a:buNone/>
            </a:pPr>
            <a:r>
              <a:rPr lang="vi">
                <a:solidFill>
                  <a:schemeClr val="dk1"/>
                </a:solidFill>
              </a:rPr>
              <a:t>This request first hits our </a:t>
            </a:r>
            <a:r>
              <a:rPr b="1" lang="vi">
                <a:solidFill>
                  <a:schemeClr val="dk1"/>
                </a:solidFill>
              </a:rPr>
              <a:t>API Gateway</a:t>
            </a:r>
            <a:r>
              <a:rPr lang="vi">
                <a:solidFill>
                  <a:schemeClr val="dk1"/>
                </a:solidFill>
              </a:rPr>
              <a:t>. The gateway acts as the front door; it matches the path </a:t>
            </a:r>
            <a:r>
              <a:rPr lang="vi">
                <a:solidFill>
                  <a:srgbClr val="188038"/>
                </a:solidFill>
                <a:latin typeface="Roboto Mono"/>
                <a:ea typeface="Roboto Mono"/>
                <a:cs typeface="Roboto Mono"/>
                <a:sym typeface="Roboto Mono"/>
              </a:rPr>
              <a:t>/api/v1/chapters</a:t>
            </a:r>
            <a:r>
              <a:rPr lang="vi">
                <a:solidFill>
                  <a:schemeClr val="dk1"/>
                </a:solidFill>
              </a:rPr>
              <a:t>, looks up a healthy instance of the </a:t>
            </a:r>
            <a:r>
              <a:rPr b="1" lang="vi">
                <a:solidFill>
                  <a:schemeClr val="dk1"/>
                </a:solidFill>
              </a:rPr>
              <a:t>Content Service</a:t>
            </a:r>
            <a:r>
              <a:rPr lang="vi">
                <a:solidFill>
                  <a:schemeClr val="dk1"/>
                </a:solidFill>
              </a:rPr>
              <a:t> using </a:t>
            </a:r>
            <a:r>
              <a:rPr b="1" lang="vi">
                <a:solidFill>
                  <a:schemeClr val="dk1"/>
                </a:solidFill>
              </a:rPr>
              <a:t>Eureka</a:t>
            </a:r>
            <a:r>
              <a:rPr lang="vi">
                <a:solidFill>
                  <a:schemeClr val="dk1"/>
                </a:solidFill>
              </a:rPr>
              <a:t>, and forwards the request to that instance.</a:t>
            </a:r>
            <a:endParaRPr>
              <a:solidFill>
                <a:schemeClr val="dk1"/>
              </a:solidFill>
            </a:endParaRPr>
          </a:p>
          <a:p>
            <a:pPr indent="0" lvl="0" marL="0" rtl="0" algn="l">
              <a:lnSpc>
                <a:spcPct val="115000"/>
              </a:lnSpc>
              <a:spcBef>
                <a:spcPts val="1200"/>
              </a:spcBef>
              <a:spcAft>
                <a:spcPts val="0"/>
              </a:spcAft>
              <a:buNone/>
            </a:pPr>
            <a:r>
              <a:rPr lang="vi">
                <a:solidFill>
                  <a:schemeClr val="dk1"/>
                </a:solidFill>
              </a:rPr>
              <a:t>Once the request reaches the </a:t>
            </a:r>
            <a:r>
              <a:rPr b="1" lang="vi">
                <a:solidFill>
                  <a:schemeClr val="dk1"/>
                </a:solidFill>
              </a:rPr>
              <a:t>Content Service</a:t>
            </a:r>
            <a:r>
              <a:rPr lang="vi">
                <a:solidFill>
                  <a:schemeClr val="dk1"/>
                </a:solidFill>
              </a:rPr>
              <a:t>, security checks kick in. It first validates the JWT token using the shared secret to confirm the user's identity. Then, Spring Security checks if the authenticated user has the necessary permissions – basically, confirming they are indeed the author of this novel."</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9d37a80792_1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9d37a80792_1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1. Grafana Dashboard</a:t>
            </a:r>
            <a:endParaRPr/>
          </a:p>
          <a:p>
            <a:pPr indent="0" lvl="0" marL="0" rtl="0" algn="l">
              <a:spcBef>
                <a:spcPts val="0"/>
              </a:spcBef>
              <a:spcAft>
                <a:spcPts val="0"/>
              </a:spcAft>
              <a:buClr>
                <a:schemeClr val="dk1"/>
              </a:buClr>
              <a:buSzPts val="1100"/>
              <a:buFont typeface="Arial"/>
              <a:buNone/>
            </a:pPr>
            <a:r>
              <a:rPr lang="vi"/>
              <a:t>URL:</a:t>
            </a:r>
            <a:r>
              <a:rPr lang="vi" u="sng">
                <a:solidFill>
                  <a:schemeClr val="hlink"/>
                </a:solidFill>
                <a:hlinkClick r:id="rId2"/>
              </a:rPr>
              <a:t> http://157.245.61.206:3000/</a:t>
            </a:r>
            <a:r>
              <a:rPr lang="vi"/>
              <a:t> Username: admin Password: yushan_grafana_password_2024</a:t>
            </a:r>
            <a:endParaRPr/>
          </a:p>
          <a:p>
            <a:pPr indent="0" lvl="0" marL="0" rtl="0" algn="l">
              <a:spcBef>
                <a:spcPts val="0"/>
              </a:spcBef>
              <a:spcAft>
                <a:spcPts val="0"/>
              </a:spcAft>
              <a:buNone/>
            </a:pPr>
            <a:r>
              <a:rPr lang="vi"/>
              <a:t>2. Kibana Dashboard</a:t>
            </a:r>
            <a:endParaRPr/>
          </a:p>
          <a:p>
            <a:pPr indent="0" lvl="0" marL="0" rtl="0" algn="l">
              <a:spcBef>
                <a:spcPts val="0"/>
              </a:spcBef>
              <a:spcAft>
                <a:spcPts val="0"/>
              </a:spcAft>
              <a:buClr>
                <a:schemeClr val="dk1"/>
              </a:buClr>
              <a:buSzPts val="1100"/>
              <a:buFont typeface="Arial"/>
              <a:buNone/>
            </a:pPr>
            <a:r>
              <a:rPr lang="vi"/>
              <a:t>URL:</a:t>
            </a:r>
            <a:r>
              <a:rPr lang="vi" u="sng">
                <a:solidFill>
                  <a:schemeClr val="hlink"/>
                </a:solidFill>
                <a:hlinkClick r:id="rId3"/>
              </a:rPr>
              <a:t> http://167.172.77.106:5601/</a:t>
            </a:r>
            <a:r>
              <a:rPr lang="vi"/>
              <a:t> Username: elastic Password: yushan_elasticsearch_password_2024</a:t>
            </a:r>
            <a:endParaRPr/>
          </a:p>
          <a:p>
            <a:pPr indent="0" lvl="0" marL="0" rtl="0" algn="l">
              <a:spcBef>
                <a:spcPts val="0"/>
              </a:spcBef>
              <a:spcAft>
                <a:spcPts val="0"/>
              </a:spcAft>
              <a:buNone/>
            </a:pPr>
            <a:r>
              <a:rPr lang="vi"/>
              <a:t>3. Elasticsearch</a:t>
            </a:r>
            <a:endParaRPr/>
          </a:p>
          <a:p>
            <a:pPr indent="0" lvl="0" marL="0" rtl="0" algn="l">
              <a:spcBef>
                <a:spcPts val="0"/>
              </a:spcBef>
              <a:spcAft>
                <a:spcPts val="0"/>
              </a:spcAft>
              <a:buClr>
                <a:schemeClr val="dk1"/>
              </a:buClr>
              <a:buSzPts val="1100"/>
              <a:buFont typeface="Arial"/>
              <a:buNone/>
            </a:pPr>
            <a:r>
              <a:rPr lang="vi"/>
              <a:t>URL:</a:t>
            </a:r>
            <a:r>
              <a:rPr lang="vi" u="sng">
                <a:solidFill>
                  <a:schemeClr val="hlink"/>
                </a:solidFill>
                <a:hlinkClick r:id="rId4"/>
              </a:rPr>
              <a:t> http://167.172.77.106:9200/</a:t>
            </a:r>
            <a:r>
              <a:rPr lang="vi"/>
              <a:t> Username: elastic Password: yushan_elasticsearch_password_2024</a:t>
            </a:r>
            <a:endParaRPr/>
          </a:p>
          <a:p>
            <a:pPr indent="0" lvl="0" marL="0" rtl="0" algn="l">
              <a:spcBef>
                <a:spcPts val="0"/>
              </a:spcBef>
              <a:spcAft>
                <a:spcPts val="0"/>
              </a:spcAft>
              <a:buNone/>
            </a:pPr>
            <a:r>
              <a:rPr lang="vi"/>
              <a:t>4. Prometheus</a:t>
            </a:r>
            <a:endParaRPr/>
          </a:p>
          <a:p>
            <a:pPr indent="0" lvl="0" marL="0" rtl="0" algn="l">
              <a:spcBef>
                <a:spcPts val="0"/>
              </a:spcBef>
              <a:spcAft>
                <a:spcPts val="0"/>
              </a:spcAft>
              <a:buNone/>
            </a:pPr>
            <a:r>
              <a:rPr lang="vi"/>
              <a:t>URL:</a:t>
            </a:r>
            <a:r>
              <a:rPr lang="vi" u="sng">
                <a:solidFill>
                  <a:schemeClr val="hlink"/>
                </a:solidFill>
                <a:hlinkClick r:id="rId5"/>
              </a:rPr>
              <a:t> http://157.245.61.206:9090/</a:t>
            </a:r>
            <a:r>
              <a:rPr lang="vi"/>
              <a:t>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9d37a80792_1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9d37a80792_1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1min：</a:t>
            </a:r>
            <a:r>
              <a:rPr lang="vi" sz="1200">
                <a:solidFill>
                  <a:srgbClr val="1F2328"/>
                </a:solidFill>
                <a:highlight>
                  <a:srgbClr val="FFFFFF"/>
                </a:highlight>
              </a:rPr>
              <a:t>from FE call nginx proxy -&gt; api gateway -&gt; call to registry services,</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9d37a8079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9d37a8079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9d37a8079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9d37a8079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9d37a80792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9d37a8079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9d37a8079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9d37a8079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9d37a80792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9d37a80792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9d37a80792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9d37a80792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SAST (Static Application Security Testing)</a:t>
            </a:r>
            <a:endParaRPr/>
          </a:p>
          <a:p>
            <a:pPr indent="0" lvl="0" marL="0" rtl="0" algn="l">
              <a:spcBef>
                <a:spcPts val="0"/>
              </a:spcBef>
              <a:spcAft>
                <a:spcPts val="0"/>
              </a:spcAft>
              <a:buNone/>
            </a:pPr>
            <a:r>
              <a:rPr lang="vi"/>
              <a:t>SCA (Software Composition Analysis)</a:t>
            </a:r>
            <a:endParaRPr/>
          </a:p>
          <a:p>
            <a:pPr indent="0" lvl="0" marL="0" rtl="0" algn="l">
              <a:spcBef>
                <a:spcPts val="0"/>
              </a:spcBef>
              <a:spcAft>
                <a:spcPts val="0"/>
              </a:spcAft>
              <a:buNone/>
            </a:pPr>
            <a:r>
              <a:rPr lang="vi"/>
              <a:t>DAST (Dynamic Application Security Testing)</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9d37a80792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9d37a80792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SAST (Static Application Security Testing)</a:t>
            </a:r>
            <a:endParaRPr/>
          </a:p>
          <a:p>
            <a:pPr indent="0" lvl="0" marL="0" rtl="0" algn="l">
              <a:spcBef>
                <a:spcPts val="0"/>
              </a:spcBef>
              <a:spcAft>
                <a:spcPts val="0"/>
              </a:spcAft>
              <a:buNone/>
            </a:pPr>
            <a:r>
              <a:rPr lang="vi"/>
              <a:t>SCA (Software Composition Analysis)</a:t>
            </a:r>
            <a:endParaRPr/>
          </a:p>
          <a:p>
            <a:pPr indent="0" lvl="0" marL="0" rtl="0" algn="l">
              <a:spcBef>
                <a:spcPts val="0"/>
              </a:spcBef>
              <a:spcAft>
                <a:spcPts val="0"/>
              </a:spcAft>
              <a:buNone/>
            </a:pPr>
            <a:r>
              <a:rPr lang="vi"/>
              <a:t>DAST (Dynamic Application Security Testing)</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9d37a80792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9d37a80792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SAST (Static Application Security Testing)</a:t>
            </a:r>
            <a:endParaRPr/>
          </a:p>
          <a:p>
            <a:pPr indent="0" lvl="0" marL="0" rtl="0" algn="l">
              <a:spcBef>
                <a:spcPts val="0"/>
              </a:spcBef>
              <a:spcAft>
                <a:spcPts val="0"/>
              </a:spcAft>
              <a:buNone/>
            </a:pPr>
            <a:r>
              <a:rPr lang="vi"/>
              <a:t>SCA (Software Composition Analysis)</a:t>
            </a:r>
            <a:endParaRPr/>
          </a:p>
          <a:p>
            <a:pPr indent="0" lvl="0" marL="0" rtl="0" algn="l">
              <a:spcBef>
                <a:spcPts val="0"/>
              </a:spcBef>
              <a:spcAft>
                <a:spcPts val="0"/>
              </a:spcAft>
              <a:buNone/>
            </a:pPr>
            <a:r>
              <a:rPr lang="vi"/>
              <a:t>DAST (Dynamic Application Security Testing)</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9d37a80792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9d37a80792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SAST (Static Application Security Testing)</a:t>
            </a:r>
            <a:endParaRPr/>
          </a:p>
          <a:p>
            <a:pPr indent="0" lvl="0" marL="0" rtl="0" algn="l">
              <a:spcBef>
                <a:spcPts val="0"/>
              </a:spcBef>
              <a:spcAft>
                <a:spcPts val="0"/>
              </a:spcAft>
              <a:buNone/>
            </a:pPr>
            <a:r>
              <a:rPr lang="vi"/>
              <a:t>SCA (Software Composition Analysis)</a:t>
            </a:r>
            <a:endParaRPr/>
          </a:p>
          <a:p>
            <a:pPr indent="0" lvl="0" marL="0" rtl="0" algn="l">
              <a:spcBef>
                <a:spcPts val="0"/>
              </a:spcBef>
              <a:spcAft>
                <a:spcPts val="0"/>
              </a:spcAft>
              <a:buNone/>
            </a:pPr>
            <a:r>
              <a:rPr lang="vi"/>
              <a:t>DAST (Dynamic Application Security Testing)</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9d37a80792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9d37a80792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SAST (Static Application Security Testing)</a:t>
            </a:r>
            <a:endParaRPr/>
          </a:p>
          <a:p>
            <a:pPr indent="0" lvl="0" marL="0" rtl="0" algn="l">
              <a:spcBef>
                <a:spcPts val="0"/>
              </a:spcBef>
              <a:spcAft>
                <a:spcPts val="0"/>
              </a:spcAft>
              <a:buNone/>
            </a:pPr>
            <a:r>
              <a:rPr lang="vi"/>
              <a:t>SCA (Software Composition Analysis)</a:t>
            </a:r>
            <a:endParaRPr/>
          </a:p>
          <a:p>
            <a:pPr indent="0" lvl="0" marL="0" rtl="0" algn="l">
              <a:spcBef>
                <a:spcPts val="0"/>
              </a:spcBef>
              <a:spcAft>
                <a:spcPts val="0"/>
              </a:spcAft>
              <a:buNone/>
            </a:pPr>
            <a:r>
              <a:rPr lang="vi"/>
              <a:t>DAST (Dynamic Application Security Testing)</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9d37a80792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9d37a8079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9d37a80792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9d37a80792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6ce85de194_9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6ce85de194_9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 name="Google Shape;58;p14"/>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59" name="Google Shape;59;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4" name="Google Shape;64;p1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 name="Google Shape;65;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8" name="Shape 68"/>
        <p:cNvGrpSpPr/>
        <p:nvPr/>
      </p:nvGrpSpPr>
      <p:grpSpPr>
        <a:xfrm>
          <a:off x="0" y="0"/>
          <a:ext cx="0" cy="0"/>
          <a:chOff x="0" y="0"/>
          <a:chExt cx="0" cy="0"/>
        </a:xfrm>
      </p:grpSpPr>
      <p:sp>
        <p:nvSpPr>
          <p:cNvPr id="69" name="Google Shape;69;p16"/>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algn="l">
              <a:lnSpc>
                <a:spcPct val="90000"/>
              </a:lnSpc>
              <a:spcBef>
                <a:spcPts val="0"/>
              </a:spcBef>
              <a:spcAft>
                <a:spcPts val="0"/>
              </a:spcAft>
              <a:buClr>
                <a:schemeClr val="dk1"/>
              </a:buClr>
              <a:buSzPts val="2100"/>
              <a:buFont typeface="Play"/>
              <a:buNone/>
              <a:defRPr/>
            </a:lvl1pPr>
            <a:lvl2pPr lvl="1">
              <a:spcBef>
                <a:spcPts val="0"/>
              </a:spcBef>
              <a:spcAft>
                <a:spcPts val="0"/>
              </a:spcAft>
              <a:buSzPts val="2100"/>
              <a:buNone/>
              <a:defRPr/>
            </a:lvl2pPr>
            <a:lvl3pPr lvl="2">
              <a:spcBef>
                <a:spcPts val="0"/>
              </a:spcBef>
              <a:spcAft>
                <a:spcPts val="0"/>
              </a:spcAft>
              <a:buSzPts val="2100"/>
              <a:buNone/>
              <a:defRPr/>
            </a:lvl3pPr>
            <a:lvl4pPr lvl="3">
              <a:spcBef>
                <a:spcPts val="0"/>
              </a:spcBef>
              <a:spcAft>
                <a:spcPts val="0"/>
              </a:spcAft>
              <a:buSzPts val="2100"/>
              <a:buNone/>
              <a:defRPr/>
            </a:lvl4pPr>
            <a:lvl5pPr lvl="4">
              <a:spcBef>
                <a:spcPts val="0"/>
              </a:spcBef>
              <a:spcAft>
                <a:spcPts val="0"/>
              </a:spcAft>
              <a:buSzPts val="2100"/>
              <a:buNone/>
              <a:defRPr/>
            </a:lvl5pPr>
            <a:lvl6pPr lvl="5">
              <a:spcBef>
                <a:spcPts val="0"/>
              </a:spcBef>
              <a:spcAft>
                <a:spcPts val="0"/>
              </a:spcAft>
              <a:buSzPts val="2100"/>
              <a:buNone/>
              <a:defRPr/>
            </a:lvl6pPr>
            <a:lvl7pPr lvl="6">
              <a:spcBef>
                <a:spcPts val="0"/>
              </a:spcBef>
              <a:spcAft>
                <a:spcPts val="0"/>
              </a:spcAft>
              <a:buSzPts val="2100"/>
              <a:buNone/>
              <a:defRPr/>
            </a:lvl7pPr>
            <a:lvl8pPr lvl="7">
              <a:spcBef>
                <a:spcPts val="0"/>
              </a:spcBef>
              <a:spcAft>
                <a:spcPts val="0"/>
              </a:spcAft>
              <a:buSzPts val="2100"/>
              <a:buNone/>
              <a:defRPr/>
            </a:lvl8pPr>
            <a:lvl9pPr lvl="8">
              <a:spcBef>
                <a:spcPts val="0"/>
              </a:spcBef>
              <a:spcAft>
                <a:spcPts val="0"/>
              </a:spcAft>
              <a:buSzPts val="2100"/>
              <a:buNone/>
              <a:defRPr/>
            </a:lvl9pPr>
          </a:lstStyle>
          <a:p/>
        </p:txBody>
      </p:sp>
      <p:sp>
        <p:nvSpPr>
          <p:cNvPr id="70" name="Google Shape;70;p16"/>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lvl1pPr indent="-317500" lvl="0" marL="457200" algn="l">
              <a:lnSpc>
                <a:spcPct val="90000"/>
              </a:lnSpc>
              <a:spcBef>
                <a:spcPts val="0"/>
              </a:spcBef>
              <a:spcAft>
                <a:spcPts val="0"/>
              </a:spcAft>
              <a:buClr>
                <a:schemeClr val="dk1"/>
              </a:buClr>
              <a:buSzPts val="1400"/>
              <a:buChar char="●"/>
              <a:defRPr/>
            </a:lvl1pPr>
            <a:lvl2pPr indent="-298450" lvl="1" marL="914400" algn="l">
              <a:lnSpc>
                <a:spcPct val="90000"/>
              </a:lnSpc>
              <a:spcBef>
                <a:spcPts val="0"/>
              </a:spcBef>
              <a:spcAft>
                <a:spcPts val="0"/>
              </a:spcAft>
              <a:buClr>
                <a:schemeClr val="dk1"/>
              </a:buClr>
              <a:buSzPts val="1100"/>
              <a:buChar char="○"/>
              <a:defRPr/>
            </a:lvl2pPr>
            <a:lvl3pPr indent="-298450" lvl="2" marL="1371600" algn="l">
              <a:lnSpc>
                <a:spcPct val="90000"/>
              </a:lnSpc>
              <a:spcBef>
                <a:spcPts val="0"/>
              </a:spcBef>
              <a:spcAft>
                <a:spcPts val="0"/>
              </a:spcAft>
              <a:buClr>
                <a:schemeClr val="dk1"/>
              </a:buClr>
              <a:buSzPts val="1100"/>
              <a:buChar char="■"/>
              <a:defRPr/>
            </a:lvl3pPr>
            <a:lvl4pPr indent="-298450" lvl="3" marL="1828800" algn="l">
              <a:lnSpc>
                <a:spcPct val="90000"/>
              </a:lnSpc>
              <a:spcBef>
                <a:spcPts val="0"/>
              </a:spcBef>
              <a:spcAft>
                <a:spcPts val="0"/>
              </a:spcAft>
              <a:buClr>
                <a:schemeClr val="dk1"/>
              </a:buClr>
              <a:buSzPts val="1100"/>
              <a:buChar char="●"/>
              <a:defRPr/>
            </a:lvl4pPr>
            <a:lvl5pPr indent="-298450" lvl="4" marL="2286000" algn="l">
              <a:lnSpc>
                <a:spcPct val="90000"/>
              </a:lnSpc>
              <a:spcBef>
                <a:spcPts val="0"/>
              </a:spcBef>
              <a:spcAft>
                <a:spcPts val="0"/>
              </a:spcAft>
              <a:buClr>
                <a:schemeClr val="dk1"/>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71" name="Google Shape;71;p16"/>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algn="r">
              <a:buClr>
                <a:srgbClr val="757575"/>
              </a:buClr>
              <a:buSzPts val="900"/>
              <a:buFont typeface="Arial"/>
              <a:buNone/>
              <a:defRPr sz="900">
                <a:solidFill>
                  <a:srgbClr val="757575"/>
                </a:solidFill>
                <a:latin typeface="Arial"/>
                <a:ea typeface="Arial"/>
                <a:cs typeface="Arial"/>
                <a:sym typeface="Arial"/>
              </a:defRPr>
            </a:lvl1pPr>
            <a:lvl2pPr indent="0" lvl="1" marL="0" algn="r">
              <a:buClr>
                <a:srgbClr val="757575"/>
              </a:buClr>
              <a:buSzPts val="900"/>
              <a:buFont typeface="Arial"/>
              <a:buNone/>
              <a:defRPr sz="900">
                <a:solidFill>
                  <a:srgbClr val="757575"/>
                </a:solidFill>
                <a:latin typeface="Arial"/>
                <a:ea typeface="Arial"/>
                <a:cs typeface="Arial"/>
                <a:sym typeface="Arial"/>
              </a:defRPr>
            </a:lvl2pPr>
            <a:lvl3pPr indent="0" lvl="2" marL="0" algn="r">
              <a:buClr>
                <a:srgbClr val="757575"/>
              </a:buClr>
              <a:buSzPts val="900"/>
              <a:buFont typeface="Arial"/>
              <a:buNone/>
              <a:defRPr sz="900">
                <a:solidFill>
                  <a:srgbClr val="757575"/>
                </a:solidFill>
                <a:latin typeface="Arial"/>
                <a:ea typeface="Arial"/>
                <a:cs typeface="Arial"/>
                <a:sym typeface="Arial"/>
              </a:defRPr>
            </a:lvl3pPr>
            <a:lvl4pPr indent="0" lvl="3" marL="0" algn="r">
              <a:buClr>
                <a:srgbClr val="757575"/>
              </a:buClr>
              <a:buSzPts val="900"/>
              <a:buFont typeface="Arial"/>
              <a:buNone/>
              <a:defRPr sz="900">
                <a:solidFill>
                  <a:srgbClr val="757575"/>
                </a:solidFill>
                <a:latin typeface="Arial"/>
                <a:ea typeface="Arial"/>
                <a:cs typeface="Arial"/>
                <a:sym typeface="Arial"/>
              </a:defRPr>
            </a:lvl4pPr>
            <a:lvl5pPr indent="0" lvl="4" marL="0" algn="r">
              <a:buClr>
                <a:srgbClr val="757575"/>
              </a:buClr>
              <a:buSzPts val="900"/>
              <a:buFont typeface="Arial"/>
              <a:buNone/>
              <a:defRPr sz="900">
                <a:solidFill>
                  <a:srgbClr val="757575"/>
                </a:solidFill>
                <a:latin typeface="Arial"/>
                <a:ea typeface="Arial"/>
                <a:cs typeface="Arial"/>
                <a:sym typeface="Arial"/>
              </a:defRPr>
            </a:lvl5pPr>
            <a:lvl6pPr indent="0" lvl="5" marL="0" algn="r">
              <a:buClr>
                <a:srgbClr val="757575"/>
              </a:buClr>
              <a:buSzPts val="900"/>
              <a:buFont typeface="Arial"/>
              <a:buNone/>
              <a:defRPr sz="900">
                <a:solidFill>
                  <a:srgbClr val="757575"/>
                </a:solidFill>
                <a:latin typeface="Arial"/>
                <a:ea typeface="Arial"/>
                <a:cs typeface="Arial"/>
                <a:sym typeface="Arial"/>
              </a:defRPr>
            </a:lvl6pPr>
            <a:lvl7pPr indent="0" lvl="6" marL="0" algn="r">
              <a:buClr>
                <a:srgbClr val="757575"/>
              </a:buClr>
              <a:buSzPts val="900"/>
              <a:buFont typeface="Arial"/>
              <a:buNone/>
              <a:defRPr sz="900">
                <a:solidFill>
                  <a:srgbClr val="757575"/>
                </a:solidFill>
                <a:latin typeface="Arial"/>
                <a:ea typeface="Arial"/>
                <a:cs typeface="Arial"/>
                <a:sym typeface="Arial"/>
              </a:defRPr>
            </a:lvl7pPr>
            <a:lvl8pPr indent="0" lvl="7" marL="0" algn="r">
              <a:buClr>
                <a:srgbClr val="757575"/>
              </a:buClr>
              <a:buSzPts val="900"/>
              <a:buFont typeface="Arial"/>
              <a:buNone/>
              <a:defRPr sz="900">
                <a:solidFill>
                  <a:srgbClr val="757575"/>
                </a:solidFill>
                <a:latin typeface="Arial"/>
                <a:ea typeface="Arial"/>
                <a:cs typeface="Arial"/>
                <a:sym typeface="Arial"/>
              </a:defRPr>
            </a:lvl8pPr>
            <a:lvl9pPr indent="0" lvl="8" marL="0" algn="r">
              <a:buClr>
                <a:srgbClr val="757575"/>
              </a:buClr>
              <a:buSzPts val="900"/>
              <a:buFont typeface="Arial"/>
              <a:buNone/>
              <a:defRPr sz="900">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757575"/>
              </a:buClr>
              <a:buSzPts val="1800"/>
              <a:buNone/>
              <a:defRPr sz="1800">
                <a:solidFill>
                  <a:srgbClr val="757575"/>
                </a:solidFill>
              </a:defRPr>
            </a:lvl1pPr>
            <a:lvl2pPr indent="-228600" lvl="1" marL="914400" algn="l">
              <a:lnSpc>
                <a:spcPct val="90000"/>
              </a:lnSpc>
              <a:spcBef>
                <a:spcPts val="400"/>
              </a:spcBef>
              <a:spcAft>
                <a:spcPts val="0"/>
              </a:spcAft>
              <a:buClr>
                <a:srgbClr val="757575"/>
              </a:buClr>
              <a:buSzPts val="1500"/>
              <a:buNone/>
              <a:defRPr sz="1500">
                <a:solidFill>
                  <a:srgbClr val="757575"/>
                </a:solidFill>
              </a:defRPr>
            </a:lvl2pPr>
            <a:lvl3pPr indent="-228600" lvl="2" marL="1371600" algn="l">
              <a:lnSpc>
                <a:spcPct val="90000"/>
              </a:lnSpc>
              <a:spcBef>
                <a:spcPts val="400"/>
              </a:spcBef>
              <a:spcAft>
                <a:spcPts val="0"/>
              </a:spcAft>
              <a:buClr>
                <a:srgbClr val="757575"/>
              </a:buClr>
              <a:buSzPts val="1400"/>
              <a:buNone/>
              <a:defRPr sz="1400">
                <a:solidFill>
                  <a:srgbClr val="757575"/>
                </a:solidFill>
              </a:defRPr>
            </a:lvl3pPr>
            <a:lvl4pPr indent="-228600" lvl="3" marL="1828800" algn="l">
              <a:lnSpc>
                <a:spcPct val="90000"/>
              </a:lnSpc>
              <a:spcBef>
                <a:spcPts val="400"/>
              </a:spcBef>
              <a:spcAft>
                <a:spcPts val="0"/>
              </a:spcAft>
              <a:buClr>
                <a:srgbClr val="757575"/>
              </a:buClr>
              <a:buSzPts val="1200"/>
              <a:buNone/>
              <a:defRPr sz="1200">
                <a:solidFill>
                  <a:srgbClr val="757575"/>
                </a:solidFill>
              </a:defRPr>
            </a:lvl4pPr>
            <a:lvl5pPr indent="-228600" lvl="4" marL="2286000" algn="l">
              <a:lnSpc>
                <a:spcPct val="9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sp>
        <p:nvSpPr>
          <p:cNvPr id="75" name="Google Shape;75;p1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1" name="Google Shape;81;p18"/>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2" name="Google Shape;82;p1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9"/>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8" name="Google Shape;88;p19"/>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9" name="Google Shape;89;p19"/>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0" name="Google Shape;90;p19"/>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1" name="Google Shape;91;p1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9" name="Shape 99"/>
        <p:cNvGrpSpPr/>
        <p:nvPr/>
      </p:nvGrpSpPr>
      <p:grpSpPr>
        <a:xfrm>
          <a:off x="0" y="0"/>
          <a:ext cx="0" cy="0"/>
          <a:chOff x="0" y="0"/>
          <a:chExt cx="0" cy="0"/>
        </a:xfrm>
      </p:grpSpPr>
      <p:sp>
        <p:nvSpPr>
          <p:cNvPr id="100" name="Google Shape;100;p2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1" name="Google Shape;101;p2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2" name="Google Shape;102;p2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3" name="Shape 103"/>
        <p:cNvGrpSpPr/>
        <p:nvPr/>
      </p:nvGrpSpPr>
      <p:grpSpPr>
        <a:xfrm>
          <a:off x="0" y="0"/>
          <a:ext cx="0" cy="0"/>
          <a:chOff x="0" y="0"/>
          <a:chExt cx="0" cy="0"/>
        </a:xfrm>
      </p:grpSpPr>
      <p:sp>
        <p:nvSpPr>
          <p:cNvPr id="104" name="Google Shape;104;p22"/>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5" name="Google Shape;105;p22"/>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6" name="Google Shape;106;p22"/>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7" name="Google Shape;107;p2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8" name="Google Shape;108;p2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9" name="Google Shape;109;p2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0" name="Shape 110"/>
        <p:cNvGrpSpPr/>
        <p:nvPr/>
      </p:nvGrpSpPr>
      <p:grpSpPr>
        <a:xfrm>
          <a:off x="0" y="0"/>
          <a:ext cx="0" cy="0"/>
          <a:chOff x="0" y="0"/>
          <a:chExt cx="0" cy="0"/>
        </a:xfrm>
      </p:grpSpPr>
      <p:sp>
        <p:nvSpPr>
          <p:cNvPr id="111" name="Google Shape;111;p23"/>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2" name="Google Shape;112;p23"/>
          <p:cNvSpPr/>
          <p:nvPr>
            <p:ph idx="2" type="pic"/>
          </p:nvPr>
        </p:nvSpPr>
        <p:spPr>
          <a:xfrm>
            <a:off x="3887391" y="740569"/>
            <a:ext cx="4629300" cy="3655200"/>
          </a:xfrm>
          <a:prstGeom prst="rect">
            <a:avLst/>
          </a:prstGeom>
          <a:noFill/>
          <a:ln>
            <a:noFill/>
          </a:ln>
        </p:spPr>
      </p:sp>
      <p:sp>
        <p:nvSpPr>
          <p:cNvPr id="113" name="Google Shape;113;p23"/>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4" name="Google Shape;114;p2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5" name="Google Shape;115;p2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6" name="Google Shape;116;p2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7" name="Shape 117"/>
        <p:cNvGrpSpPr/>
        <p:nvPr/>
      </p:nvGrpSpPr>
      <p:grpSpPr>
        <a:xfrm>
          <a:off x="0" y="0"/>
          <a:ext cx="0" cy="0"/>
          <a:chOff x="0" y="0"/>
          <a:chExt cx="0" cy="0"/>
        </a:xfrm>
      </p:grpSpPr>
      <p:sp>
        <p:nvSpPr>
          <p:cNvPr id="118" name="Google Shape;118;p2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9" name="Google Shape;119;p24"/>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0" name="Google Shape;120;p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1" name="Google Shape;121;p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2" name="Google Shape;122;p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3" name="Shape 123"/>
        <p:cNvGrpSpPr/>
        <p:nvPr/>
      </p:nvGrpSpPr>
      <p:grpSpPr>
        <a:xfrm>
          <a:off x="0" y="0"/>
          <a:ext cx="0" cy="0"/>
          <a:chOff x="0" y="0"/>
          <a:chExt cx="0" cy="0"/>
        </a:xfrm>
      </p:grpSpPr>
      <p:sp>
        <p:nvSpPr>
          <p:cNvPr id="124" name="Google Shape;124;p25"/>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5" name="Google Shape;125;p25"/>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6" name="Google Shape;126;p2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7" name="Google Shape;127;p2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8" name="Google Shape;128;p2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3.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i="0" sz="900" u="none" cap="none" strike="noStrike">
                <a:solidFill>
                  <a:srgbClr val="757575"/>
                </a:solidFill>
                <a:latin typeface="Arial"/>
                <a:ea typeface="Arial"/>
                <a:cs typeface="Arial"/>
                <a:sym typeface="Arial"/>
              </a:defRPr>
            </a:lvl1pPr>
            <a:lvl2pPr indent="0" lvl="1" marL="0" marR="0" algn="r">
              <a:spcBef>
                <a:spcPts val="0"/>
              </a:spcBef>
              <a:buNone/>
              <a:defRPr b="0" i="0" sz="900" u="none" cap="none" strike="noStrike">
                <a:solidFill>
                  <a:srgbClr val="757575"/>
                </a:solidFill>
                <a:latin typeface="Arial"/>
                <a:ea typeface="Arial"/>
                <a:cs typeface="Arial"/>
                <a:sym typeface="Arial"/>
              </a:defRPr>
            </a:lvl2pPr>
            <a:lvl3pPr indent="0" lvl="2" marL="0" marR="0" algn="r">
              <a:spcBef>
                <a:spcPts val="0"/>
              </a:spcBef>
              <a:buNone/>
              <a:defRPr b="0" i="0" sz="900" u="none" cap="none" strike="noStrike">
                <a:solidFill>
                  <a:srgbClr val="757575"/>
                </a:solidFill>
                <a:latin typeface="Arial"/>
                <a:ea typeface="Arial"/>
                <a:cs typeface="Arial"/>
                <a:sym typeface="Arial"/>
              </a:defRPr>
            </a:lvl3pPr>
            <a:lvl4pPr indent="0" lvl="3" marL="0" marR="0" algn="r">
              <a:spcBef>
                <a:spcPts val="0"/>
              </a:spcBef>
              <a:buNone/>
              <a:defRPr b="0" i="0" sz="900" u="none" cap="none" strike="noStrike">
                <a:solidFill>
                  <a:srgbClr val="757575"/>
                </a:solidFill>
                <a:latin typeface="Arial"/>
                <a:ea typeface="Arial"/>
                <a:cs typeface="Arial"/>
                <a:sym typeface="Arial"/>
              </a:defRPr>
            </a:lvl4pPr>
            <a:lvl5pPr indent="0" lvl="4" marL="0" marR="0" algn="r">
              <a:spcBef>
                <a:spcPts val="0"/>
              </a:spcBef>
              <a:buNone/>
              <a:defRPr b="0" i="0" sz="900" u="none" cap="none" strike="noStrike">
                <a:solidFill>
                  <a:srgbClr val="757575"/>
                </a:solidFill>
                <a:latin typeface="Arial"/>
                <a:ea typeface="Arial"/>
                <a:cs typeface="Arial"/>
                <a:sym typeface="Arial"/>
              </a:defRPr>
            </a:lvl5pPr>
            <a:lvl6pPr indent="0" lvl="5" marL="0" marR="0" algn="r">
              <a:spcBef>
                <a:spcPts val="0"/>
              </a:spcBef>
              <a:buNone/>
              <a:defRPr b="0" i="0" sz="900" u="none" cap="none" strike="noStrike">
                <a:solidFill>
                  <a:srgbClr val="757575"/>
                </a:solidFill>
                <a:latin typeface="Arial"/>
                <a:ea typeface="Arial"/>
                <a:cs typeface="Arial"/>
                <a:sym typeface="Arial"/>
              </a:defRPr>
            </a:lvl6pPr>
            <a:lvl7pPr indent="0" lvl="6" marL="0" marR="0" algn="r">
              <a:spcBef>
                <a:spcPts val="0"/>
              </a:spcBef>
              <a:buNone/>
              <a:defRPr b="0" i="0" sz="900" u="none" cap="none" strike="noStrike">
                <a:solidFill>
                  <a:srgbClr val="757575"/>
                </a:solidFill>
                <a:latin typeface="Arial"/>
                <a:ea typeface="Arial"/>
                <a:cs typeface="Arial"/>
                <a:sym typeface="Arial"/>
              </a:defRPr>
            </a:lvl7pPr>
            <a:lvl8pPr indent="0" lvl="7" marL="0" marR="0" algn="r">
              <a:spcBef>
                <a:spcPts val="0"/>
              </a:spcBef>
              <a:buNone/>
              <a:defRPr b="0" i="0" sz="900" u="none" cap="none" strike="noStrike">
                <a:solidFill>
                  <a:srgbClr val="757575"/>
                </a:solidFill>
                <a:latin typeface="Arial"/>
                <a:ea typeface="Arial"/>
                <a:cs typeface="Arial"/>
                <a:sym typeface="Arial"/>
              </a:defRPr>
            </a:lvl8pPr>
            <a:lvl9pPr indent="0" lvl="8" marL="0" marR="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hyperlink" Target="https://maugus0.github.io/yushan-platform-frontend/" TargetMode="External"/><Relationship Id="rId4" Type="http://schemas.openxmlformats.org/officeDocument/2006/relationships/hyperlink" Target="https://maugus0.github.io/yushan-platform-admin/admin/logi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hyperlink" Target="http://167.172.72.189:8761/" TargetMode="External"/><Relationship Id="rId4" Type="http://schemas.openxmlformats.org/officeDocument/2006/relationships/hyperlink" Target="http://167.71.216.54:8081/swagger-ui/index.html#/" TargetMode="External"/><Relationship Id="rId5" Type="http://schemas.openxmlformats.org/officeDocument/2006/relationships/hyperlink" Target="http://157.245.153.167:8082/swagger-ui/index.html" TargetMode="External"/><Relationship Id="rId6" Type="http://schemas.openxmlformats.org/officeDocument/2006/relationships/hyperlink" Target="http://139.59.243.188:8083/swagger-ui/index.html#/" TargetMode="External"/><Relationship Id="rId7" Type="http://schemas.openxmlformats.org/officeDocument/2006/relationships/hyperlink" Target="http://167.172.65.76:8084/swagger-ui/index.html#/" TargetMode="External"/><Relationship Id="rId8" Type="http://schemas.openxmlformats.org/officeDocument/2006/relationships/hyperlink" Target="http://139.59.243.188:8085/swagger-ui/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yushan.duckdns.org/api/v1" TargetMode="External"/><Relationship Id="rId4" Type="http://schemas.openxmlformats.org/officeDocument/2006/relationships/hyperlink" Target="https://github.com/maugus0/yushan-platform-frontend/actions"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0.png"/><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9.png"/><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1" Type="http://schemas.openxmlformats.org/officeDocument/2006/relationships/hyperlink" Target="http://157.245.61.206:9090/" TargetMode="External"/><Relationship Id="rId10" Type="http://schemas.openxmlformats.org/officeDocument/2006/relationships/hyperlink" Target="http://157.245.61.206:3000/" TargetMode="External"/><Relationship Id="rId13" Type="http://schemas.openxmlformats.org/officeDocument/2006/relationships/hyperlink" Target="http://167.172.77.106:9200/" TargetMode="External"/><Relationship Id="rId12" Type="http://schemas.openxmlformats.org/officeDocument/2006/relationships/hyperlink" Target="http://167.172.77.106:5601/" TargetMode="External"/><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167.172.72.189:8761/" TargetMode="External"/><Relationship Id="rId4" Type="http://schemas.openxmlformats.org/officeDocument/2006/relationships/hyperlink" Target="https://yushan.duckdns.org/api/v1" TargetMode="External"/><Relationship Id="rId9" Type="http://schemas.openxmlformats.org/officeDocument/2006/relationships/hyperlink" Target="http://139.59.243.188:8083/swagger-ui/index.html" TargetMode="External"/><Relationship Id="rId5" Type="http://schemas.openxmlformats.org/officeDocument/2006/relationships/hyperlink" Target="http://157.245.153.167:8082/swagger-ui/index.html" TargetMode="External"/><Relationship Id="rId6" Type="http://schemas.openxmlformats.org/officeDocument/2006/relationships/hyperlink" Target="http://167.71.216.54:8081/swagger-ui/index.html" TargetMode="External"/><Relationship Id="rId7" Type="http://schemas.openxmlformats.org/officeDocument/2006/relationships/hyperlink" Target="http://167.172.65.76:8084/swagger-ui/index.html" TargetMode="External"/><Relationship Id="rId8" Type="http://schemas.openxmlformats.org/officeDocument/2006/relationships/hyperlink" Target="http://139.59.243.188:8085/swagger-ui/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8.png"/><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ghcr.io/maugus0/yushan-" TargetMode="Externa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6.png"/><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sonarcloud.io" TargetMode="External"/><Relationship Id="rId4" Type="http://schemas.openxmlformats.org/officeDocument/2006/relationships/image" Target="../media/image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drive.google.com/file/d/1IMG0D629O9tqanREIReF-muEco2CQMKM/view" TargetMode="External"/><Relationship Id="rId4" Type="http://schemas.openxmlformats.org/officeDocument/2006/relationships/image" Target="../media/image12.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hyperlink" Target="http://drive.google.com/file/d/1Et6IZgJIpIuM54Gj15ClUzs5NUmYexvU/view" TargetMode="External"/><Relationship Id="rId4" Type="http://schemas.openxmlformats.org/officeDocument/2006/relationships/image" Target="../media/image7.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6"/>
          <p:cNvSpPr txBox="1"/>
          <p:nvPr>
            <p:ph type="ctrTitle"/>
          </p:nvPr>
        </p:nvSpPr>
        <p:spPr>
          <a:xfrm>
            <a:off x="1143000" y="841775"/>
            <a:ext cx="7245300" cy="1790700"/>
          </a:xfrm>
          <a:prstGeom prst="rect">
            <a:avLst/>
          </a:prstGeom>
          <a:noFill/>
          <a:ln>
            <a:noFill/>
          </a:ln>
        </p:spPr>
        <p:txBody>
          <a:bodyPr anchorCtr="0" anchor="b" bIns="34275" lIns="68575" spcFirstLastPara="1" rIns="68575" wrap="square" tIns="34275">
            <a:normAutofit/>
          </a:bodyPr>
          <a:lstStyle/>
          <a:p>
            <a:pPr indent="0" lvl="0" marL="0" rtl="0" algn="ctr">
              <a:lnSpc>
                <a:spcPct val="90000"/>
              </a:lnSpc>
              <a:spcBef>
                <a:spcPts val="0"/>
              </a:spcBef>
              <a:spcAft>
                <a:spcPts val="0"/>
              </a:spcAft>
              <a:buClr>
                <a:schemeClr val="dk1"/>
              </a:buClr>
              <a:buSzPts val="4500"/>
              <a:buFont typeface="Play"/>
              <a:buNone/>
            </a:pPr>
            <a:r>
              <a:rPr b="1" lang="vi">
                <a:latin typeface="Arial"/>
                <a:ea typeface="Arial"/>
                <a:cs typeface="Arial"/>
                <a:sym typeface="Arial"/>
              </a:rPr>
              <a:t>Yushan – Home of Stories</a:t>
            </a:r>
            <a:endParaRPr b="1">
              <a:latin typeface="Arial"/>
              <a:ea typeface="Arial"/>
              <a:cs typeface="Arial"/>
              <a:sym typeface="Arial"/>
            </a:endParaRPr>
          </a:p>
        </p:txBody>
      </p:sp>
      <p:sp>
        <p:nvSpPr>
          <p:cNvPr id="134" name="Google Shape;134;p26"/>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p>
            <a:pPr indent="0" lvl="0" marL="0" rtl="0" algn="ctr">
              <a:lnSpc>
                <a:spcPct val="90000"/>
              </a:lnSpc>
              <a:spcBef>
                <a:spcPts val="0"/>
              </a:spcBef>
              <a:spcAft>
                <a:spcPts val="0"/>
              </a:spcAft>
              <a:buClr>
                <a:schemeClr val="dk1"/>
              </a:buClr>
              <a:buSzPts val="1800"/>
              <a:buNone/>
            </a:pPr>
            <a:r>
              <a:rPr lang="vi"/>
              <a:t>A Webnovel Reading Platform with Gamification</a:t>
            </a:r>
            <a:endParaRPr/>
          </a:p>
          <a:p>
            <a:pPr indent="0" lvl="0" marL="0" rtl="0" algn="ctr">
              <a:lnSpc>
                <a:spcPct val="90000"/>
              </a:lnSpc>
              <a:spcBef>
                <a:spcPts val="800"/>
              </a:spcBef>
              <a:spcAft>
                <a:spcPts val="0"/>
              </a:spcAft>
              <a:buClr>
                <a:schemeClr val="dk1"/>
              </a:buClr>
              <a:buSzPts val="1800"/>
              <a:buNone/>
            </a:pPr>
            <a:r>
              <a:rPr lang="vi"/>
              <a:t>Module: </a:t>
            </a:r>
            <a:r>
              <a:rPr i="1" lang="vi"/>
              <a:t>Architecting Scalable Systems – Practice Project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vi">
                <a:latin typeface="Arial"/>
                <a:ea typeface="Arial"/>
                <a:cs typeface="Arial"/>
                <a:sym typeface="Arial"/>
              </a:rPr>
              <a:t>Context &amp; Business Problem</a:t>
            </a:r>
            <a:endParaRPr>
              <a:latin typeface="Arial"/>
              <a:ea typeface="Arial"/>
              <a:cs typeface="Arial"/>
              <a:sym typeface="Arial"/>
            </a:endParaRPr>
          </a:p>
        </p:txBody>
      </p:sp>
      <p:sp>
        <p:nvSpPr>
          <p:cNvPr id="140" name="Google Shape;140;p2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2100"/>
              <a:buChar char="•"/>
            </a:pPr>
            <a:r>
              <a:rPr lang="vi"/>
              <a:t>The rise of online storytelling platforms (like Amazon, Webnovel, RakutenViki &amp; Wattpad) shows strong demand for </a:t>
            </a:r>
            <a:r>
              <a:rPr i="1" lang="vi"/>
              <a:t>interactive and engaging</a:t>
            </a:r>
            <a:r>
              <a:rPr lang="vi"/>
              <a:t> reading experiences.</a:t>
            </a:r>
            <a:endParaRPr/>
          </a:p>
          <a:p>
            <a:pPr indent="-171450" lvl="0" marL="177800" rtl="0" algn="l">
              <a:lnSpc>
                <a:spcPct val="90000"/>
              </a:lnSpc>
              <a:spcBef>
                <a:spcPts val="800"/>
              </a:spcBef>
              <a:spcAft>
                <a:spcPts val="0"/>
              </a:spcAft>
              <a:buClr>
                <a:schemeClr val="dk1"/>
              </a:buClr>
              <a:buSzPts val="2100"/>
              <a:buChar char="•"/>
            </a:pPr>
            <a:r>
              <a:rPr b="1" lang="vi"/>
              <a:t>Problem:</a:t>
            </a:r>
            <a:r>
              <a:rPr lang="vi"/>
              <a:t> Most platforms lack </a:t>
            </a:r>
            <a:r>
              <a:rPr i="1" lang="vi"/>
              <a:t>reward-based engagement</a:t>
            </a:r>
            <a:r>
              <a:rPr lang="vi"/>
              <a:t> and </a:t>
            </a:r>
            <a:r>
              <a:rPr i="1" lang="vi"/>
              <a:t>bidirectional interaction</a:t>
            </a:r>
            <a:r>
              <a:rPr lang="vi"/>
              <a:t> between readers and authors.</a:t>
            </a:r>
            <a:endParaRPr/>
          </a:p>
          <a:p>
            <a:pPr indent="-171450" lvl="0" marL="177800" rtl="0" algn="l">
              <a:lnSpc>
                <a:spcPct val="90000"/>
              </a:lnSpc>
              <a:spcBef>
                <a:spcPts val="800"/>
              </a:spcBef>
              <a:spcAft>
                <a:spcPts val="0"/>
              </a:spcAft>
              <a:buClr>
                <a:schemeClr val="dk1"/>
              </a:buClr>
              <a:buSzPts val="2100"/>
              <a:buChar char="•"/>
            </a:pPr>
            <a:r>
              <a:rPr b="1" lang="vi"/>
              <a:t>Our Goal:</a:t>
            </a:r>
            <a:r>
              <a:rPr lang="vi"/>
              <a:t> Build a unified platform where users can </a:t>
            </a:r>
            <a:r>
              <a:rPr i="1" lang="vi"/>
              <a:t>read, write, and be rewarded</a:t>
            </a:r>
            <a:r>
              <a:rPr lang="vi"/>
              <a:t> - blending </a:t>
            </a:r>
            <a:r>
              <a:rPr i="1" lang="vi"/>
              <a:t>literary creativity</a:t>
            </a:r>
            <a:r>
              <a:rPr lang="vi"/>
              <a:t> with </a:t>
            </a:r>
            <a:r>
              <a:rPr i="1" lang="vi"/>
              <a:t>gamified engagement</a:t>
            </a:r>
            <a:r>
              <a:rPr lang="vi"/>
              <a:t>.</a:t>
            </a:r>
            <a:endParaRPr/>
          </a:p>
          <a:p>
            <a:pPr indent="-38100" lvl="0" marL="177800" rtl="0" algn="l">
              <a:lnSpc>
                <a:spcPct val="90000"/>
              </a:lnSpc>
              <a:spcBef>
                <a:spcPts val="800"/>
              </a:spcBef>
              <a:spcAft>
                <a:spcPts val="0"/>
              </a:spcAft>
              <a:buClr>
                <a:schemeClr val="dk1"/>
              </a:buClr>
              <a:buSzPts val="21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vi">
                <a:latin typeface="Arial"/>
                <a:ea typeface="Arial"/>
                <a:cs typeface="Arial"/>
                <a:sym typeface="Arial"/>
              </a:rPr>
              <a:t>Platform Thinking Aspects</a:t>
            </a:r>
            <a:endParaRPr>
              <a:latin typeface="Arial"/>
              <a:ea typeface="Arial"/>
              <a:cs typeface="Arial"/>
              <a:sym typeface="Arial"/>
            </a:endParaRPr>
          </a:p>
        </p:txBody>
      </p:sp>
      <p:sp>
        <p:nvSpPr>
          <p:cNvPr id="146" name="Google Shape;146;p2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2100"/>
              <a:buChar char="•"/>
            </a:pPr>
            <a:r>
              <a:rPr lang="vi"/>
              <a:t>Built as a </a:t>
            </a:r>
            <a:r>
              <a:rPr b="1" lang="vi"/>
              <a:t>multi-service architecture</a:t>
            </a:r>
            <a:r>
              <a:rPr lang="vi"/>
              <a:t> supporting different personas: </a:t>
            </a:r>
            <a:r>
              <a:rPr i="1" lang="vi"/>
              <a:t>Readers, Authors, and Admins</a:t>
            </a:r>
            <a:r>
              <a:rPr lang="vi"/>
              <a:t>.</a:t>
            </a:r>
            <a:endParaRPr/>
          </a:p>
          <a:p>
            <a:pPr indent="-171450" lvl="0" marL="177800" rtl="0" algn="l">
              <a:lnSpc>
                <a:spcPct val="90000"/>
              </a:lnSpc>
              <a:spcBef>
                <a:spcPts val="800"/>
              </a:spcBef>
              <a:spcAft>
                <a:spcPts val="0"/>
              </a:spcAft>
              <a:buClr>
                <a:schemeClr val="dk1"/>
              </a:buClr>
              <a:buSzPts val="2100"/>
              <a:buChar char="•"/>
            </a:pPr>
            <a:r>
              <a:rPr lang="vi"/>
              <a:t>Designed to be </a:t>
            </a:r>
            <a:r>
              <a:rPr b="1" lang="vi"/>
              <a:t>extensible:</a:t>
            </a:r>
            <a:r>
              <a:rPr lang="vi"/>
              <a:t> future addition of </a:t>
            </a:r>
            <a:r>
              <a:rPr i="1" lang="vi"/>
              <a:t>AI-assisted writing tools</a:t>
            </a:r>
            <a:r>
              <a:rPr lang="vi"/>
              <a:t>, </a:t>
            </a:r>
            <a:r>
              <a:rPr i="1" lang="vi"/>
              <a:t>subscription systems</a:t>
            </a:r>
            <a:r>
              <a:rPr lang="vi"/>
              <a:t>, or </a:t>
            </a:r>
            <a:r>
              <a:rPr i="1" lang="vi"/>
              <a:t>virtual events</a:t>
            </a:r>
            <a:r>
              <a:rPr lang="vi"/>
              <a:t>.</a:t>
            </a:r>
            <a:endParaRPr/>
          </a:p>
          <a:p>
            <a:pPr indent="-171450" lvl="0" marL="177800" rtl="0" algn="l">
              <a:lnSpc>
                <a:spcPct val="90000"/>
              </a:lnSpc>
              <a:spcBef>
                <a:spcPts val="800"/>
              </a:spcBef>
              <a:spcAft>
                <a:spcPts val="0"/>
              </a:spcAft>
              <a:buClr>
                <a:schemeClr val="dk1"/>
              </a:buClr>
              <a:buSzPts val="2100"/>
              <a:buChar char="•"/>
            </a:pPr>
            <a:r>
              <a:rPr lang="vi"/>
              <a:t>Encourages a </a:t>
            </a:r>
            <a:r>
              <a:rPr b="1" lang="vi"/>
              <a:t>creator ecosystem</a:t>
            </a:r>
            <a:r>
              <a:rPr lang="vi"/>
              <a:t> where users can both </a:t>
            </a:r>
            <a:r>
              <a:rPr i="1" lang="vi"/>
              <a:t>consume</a:t>
            </a:r>
            <a:r>
              <a:rPr lang="vi"/>
              <a:t> and </a:t>
            </a:r>
            <a:r>
              <a:rPr i="1" lang="vi"/>
              <a:t>create</a:t>
            </a:r>
            <a:r>
              <a:rPr lang="vi"/>
              <a:t> content.</a:t>
            </a:r>
            <a:endParaRPr/>
          </a:p>
          <a:p>
            <a:pPr indent="-171450" lvl="0" marL="177800" rtl="0" algn="l">
              <a:lnSpc>
                <a:spcPct val="90000"/>
              </a:lnSpc>
              <a:spcBef>
                <a:spcPts val="800"/>
              </a:spcBef>
              <a:spcAft>
                <a:spcPts val="0"/>
              </a:spcAft>
              <a:buClr>
                <a:schemeClr val="dk1"/>
              </a:buClr>
              <a:buSzPts val="2100"/>
              <a:buChar char="•"/>
            </a:pPr>
            <a:r>
              <a:rPr lang="vi"/>
              <a:t>Supports </a:t>
            </a:r>
            <a:r>
              <a:rPr i="1" lang="vi"/>
              <a:t>gamified ranking and rewards</a:t>
            </a:r>
            <a:r>
              <a:rPr lang="vi"/>
              <a:t> for continued participation.</a:t>
            </a:r>
            <a:endParaRPr/>
          </a:p>
          <a:p>
            <a:pPr indent="-38100" lvl="0" marL="177800" rtl="0" algn="l">
              <a:lnSpc>
                <a:spcPct val="90000"/>
              </a:lnSpc>
              <a:spcBef>
                <a:spcPts val="800"/>
              </a:spcBef>
              <a:spcAft>
                <a:spcPts val="0"/>
              </a:spcAft>
              <a:buClr>
                <a:schemeClr val="dk1"/>
              </a:buClr>
              <a:buSzPts val="21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vi">
                <a:latin typeface="Arial"/>
                <a:ea typeface="Arial"/>
                <a:cs typeface="Arial"/>
                <a:sym typeface="Arial"/>
              </a:rPr>
              <a:t>Scope of Yushan Platform</a:t>
            </a:r>
            <a:endParaRPr>
              <a:latin typeface="Arial"/>
              <a:ea typeface="Arial"/>
              <a:cs typeface="Arial"/>
              <a:sym typeface="Arial"/>
            </a:endParaRPr>
          </a:p>
        </p:txBody>
      </p:sp>
      <p:sp>
        <p:nvSpPr>
          <p:cNvPr id="152" name="Google Shape;152;p2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lnSpcReduction="20000"/>
          </a:bodyPr>
          <a:lstStyle/>
          <a:p>
            <a:pPr indent="0" lvl="0" marL="0" rtl="0" algn="l">
              <a:lnSpc>
                <a:spcPct val="90000"/>
              </a:lnSpc>
              <a:spcBef>
                <a:spcPts val="0"/>
              </a:spcBef>
              <a:spcAft>
                <a:spcPts val="0"/>
              </a:spcAft>
              <a:buClr>
                <a:schemeClr val="dk1"/>
              </a:buClr>
              <a:buSzPts val="2100"/>
              <a:buNone/>
            </a:pPr>
            <a:r>
              <a:rPr b="1" lang="vi"/>
              <a:t>User Goals:</a:t>
            </a:r>
            <a:endParaRPr/>
          </a:p>
          <a:p>
            <a:pPr indent="-171450" lvl="0" marL="177800" rtl="0" algn="l">
              <a:lnSpc>
                <a:spcPct val="90000"/>
              </a:lnSpc>
              <a:spcBef>
                <a:spcPts val="800"/>
              </a:spcBef>
              <a:spcAft>
                <a:spcPts val="0"/>
              </a:spcAft>
              <a:buClr>
                <a:schemeClr val="dk1"/>
              </a:buClr>
              <a:buSzPts val="2100"/>
              <a:buChar char="•"/>
            </a:pPr>
            <a:r>
              <a:rPr lang="vi"/>
              <a:t>Secure registration, login, and role-based access control.</a:t>
            </a:r>
            <a:endParaRPr/>
          </a:p>
          <a:p>
            <a:pPr indent="-171450" lvl="0" marL="177800" rtl="0" algn="l">
              <a:lnSpc>
                <a:spcPct val="90000"/>
              </a:lnSpc>
              <a:spcBef>
                <a:spcPts val="800"/>
              </a:spcBef>
              <a:spcAft>
                <a:spcPts val="0"/>
              </a:spcAft>
              <a:buClr>
                <a:schemeClr val="dk1"/>
              </a:buClr>
              <a:buSzPts val="2100"/>
              <a:buChar char="•"/>
            </a:pPr>
            <a:r>
              <a:rPr lang="vi"/>
              <a:t>Manage personal library and profile.</a:t>
            </a:r>
            <a:endParaRPr/>
          </a:p>
          <a:p>
            <a:pPr indent="0" lvl="0" marL="0" rtl="0" algn="l">
              <a:lnSpc>
                <a:spcPct val="90000"/>
              </a:lnSpc>
              <a:spcBef>
                <a:spcPts val="800"/>
              </a:spcBef>
              <a:spcAft>
                <a:spcPts val="0"/>
              </a:spcAft>
              <a:buClr>
                <a:schemeClr val="dk1"/>
              </a:buClr>
              <a:buSzPts val="2100"/>
              <a:buNone/>
            </a:pPr>
            <a:r>
              <a:rPr b="1" lang="vi"/>
              <a:t>Author Goals:</a:t>
            </a:r>
            <a:endParaRPr/>
          </a:p>
          <a:p>
            <a:pPr indent="-171450" lvl="0" marL="177800" rtl="0" algn="l">
              <a:lnSpc>
                <a:spcPct val="90000"/>
              </a:lnSpc>
              <a:spcBef>
                <a:spcPts val="800"/>
              </a:spcBef>
              <a:spcAft>
                <a:spcPts val="0"/>
              </a:spcAft>
              <a:buClr>
                <a:schemeClr val="dk1"/>
              </a:buClr>
              <a:buSzPts val="2100"/>
              <a:buChar char="•"/>
            </a:pPr>
            <a:r>
              <a:rPr lang="vi"/>
              <a:t>Create and manage novels, chapters, and metadata.</a:t>
            </a:r>
            <a:endParaRPr/>
          </a:p>
          <a:p>
            <a:pPr indent="-171450" lvl="0" marL="177800" rtl="0" algn="l">
              <a:lnSpc>
                <a:spcPct val="90000"/>
              </a:lnSpc>
              <a:spcBef>
                <a:spcPts val="800"/>
              </a:spcBef>
              <a:spcAft>
                <a:spcPts val="0"/>
              </a:spcAft>
              <a:buClr>
                <a:schemeClr val="dk1"/>
              </a:buClr>
              <a:buSzPts val="2100"/>
              <a:buChar char="•"/>
            </a:pPr>
            <a:r>
              <a:rPr lang="vi"/>
              <a:t>Track novel analytics and engagement.</a:t>
            </a:r>
            <a:endParaRPr/>
          </a:p>
          <a:p>
            <a:pPr indent="0" lvl="0" marL="0" rtl="0" algn="l">
              <a:lnSpc>
                <a:spcPct val="90000"/>
              </a:lnSpc>
              <a:spcBef>
                <a:spcPts val="800"/>
              </a:spcBef>
              <a:spcAft>
                <a:spcPts val="0"/>
              </a:spcAft>
              <a:buClr>
                <a:schemeClr val="dk1"/>
              </a:buClr>
              <a:buSzPts val="2100"/>
              <a:buNone/>
            </a:pPr>
            <a:r>
              <a:rPr b="1" lang="vi"/>
              <a:t>Reader Goals:</a:t>
            </a:r>
            <a:endParaRPr/>
          </a:p>
          <a:p>
            <a:pPr indent="-171450" lvl="0" marL="177800" rtl="0" algn="l">
              <a:lnSpc>
                <a:spcPct val="90000"/>
              </a:lnSpc>
              <a:spcBef>
                <a:spcPts val="800"/>
              </a:spcBef>
              <a:spcAft>
                <a:spcPts val="0"/>
              </a:spcAft>
              <a:buClr>
                <a:schemeClr val="dk1"/>
              </a:buClr>
              <a:buSzPts val="2100"/>
              <a:buChar char="•"/>
            </a:pPr>
            <a:r>
              <a:rPr lang="vi"/>
              <a:t>Discover, read, comment, and review novels.</a:t>
            </a:r>
            <a:endParaRPr/>
          </a:p>
          <a:p>
            <a:pPr indent="-171450" lvl="0" marL="177800" rtl="0" algn="l">
              <a:lnSpc>
                <a:spcPct val="90000"/>
              </a:lnSpc>
              <a:spcBef>
                <a:spcPts val="800"/>
              </a:spcBef>
              <a:spcAft>
                <a:spcPts val="0"/>
              </a:spcAft>
              <a:buClr>
                <a:schemeClr val="dk1"/>
              </a:buClr>
              <a:buSzPts val="2100"/>
              <a:buChar char="•"/>
            </a:pPr>
            <a:r>
              <a:rPr lang="vi"/>
              <a:t>Earn EXP, Yuan (virtual currency), and badges through activity.</a:t>
            </a:r>
            <a:endParaRPr/>
          </a:p>
          <a:p>
            <a:pPr indent="-38100" lvl="0" marL="177800" rtl="0" algn="l">
              <a:lnSpc>
                <a:spcPct val="90000"/>
              </a:lnSpc>
              <a:spcBef>
                <a:spcPts val="800"/>
              </a:spcBef>
              <a:spcAft>
                <a:spcPts val="0"/>
              </a:spcAft>
              <a:buClr>
                <a:schemeClr val="dk1"/>
              </a:buClr>
              <a:buSzPts val="21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vi">
                <a:latin typeface="Arial"/>
                <a:ea typeface="Arial"/>
                <a:cs typeface="Arial"/>
                <a:sym typeface="Arial"/>
              </a:rPr>
              <a:t>Overview Q&amp;A</a:t>
            </a:r>
            <a:endParaRPr>
              <a:latin typeface="Arial"/>
              <a:ea typeface="Arial"/>
              <a:cs typeface="Arial"/>
              <a:sym typeface="Arial"/>
            </a:endParaRPr>
          </a:p>
        </p:txBody>
      </p:sp>
      <p:sp>
        <p:nvSpPr>
          <p:cNvPr id="158" name="Google Shape;158;p3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2100"/>
              <a:buChar char="•"/>
            </a:pPr>
            <a:r>
              <a:rPr lang="vi"/>
              <a:t>Questions on the project overview before we move on?</a:t>
            </a:r>
            <a:endParaRPr/>
          </a:p>
          <a:p>
            <a:pPr indent="0" lvl="0" marL="0" rtl="0" algn="l">
              <a:lnSpc>
                <a:spcPct val="90000"/>
              </a:lnSpc>
              <a:spcBef>
                <a:spcPts val="800"/>
              </a:spcBef>
              <a:spcAft>
                <a:spcPts val="0"/>
              </a:spcAft>
              <a:buClr>
                <a:schemeClr val="dk1"/>
              </a:buClr>
              <a:buSzPts val="2100"/>
              <a:buNone/>
            </a:pPr>
            <a:r>
              <a:t/>
            </a:r>
            <a:endParaRPr/>
          </a:p>
          <a:p>
            <a:pPr indent="-171450" lvl="0" marL="177800" rtl="0" algn="l">
              <a:lnSpc>
                <a:spcPct val="90000"/>
              </a:lnSpc>
              <a:spcBef>
                <a:spcPts val="800"/>
              </a:spcBef>
              <a:spcAft>
                <a:spcPts val="0"/>
              </a:spcAft>
              <a:buClr>
                <a:schemeClr val="dk1"/>
              </a:buClr>
              <a:buSzPts val="2100"/>
              <a:buChar char="-"/>
            </a:pPr>
            <a:r>
              <a:rPr lang="vi"/>
              <a:t>Yushan Platform Webapp:</a:t>
            </a:r>
            <a:endParaRPr/>
          </a:p>
          <a:p>
            <a:pPr indent="0" lvl="0" marL="0" rtl="0" algn="l">
              <a:lnSpc>
                <a:spcPct val="90000"/>
              </a:lnSpc>
              <a:spcBef>
                <a:spcPts val="800"/>
              </a:spcBef>
              <a:spcAft>
                <a:spcPts val="0"/>
              </a:spcAft>
              <a:buClr>
                <a:schemeClr val="dk1"/>
              </a:buClr>
              <a:buSzPts val="2100"/>
              <a:buNone/>
            </a:pPr>
            <a:r>
              <a:rPr lang="vi" u="sng">
                <a:solidFill>
                  <a:schemeClr val="hlink"/>
                </a:solidFill>
                <a:hlinkClick r:id="rId3"/>
              </a:rPr>
              <a:t>https://maugus0.github.io/yushan-platform-frontend/</a:t>
            </a:r>
            <a:endParaRPr/>
          </a:p>
          <a:p>
            <a:pPr indent="-38100" lvl="0" marL="177800" rtl="0" algn="l">
              <a:lnSpc>
                <a:spcPct val="90000"/>
              </a:lnSpc>
              <a:spcBef>
                <a:spcPts val="800"/>
              </a:spcBef>
              <a:spcAft>
                <a:spcPts val="0"/>
              </a:spcAft>
              <a:buClr>
                <a:schemeClr val="dk1"/>
              </a:buClr>
              <a:buSzPts val="2100"/>
              <a:buFont typeface="Arial"/>
              <a:buNone/>
            </a:pPr>
            <a:r>
              <a:t/>
            </a:r>
            <a:endParaRPr/>
          </a:p>
          <a:p>
            <a:pPr indent="-171450" lvl="0" marL="177800" rtl="0" algn="l">
              <a:lnSpc>
                <a:spcPct val="90000"/>
              </a:lnSpc>
              <a:spcBef>
                <a:spcPts val="800"/>
              </a:spcBef>
              <a:spcAft>
                <a:spcPts val="0"/>
              </a:spcAft>
              <a:buClr>
                <a:schemeClr val="dk1"/>
              </a:buClr>
              <a:buSzPts val="2100"/>
              <a:buChar char="-"/>
            </a:pPr>
            <a:r>
              <a:rPr lang="vi"/>
              <a:t>Yushan Platform Admin Dashboard:</a:t>
            </a:r>
            <a:endParaRPr/>
          </a:p>
          <a:p>
            <a:pPr indent="0" lvl="0" marL="0" rtl="0" algn="l">
              <a:lnSpc>
                <a:spcPct val="90000"/>
              </a:lnSpc>
              <a:spcBef>
                <a:spcPts val="800"/>
              </a:spcBef>
              <a:spcAft>
                <a:spcPts val="0"/>
              </a:spcAft>
              <a:buClr>
                <a:schemeClr val="dk1"/>
              </a:buClr>
              <a:buSzPts val="2100"/>
              <a:buNone/>
            </a:pPr>
            <a:r>
              <a:rPr lang="vi" u="sng">
                <a:solidFill>
                  <a:schemeClr val="hlink"/>
                </a:solidFill>
                <a:hlinkClick r:id="rId4"/>
              </a:rPr>
              <a:t>https://maugus0.github.io/yushan-platform-admin/admin/login</a:t>
            </a:r>
            <a:endParaRPr/>
          </a:p>
          <a:p>
            <a:pPr indent="0" lvl="0" marL="0" rtl="0" algn="l">
              <a:lnSpc>
                <a:spcPct val="90000"/>
              </a:lnSpc>
              <a:spcBef>
                <a:spcPts val="800"/>
              </a:spcBef>
              <a:spcAft>
                <a:spcPts val="0"/>
              </a:spcAft>
              <a:buClr>
                <a:schemeClr val="dk1"/>
              </a:buClr>
              <a:buSzPts val="21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vi">
                <a:latin typeface="Arial"/>
                <a:ea typeface="Arial"/>
                <a:cs typeface="Arial"/>
                <a:sym typeface="Arial"/>
              </a:rPr>
              <a:t>Current Project Status</a:t>
            </a:r>
            <a:endParaRPr>
              <a:latin typeface="Arial"/>
              <a:ea typeface="Arial"/>
              <a:cs typeface="Arial"/>
              <a:sym typeface="Arial"/>
            </a:endParaRPr>
          </a:p>
        </p:txBody>
      </p:sp>
      <p:sp>
        <p:nvSpPr>
          <p:cNvPr id="164" name="Google Shape;164;p3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lnSpcReduction="10000"/>
          </a:bodyPr>
          <a:lstStyle/>
          <a:p>
            <a:pPr indent="-171450" lvl="0" marL="177800" rtl="0" algn="l">
              <a:lnSpc>
                <a:spcPct val="90000"/>
              </a:lnSpc>
              <a:spcBef>
                <a:spcPts val="0"/>
              </a:spcBef>
              <a:spcAft>
                <a:spcPts val="0"/>
              </a:spcAft>
              <a:buClr>
                <a:schemeClr val="dk1"/>
              </a:buClr>
              <a:buSzPts val="2100"/>
              <a:buChar char="•"/>
            </a:pPr>
            <a:r>
              <a:rPr b="1" lang="vi"/>
              <a:t>System Architecture:</a:t>
            </a:r>
            <a:endParaRPr/>
          </a:p>
          <a:p>
            <a:pPr indent="-171450" lvl="0" marL="177800" rtl="0" algn="l">
              <a:lnSpc>
                <a:spcPct val="90000"/>
              </a:lnSpc>
              <a:spcBef>
                <a:spcPts val="800"/>
              </a:spcBef>
              <a:spcAft>
                <a:spcPts val="0"/>
              </a:spcAft>
              <a:buClr>
                <a:schemeClr val="dk1"/>
              </a:buClr>
              <a:buSzPts val="2100"/>
              <a:buChar char="•"/>
            </a:pPr>
            <a:r>
              <a:rPr lang="vi"/>
              <a:t>Transitioned from a monolithic Spring Boot application to a </a:t>
            </a:r>
            <a:r>
              <a:rPr b="1" lang="vi"/>
              <a:t>fully microservices-based architecture</a:t>
            </a:r>
            <a:r>
              <a:rPr lang="vi"/>
              <a:t>.</a:t>
            </a:r>
            <a:endParaRPr/>
          </a:p>
          <a:p>
            <a:pPr indent="-171450" lvl="0" marL="177800" rtl="0" algn="l">
              <a:lnSpc>
                <a:spcPct val="90000"/>
              </a:lnSpc>
              <a:spcBef>
                <a:spcPts val="800"/>
              </a:spcBef>
              <a:spcAft>
                <a:spcPts val="0"/>
              </a:spcAft>
              <a:buClr>
                <a:schemeClr val="dk1"/>
              </a:buClr>
              <a:buSzPts val="2100"/>
              <a:buChar char="•"/>
            </a:pPr>
            <a:r>
              <a:rPr lang="vi"/>
              <a:t>Implemented </a:t>
            </a:r>
            <a:r>
              <a:rPr b="1" lang="vi"/>
              <a:t>five core services</a:t>
            </a:r>
            <a:r>
              <a:rPr lang="vi"/>
              <a:t>:</a:t>
            </a:r>
            <a:endParaRPr/>
          </a:p>
          <a:p>
            <a:pPr indent="-177800" lvl="1" marL="520700" rtl="0" algn="l">
              <a:lnSpc>
                <a:spcPct val="90000"/>
              </a:lnSpc>
              <a:spcBef>
                <a:spcPts val="400"/>
              </a:spcBef>
              <a:spcAft>
                <a:spcPts val="0"/>
              </a:spcAft>
              <a:buClr>
                <a:schemeClr val="dk1"/>
              </a:buClr>
              <a:buSzPts val="1800"/>
              <a:buChar char="•"/>
            </a:pPr>
            <a:r>
              <a:rPr b="1" lang="vi"/>
              <a:t>User Service:</a:t>
            </a:r>
            <a:r>
              <a:rPr lang="vi"/>
              <a:t> Identity &amp; Access Management</a:t>
            </a:r>
            <a:endParaRPr/>
          </a:p>
          <a:p>
            <a:pPr indent="-177800" lvl="1" marL="520700" rtl="0" algn="l">
              <a:lnSpc>
                <a:spcPct val="90000"/>
              </a:lnSpc>
              <a:spcBef>
                <a:spcPts val="400"/>
              </a:spcBef>
              <a:spcAft>
                <a:spcPts val="0"/>
              </a:spcAft>
              <a:buClr>
                <a:schemeClr val="dk1"/>
              </a:buClr>
              <a:buSzPts val="1800"/>
              <a:buChar char="•"/>
            </a:pPr>
            <a:r>
              <a:rPr b="1" lang="vi"/>
              <a:t>Content Service:</a:t>
            </a:r>
            <a:r>
              <a:rPr lang="vi"/>
              <a:t> Novel &amp; Chapter Management</a:t>
            </a:r>
            <a:endParaRPr/>
          </a:p>
          <a:p>
            <a:pPr indent="-177800" lvl="1" marL="520700" rtl="0" algn="l">
              <a:lnSpc>
                <a:spcPct val="90000"/>
              </a:lnSpc>
              <a:spcBef>
                <a:spcPts val="400"/>
              </a:spcBef>
              <a:spcAft>
                <a:spcPts val="0"/>
              </a:spcAft>
              <a:buClr>
                <a:schemeClr val="dk1"/>
              </a:buClr>
              <a:buSzPts val="1800"/>
              <a:buChar char="•"/>
            </a:pPr>
            <a:r>
              <a:rPr b="1" lang="vi"/>
              <a:t>Engagement Service:</a:t>
            </a:r>
            <a:r>
              <a:rPr lang="vi"/>
              <a:t> Comments, Reviews, Votes</a:t>
            </a:r>
            <a:endParaRPr/>
          </a:p>
          <a:p>
            <a:pPr indent="-177800" lvl="1" marL="520700" rtl="0" algn="l">
              <a:lnSpc>
                <a:spcPct val="90000"/>
              </a:lnSpc>
              <a:spcBef>
                <a:spcPts val="400"/>
              </a:spcBef>
              <a:spcAft>
                <a:spcPts val="0"/>
              </a:spcAft>
              <a:buClr>
                <a:schemeClr val="dk1"/>
              </a:buClr>
              <a:buSzPts val="1800"/>
              <a:buChar char="•"/>
            </a:pPr>
            <a:r>
              <a:rPr b="1" lang="vi"/>
              <a:t>Gamification Service:</a:t>
            </a:r>
            <a:r>
              <a:rPr lang="vi"/>
              <a:t> EXP, Yuan, Achievements</a:t>
            </a:r>
            <a:endParaRPr/>
          </a:p>
          <a:p>
            <a:pPr indent="-177800" lvl="1" marL="520700" rtl="0" algn="l">
              <a:lnSpc>
                <a:spcPct val="90000"/>
              </a:lnSpc>
              <a:spcBef>
                <a:spcPts val="400"/>
              </a:spcBef>
              <a:spcAft>
                <a:spcPts val="0"/>
              </a:spcAft>
              <a:buClr>
                <a:schemeClr val="dk1"/>
              </a:buClr>
              <a:buSzPts val="1800"/>
              <a:buChar char="•"/>
            </a:pPr>
            <a:r>
              <a:rPr b="1" lang="vi"/>
              <a:t>Analytics Service:</a:t>
            </a:r>
            <a:r>
              <a:rPr lang="vi"/>
              <a:t> Rankings, Reports, History</a:t>
            </a:r>
            <a:endParaRPr/>
          </a:p>
          <a:p>
            <a:pPr indent="-38100" lvl="0" marL="177800" rtl="0" algn="l">
              <a:lnSpc>
                <a:spcPct val="90000"/>
              </a:lnSpc>
              <a:spcBef>
                <a:spcPts val="800"/>
              </a:spcBef>
              <a:spcAft>
                <a:spcPts val="0"/>
              </a:spcAft>
              <a:buClr>
                <a:schemeClr val="dk1"/>
              </a:buClr>
              <a:buSzPts val="21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vi">
                <a:latin typeface="Arial"/>
                <a:ea typeface="Arial"/>
                <a:cs typeface="Arial"/>
                <a:sym typeface="Arial"/>
              </a:rPr>
              <a:t>Infrastructure &amp; DevOps:</a:t>
            </a:r>
            <a:endParaRPr>
              <a:latin typeface="Arial"/>
              <a:ea typeface="Arial"/>
              <a:cs typeface="Arial"/>
              <a:sym typeface="Arial"/>
            </a:endParaRPr>
          </a:p>
        </p:txBody>
      </p:sp>
      <p:sp>
        <p:nvSpPr>
          <p:cNvPr id="170" name="Google Shape;170;p3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lnSpcReduction="10000"/>
          </a:bodyPr>
          <a:lstStyle/>
          <a:p>
            <a:pPr indent="-171450" lvl="0" marL="177800" rtl="0" algn="l">
              <a:lnSpc>
                <a:spcPct val="90000"/>
              </a:lnSpc>
              <a:spcBef>
                <a:spcPts val="0"/>
              </a:spcBef>
              <a:spcAft>
                <a:spcPts val="0"/>
              </a:spcAft>
              <a:buClr>
                <a:schemeClr val="dk1"/>
              </a:buClr>
              <a:buSzPts val="2100"/>
              <a:buChar char="•"/>
            </a:pPr>
            <a:r>
              <a:rPr b="1" lang="vi"/>
              <a:t>CI/CD Pipelines</a:t>
            </a:r>
            <a:r>
              <a:rPr lang="vi"/>
              <a:t> for both Frontend and Backend (automated build, test, deploy).</a:t>
            </a:r>
            <a:endParaRPr/>
          </a:p>
          <a:p>
            <a:pPr indent="-171450" lvl="0" marL="177800" rtl="0" algn="l">
              <a:lnSpc>
                <a:spcPct val="90000"/>
              </a:lnSpc>
              <a:spcBef>
                <a:spcPts val="800"/>
              </a:spcBef>
              <a:spcAft>
                <a:spcPts val="0"/>
              </a:spcAft>
              <a:buClr>
                <a:schemeClr val="dk1"/>
              </a:buClr>
              <a:buSzPts val="2100"/>
              <a:buChar char="•"/>
            </a:pPr>
            <a:r>
              <a:rPr b="1" lang="vi"/>
              <a:t>Eureka Service Discovery</a:t>
            </a:r>
            <a:r>
              <a:rPr lang="vi"/>
              <a:t>, </a:t>
            </a:r>
            <a:r>
              <a:rPr b="1" lang="vi"/>
              <a:t>API Gateway</a:t>
            </a:r>
            <a:r>
              <a:rPr lang="vi"/>
              <a:t>, and </a:t>
            </a:r>
            <a:r>
              <a:rPr b="1" lang="vi"/>
              <a:t>Spring Cloud Config Server</a:t>
            </a:r>
            <a:r>
              <a:rPr lang="vi"/>
              <a:t> for centralized management.</a:t>
            </a:r>
            <a:endParaRPr/>
          </a:p>
          <a:p>
            <a:pPr indent="-171450" lvl="0" marL="177800" rtl="0" algn="l">
              <a:lnSpc>
                <a:spcPct val="90000"/>
              </a:lnSpc>
              <a:spcBef>
                <a:spcPts val="800"/>
              </a:spcBef>
              <a:spcAft>
                <a:spcPts val="0"/>
              </a:spcAft>
              <a:buClr>
                <a:schemeClr val="dk1"/>
              </a:buClr>
              <a:buSzPts val="2100"/>
              <a:buChar char="•"/>
            </a:pPr>
            <a:r>
              <a:rPr b="1" lang="vi"/>
              <a:t>Prometheus &amp; Kibana</a:t>
            </a:r>
            <a:r>
              <a:rPr lang="vi"/>
              <a:t> integrated for </a:t>
            </a:r>
            <a:r>
              <a:rPr b="1" lang="vi"/>
              <a:t>monitoring and centralized logging</a:t>
            </a:r>
            <a:r>
              <a:rPr lang="vi"/>
              <a:t>.</a:t>
            </a:r>
            <a:endParaRPr/>
          </a:p>
          <a:p>
            <a:pPr indent="-171450" lvl="0" marL="177800" rtl="0" algn="l">
              <a:lnSpc>
                <a:spcPct val="90000"/>
              </a:lnSpc>
              <a:spcBef>
                <a:spcPts val="800"/>
              </a:spcBef>
              <a:spcAft>
                <a:spcPts val="0"/>
              </a:spcAft>
              <a:buClr>
                <a:schemeClr val="dk1"/>
              </a:buClr>
              <a:buSzPts val="2100"/>
              <a:buChar char="•"/>
            </a:pPr>
            <a:r>
              <a:rPr b="1" lang="vi"/>
              <a:t>Circuit Breakers</a:t>
            </a:r>
            <a:r>
              <a:rPr lang="vi"/>
              <a:t> added per service for fault tolerance.</a:t>
            </a:r>
            <a:endParaRPr/>
          </a:p>
          <a:p>
            <a:pPr indent="-171450" lvl="0" marL="177800" rtl="0" algn="l">
              <a:lnSpc>
                <a:spcPct val="90000"/>
              </a:lnSpc>
              <a:spcBef>
                <a:spcPts val="800"/>
              </a:spcBef>
              <a:spcAft>
                <a:spcPts val="0"/>
              </a:spcAft>
              <a:buClr>
                <a:schemeClr val="dk1"/>
              </a:buClr>
              <a:buSzPts val="2100"/>
              <a:buChar char="•"/>
            </a:pPr>
            <a:r>
              <a:rPr b="1" lang="vi"/>
              <a:t>Kafka</a:t>
            </a:r>
            <a:r>
              <a:rPr lang="vi"/>
              <a:t> (asynchronous messaging), </a:t>
            </a:r>
            <a:r>
              <a:rPr b="1" lang="vi"/>
              <a:t>Redis</a:t>
            </a:r>
            <a:r>
              <a:rPr lang="vi"/>
              <a:t> (caching), and </a:t>
            </a:r>
            <a:r>
              <a:rPr b="1" lang="vi"/>
              <a:t>PostgreSQL</a:t>
            </a:r>
            <a:r>
              <a:rPr lang="vi"/>
              <a:t> (data persistence).</a:t>
            </a:r>
            <a:endParaRPr/>
          </a:p>
          <a:p>
            <a:pPr indent="-38100" lvl="0" marL="177800" rtl="0" algn="l">
              <a:lnSpc>
                <a:spcPct val="90000"/>
              </a:lnSpc>
              <a:spcBef>
                <a:spcPts val="800"/>
              </a:spcBef>
              <a:spcAft>
                <a:spcPts val="0"/>
              </a:spcAft>
              <a:buClr>
                <a:schemeClr val="dk1"/>
              </a:buClr>
              <a:buSzPts val="21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3"/>
          <p:cNvSpPr txBox="1"/>
          <p:nvPr>
            <p:ph type="title"/>
          </p:nvPr>
        </p:nvSpPr>
        <p:spPr>
          <a:xfrm>
            <a:off x="362800" y="135951"/>
            <a:ext cx="7886700" cy="758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vi">
                <a:latin typeface="Arial"/>
                <a:ea typeface="Arial"/>
                <a:cs typeface="Arial"/>
                <a:sym typeface="Arial"/>
              </a:rPr>
              <a:t>SonarQube analysis</a:t>
            </a:r>
            <a:endParaRPr>
              <a:latin typeface="Arial"/>
              <a:ea typeface="Arial"/>
              <a:cs typeface="Arial"/>
              <a:sym typeface="Arial"/>
            </a:endParaRPr>
          </a:p>
        </p:txBody>
      </p:sp>
      <p:pic>
        <p:nvPicPr>
          <p:cNvPr descr="A screenshot of a computer&#10;&#10;AI-generated content may be incorrect." id="176" name="Google Shape;176;p33"/>
          <p:cNvPicPr preferRelativeResize="0"/>
          <p:nvPr>
            <p:ph idx="1" type="body"/>
          </p:nvPr>
        </p:nvPicPr>
        <p:blipFill rotWithShape="1">
          <a:blip r:embed="rId3">
            <a:alphaModFix/>
          </a:blip>
          <a:srcRect b="0" l="0" r="0" t="0"/>
          <a:stretch/>
        </p:blipFill>
        <p:spPr>
          <a:xfrm>
            <a:off x="455013" y="990781"/>
            <a:ext cx="3923400" cy="723600"/>
          </a:xfrm>
          <a:prstGeom prst="rect">
            <a:avLst/>
          </a:prstGeom>
          <a:noFill/>
          <a:ln>
            <a:noFill/>
          </a:ln>
        </p:spPr>
      </p:pic>
      <p:pic>
        <p:nvPicPr>
          <p:cNvPr descr="A screenshot of a computer&#10;&#10;AI-generated content may be incorrect." id="177" name="Google Shape;177;p33"/>
          <p:cNvPicPr preferRelativeResize="0"/>
          <p:nvPr/>
        </p:nvPicPr>
        <p:blipFill rotWithShape="1">
          <a:blip r:embed="rId4">
            <a:alphaModFix/>
          </a:blip>
          <a:srcRect b="0" l="0" r="0" t="0"/>
          <a:stretch/>
        </p:blipFill>
        <p:spPr>
          <a:xfrm>
            <a:off x="4681225" y="351138"/>
            <a:ext cx="3791699" cy="2002864"/>
          </a:xfrm>
          <a:prstGeom prst="rect">
            <a:avLst/>
          </a:prstGeom>
          <a:noFill/>
          <a:ln>
            <a:noFill/>
          </a:ln>
        </p:spPr>
      </p:pic>
      <p:pic>
        <p:nvPicPr>
          <p:cNvPr descr="A screenshot of a computer&#10;&#10;AI-generated content may be incorrect." id="178" name="Google Shape;178;p33"/>
          <p:cNvPicPr preferRelativeResize="0"/>
          <p:nvPr/>
        </p:nvPicPr>
        <p:blipFill rotWithShape="1">
          <a:blip r:embed="rId5">
            <a:alphaModFix/>
          </a:blip>
          <a:srcRect b="0" l="0" r="0" t="0"/>
          <a:stretch/>
        </p:blipFill>
        <p:spPr>
          <a:xfrm>
            <a:off x="455000" y="2025075"/>
            <a:ext cx="3923426" cy="2757926"/>
          </a:xfrm>
          <a:prstGeom prst="rect">
            <a:avLst/>
          </a:prstGeom>
          <a:noFill/>
          <a:ln>
            <a:noFill/>
          </a:ln>
        </p:spPr>
      </p:pic>
      <p:pic>
        <p:nvPicPr>
          <p:cNvPr id="179" name="Google Shape;179;p33" title="Screenshot 2025-10-27 at 6.55.09 AM.png"/>
          <p:cNvPicPr preferRelativeResize="0"/>
          <p:nvPr/>
        </p:nvPicPr>
        <p:blipFill>
          <a:blip r:embed="rId6">
            <a:alphaModFix/>
          </a:blip>
          <a:stretch>
            <a:fillRect/>
          </a:stretch>
        </p:blipFill>
        <p:spPr>
          <a:xfrm>
            <a:off x="4681225" y="3411975"/>
            <a:ext cx="3791698" cy="1374100"/>
          </a:xfrm>
          <a:prstGeom prst="rect">
            <a:avLst/>
          </a:prstGeom>
          <a:noFill/>
          <a:ln>
            <a:noFill/>
          </a:ln>
        </p:spPr>
      </p:pic>
      <p:pic>
        <p:nvPicPr>
          <p:cNvPr id="180" name="Google Shape;180;p33" title="Screenshot 2025-10-27 at 6.55.20 AM.png"/>
          <p:cNvPicPr preferRelativeResize="0"/>
          <p:nvPr/>
        </p:nvPicPr>
        <p:blipFill>
          <a:blip r:embed="rId7">
            <a:alphaModFix/>
          </a:blip>
          <a:stretch>
            <a:fillRect/>
          </a:stretch>
        </p:blipFill>
        <p:spPr>
          <a:xfrm>
            <a:off x="4681224" y="2550647"/>
            <a:ext cx="3791698" cy="66467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vi">
                <a:latin typeface="Arial"/>
                <a:ea typeface="Arial"/>
                <a:cs typeface="Arial"/>
                <a:sym typeface="Arial"/>
              </a:rPr>
              <a:t>Quality &amp; Frontend:</a:t>
            </a:r>
            <a:endParaRPr>
              <a:latin typeface="Arial"/>
              <a:ea typeface="Arial"/>
              <a:cs typeface="Arial"/>
              <a:sym typeface="Arial"/>
            </a:endParaRPr>
          </a:p>
        </p:txBody>
      </p:sp>
      <p:sp>
        <p:nvSpPr>
          <p:cNvPr id="186" name="Google Shape;186;p3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lnSpcReduction="20000"/>
          </a:bodyPr>
          <a:lstStyle/>
          <a:p>
            <a:pPr indent="-171450" lvl="0" marL="177800" rtl="0" algn="l">
              <a:lnSpc>
                <a:spcPct val="90000"/>
              </a:lnSpc>
              <a:spcBef>
                <a:spcPts val="0"/>
              </a:spcBef>
              <a:spcAft>
                <a:spcPts val="0"/>
              </a:spcAft>
              <a:buClr>
                <a:schemeClr val="dk1"/>
              </a:buClr>
              <a:buSzPts val="2100"/>
              <a:buChar char="•"/>
            </a:pPr>
            <a:r>
              <a:rPr b="1" lang="vi"/>
              <a:t>Yushan Platform Frontend:</a:t>
            </a:r>
            <a:r>
              <a:rPr lang="vi"/>
              <a:t> Reader &amp; Writer portal</a:t>
            </a:r>
            <a:endParaRPr/>
          </a:p>
          <a:p>
            <a:pPr indent="-171450" lvl="0" marL="177800" rtl="0" algn="l">
              <a:lnSpc>
                <a:spcPct val="90000"/>
              </a:lnSpc>
              <a:spcBef>
                <a:spcPts val="800"/>
              </a:spcBef>
              <a:spcAft>
                <a:spcPts val="0"/>
              </a:spcAft>
              <a:buClr>
                <a:schemeClr val="dk1"/>
              </a:buClr>
              <a:buSzPts val="2100"/>
              <a:buChar char="•"/>
            </a:pPr>
            <a:r>
              <a:rPr b="1" lang="vi"/>
              <a:t>Yushan Admin Portal:</a:t>
            </a:r>
            <a:r>
              <a:rPr lang="vi"/>
              <a:t> Administrative controls and analytics view</a:t>
            </a:r>
            <a:endParaRPr/>
          </a:p>
          <a:p>
            <a:pPr indent="-171450" lvl="0" marL="177800" rtl="0" algn="l">
              <a:lnSpc>
                <a:spcPct val="90000"/>
              </a:lnSpc>
              <a:spcBef>
                <a:spcPts val="800"/>
              </a:spcBef>
              <a:spcAft>
                <a:spcPts val="0"/>
              </a:spcAft>
              <a:buClr>
                <a:schemeClr val="dk1"/>
              </a:buClr>
              <a:buSzPts val="2100"/>
              <a:buChar char="•"/>
            </a:pPr>
            <a:r>
              <a:rPr lang="vi"/>
              <a:t>Maintained </a:t>
            </a:r>
            <a:r>
              <a:rPr b="1" lang="vi"/>
              <a:t>&gt;80% automated test coverage</a:t>
            </a:r>
            <a:r>
              <a:rPr lang="vi"/>
              <a:t> across all microservices and frontends.</a:t>
            </a:r>
            <a:endParaRPr/>
          </a:p>
          <a:p>
            <a:pPr indent="0" lvl="0" marL="0" rtl="0" algn="l">
              <a:lnSpc>
                <a:spcPct val="90000"/>
              </a:lnSpc>
              <a:spcBef>
                <a:spcPts val="800"/>
              </a:spcBef>
              <a:spcAft>
                <a:spcPts val="0"/>
              </a:spcAft>
              <a:buClr>
                <a:schemeClr val="dk1"/>
              </a:buClr>
              <a:buSzPts val="2100"/>
              <a:buNone/>
            </a:pPr>
            <a:r>
              <a:rPr b="1" lang="vi"/>
              <a:t>Current Status:</a:t>
            </a:r>
            <a:endParaRPr/>
          </a:p>
          <a:p>
            <a:pPr indent="-171450" lvl="0" marL="177800" rtl="0" algn="l">
              <a:lnSpc>
                <a:spcPct val="90000"/>
              </a:lnSpc>
              <a:spcBef>
                <a:spcPts val="800"/>
              </a:spcBef>
              <a:spcAft>
                <a:spcPts val="0"/>
              </a:spcAft>
              <a:buClr>
                <a:schemeClr val="dk1"/>
              </a:buClr>
              <a:buSzPts val="2100"/>
              <a:buChar char="•"/>
            </a:pPr>
            <a:r>
              <a:rPr lang="vi"/>
              <a:t>All core services functional and integrated.</a:t>
            </a:r>
            <a:endParaRPr/>
          </a:p>
          <a:p>
            <a:pPr indent="-171450" lvl="0" marL="177800" rtl="0" algn="l">
              <a:lnSpc>
                <a:spcPct val="90000"/>
              </a:lnSpc>
              <a:spcBef>
                <a:spcPts val="800"/>
              </a:spcBef>
              <a:spcAft>
                <a:spcPts val="0"/>
              </a:spcAft>
              <a:buClr>
                <a:schemeClr val="dk1"/>
              </a:buClr>
              <a:buSzPts val="2100"/>
              <a:buChar char="•"/>
            </a:pPr>
            <a:r>
              <a:rPr lang="vi"/>
              <a:t>CI/CD and observability stack operational.</a:t>
            </a:r>
            <a:endParaRPr/>
          </a:p>
          <a:p>
            <a:pPr indent="-171450" lvl="0" marL="177800" rtl="0" algn="l">
              <a:lnSpc>
                <a:spcPct val="90000"/>
              </a:lnSpc>
              <a:spcBef>
                <a:spcPts val="800"/>
              </a:spcBef>
              <a:spcAft>
                <a:spcPts val="0"/>
              </a:spcAft>
              <a:buClr>
                <a:schemeClr val="dk1"/>
              </a:buClr>
              <a:buSzPts val="2100"/>
              <a:buChar char="•"/>
            </a:pPr>
            <a:r>
              <a:rPr lang="vi"/>
              <a:t>Preparing for production-grade scaling and performance tuning.</a:t>
            </a:r>
            <a:endParaRPr/>
          </a:p>
          <a:p>
            <a:pPr indent="-38100" lvl="0" marL="177800" rtl="0" algn="l">
              <a:lnSpc>
                <a:spcPct val="90000"/>
              </a:lnSpc>
              <a:spcBef>
                <a:spcPts val="800"/>
              </a:spcBef>
              <a:spcAft>
                <a:spcPts val="0"/>
              </a:spcAft>
              <a:buClr>
                <a:schemeClr val="dk1"/>
              </a:buClr>
              <a:buSzPts val="21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5"/>
          <p:cNvSpPr txBox="1"/>
          <p:nvPr>
            <p:ph type="title"/>
          </p:nvPr>
        </p:nvSpPr>
        <p:spPr>
          <a:xfrm>
            <a:off x="628650" y="201806"/>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vi">
                <a:latin typeface="Arial"/>
                <a:ea typeface="Arial"/>
                <a:cs typeface="Arial"/>
                <a:sym typeface="Arial"/>
              </a:rPr>
              <a:t>Milestones &amp; Team Effort @1</a:t>
            </a:r>
            <a:endParaRPr>
              <a:latin typeface="Arial"/>
              <a:ea typeface="Arial"/>
              <a:cs typeface="Arial"/>
              <a:sym typeface="Arial"/>
            </a:endParaRPr>
          </a:p>
        </p:txBody>
      </p:sp>
      <p:sp>
        <p:nvSpPr>
          <p:cNvPr id="192" name="Google Shape;192;p35"/>
          <p:cNvSpPr txBox="1"/>
          <p:nvPr>
            <p:ph idx="1" type="body"/>
          </p:nvPr>
        </p:nvSpPr>
        <p:spPr>
          <a:xfrm>
            <a:off x="628650" y="1144362"/>
            <a:ext cx="7886700" cy="3601800"/>
          </a:xfrm>
          <a:prstGeom prst="rect">
            <a:avLst/>
          </a:prstGeom>
          <a:noFill/>
          <a:ln>
            <a:noFill/>
          </a:ln>
        </p:spPr>
        <p:txBody>
          <a:bodyPr anchorCtr="0" anchor="t" bIns="34275" lIns="68575" spcFirstLastPara="1" rIns="68575" wrap="square" tIns="34275">
            <a:normAutofit fontScale="62500" lnSpcReduction="10000"/>
          </a:bodyPr>
          <a:lstStyle/>
          <a:p>
            <a:pPr indent="0" lvl="0" marL="0" rtl="0" algn="l">
              <a:lnSpc>
                <a:spcPct val="90000"/>
              </a:lnSpc>
              <a:spcBef>
                <a:spcPts val="0"/>
              </a:spcBef>
              <a:spcAft>
                <a:spcPts val="0"/>
              </a:spcAft>
              <a:buClr>
                <a:schemeClr val="dk1"/>
              </a:buClr>
              <a:buSzPct val="100000"/>
              <a:buNone/>
            </a:pPr>
            <a:r>
              <a:rPr b="1" lang="vi"/>
              <a:t>Ahan Jaiswal</a:t>
            </a:r>
            <a:endParaRPr/>
          </a:p>
          <a:p>
            <a:pPr indent="-159543" lvl="0" marL="177800" rtl="0" algn="l">
              <a:lnSpc>
                <a:spcPct val="90000"/>
              </a:lnSpc>
              <a:spcBef>
                <a:spcPts val="800"/>
              </a:spcBef>
              <a:spcAft>
                <a:spcPts val="0"/>
              </a:spcAft>
              <a:buClr>
                <a:schemeClr val="dk1"/>
              </a:buClr>
              <a:buSzPct val="100000"/>
              <a:buChar char="•"/>
            </a:pPr>
            <a:r>
              <a:rPr lang="vi"/>
              <a:t>Developed </a:t>
            </a:r>
            <a:r>
              <a:rPr b="1" lang="vi"/>
              <a:t>Yushan Platform Frontend</a:t>
            </a:r>
            <a:r>
              <a:rPr lang="vi"/>
              <a:t> and built the </a:t>
            </a:r>
            <a:r>
              <a:rPr b="1" lang="vi"/>
              <a:t>complete Yushan Admin Panel Frontend</a:t>
            </a:r>
            <a:endParaRPr/>
          </a:p>
          <a:p>
            <a:pPr indent="-159543" lvl="0" marL="177800" rtl="0" algn="l">
              <a:lnSpc>
                <a:spcPct val="90000"/>
              </a:lnSpc>
              <a:spcBef>
                <a:spcPts val="800"/>
              </a:spcBef>
              <a:spcAft>
                <a:spcPts val="0"/>
              </a:spcAft>
              <a:buClr>
                <a:schemeClr val="dk1"/>
              </a:buClr>
              <a:buSzPct val="100000"/>
              <a:buChar char="•"/>
            </a:pPr>
            <a:r>
              <a:rPr lang="vi"/>
              <a:t>Created the </a:t>
            </a:r>
            <a:r>
              <a:rPr b="1" lang="vi"/>
              <a:t>Analytics Service</a:t>
            </a:r>
            <a:r>
              <a:rPr lang="vi"/>
              <a:t> from scratch</a:t>
            </a:r>
            <a:endParaRPr/>
          </a:p>
          <a:p>
            <a:pPr indent="-159543" lvl="0" marL="177800" rtl="0" algn="l">
              <a:lnSpc>
                <a:spcPct val="90000"/>
              </a:lnSpc>
              <a:spcBef>
                <a:spcPts val="800"/>
              </a:spcBef>
              <a:spcAft>
                <a:spcPts val="0"/>
              </a:spcAft>
              <a:buClr>
                <a:schemeClr val="dk1"/>
              </a:buClr>
              <a:buSzPct val="100000"/>
              <a:buChar char="•"/>
            </a:pPr>
            <a:r>
              <a:rPr lang="vi"/>
              <a:t>Acted as </a:t>
            </a:r>
            <a:r>
              <a:rPr b="1" lang="vi"/>
              <a:t>Product Owner</a:t>
            </a:r>
            <a:r>
              <a:rPr lang="vi"/>
              <a:t>, overseeing feature roadmap and prioritization</a:t>
            </a:r>
            <a:endParaRPr/>
          </a:p>
          <a:p>
            <a:pPr indent="-159543" lvl="0" marL="177800" rtl="0" algn="l">
              <a:lnSpc>
                <a:spcPct val="90000"/>
              </a:lnSpc>
              <a:spcBef>
                <a:spcPts val="800"/>
              </a:spcBef>
              <a:spcAft>
                <a:spcPts val="0"/>
              </a:spcAft>
              <a:buClr>
                <a:schemeClr val="dk1"/>
              </a:buClr>
              <a:buSzPct val="100000"/>
              <a:buChar char="•"/>
            </a:pPr>
            <a:r>
              <a:rPr lang="vi"/>
              <a:t>Set up and managed the </a:t>
            </a:r>
            <a:r>
              <a:rPr b="1" lang="vi"/>
              <a:t>Jira board</a:t>
            </a:r>
            <a:r>
              <a:rPr lang="vi"/>
              <a:t>, conducted </a:t>
            </a:r>
            <a:r>
              <a:rPr b="1" lang="vi"/>
              <a:t>Scrum ceremonies</a:t>
            </a:r>
            <a:r>
              <a:rPr lang="vi"/>
              <a:t>, and ensured smooth </a:t>
            </a:r>
            <a:r>
              <a:rPr b="1" lang="vi"/>
              <a:t>QA processes</a:t>
            </a:r>
            <a:endParaRPr/>
          </a:p>
          <a:p>
            <a:pPr indent="-159543" lvl="0" marL="177800" rtl="0" algn="l">
              <a:lnSpc>
                <a:spcPct val="90000"/>
              </a:lnSpc>
              <a:spcBef>
                <a:spcPts val="800"/>
              </a:spcBef>
              <a:spcAft>
                <a:spcPts val="0"/>
              </a:spcAft>
              <a:buClr>
                <a:schemeClr val="dk1"/>
              </a:buClr>
              <a:buSzPct val="100000"/>
              <a:buChar char="•"/>
            </a:pPr>
            <a:r>
              <a:rPr lang="vi"/>
              <a:t>Implemented and maintained the </a:t>
            </a:r>
            <a:r>
              <a:rPr b="1" lang="vi"/>
              <a:t>CI/CD Pipeline</a:t>
            </a:r>
            <a:r>
              <a:rPr lang="vi"/>
              <a:t> and </a:t>
            </a:r>
            <a:r>
              <a:rPr b="1" lang="vi"/>
              <a:t>Infrastructure Deployment</a:t>
            </a:r>
            <a:endParaRPr/>
          </a:p>
          <a:p>
            <a:pPr indent="0" lvl="0" marL="0" rtl="0" algn="l">
              <a:lnSpc>
                <a:spcPct val="90000"/>
              </a:lnSpc>
              <a:spcBef>
                <a:spcPts val="800"/>
              </a:spcBef>
              <a:spcAft>
                <a:spcPts val="0"/>
              </a:spcAft>
              <a:buClr>
                <a:schemeClr val="dk1"/>
              </a:buClr>
              <a:buSzPct val="100000"/>
              <a:buNone/>
            </a:pPr>
            <a:r>
              <a:rPr b="1" lang="vi"/>
              <a:t>Nguyen Phu Truong</a:t>
            </a:r>
            <a:endParaRPr/>
          </a:p>
          <a:p>
            <a:pPr indent="-159543" lvl="0" marL="177800" rtl="0" algn="l">
              <a:lnSpc>
                <a:spcPct val="90000"/>
              </a:lnSpc>
              <a:spcBef>
                <a:spcPts val="800"/>
              </a:spcBef>
              <a:spcAft>
                <a:spcPts val="0"/>
              </a:spcAft>
              <a:buClr>
                <a:schemeClr val="dk1"/>
              </a:buClr>
              <a:buSzPct val="100000"/>
              <a:buChar char="•"/>
            </a:pPr>
            <a:r>
              <a:rPr lang="vi"/>
              <a:t>Designed and implemented</a:t>
            </a:r>
            <a:r>
              <a:rPr lang="vi"/>
              <a:t> </a:t>
            </a:r>
            <a:r>
              <a:rPr b="1" lang="vi"/>
              <a:t>Engagement</a:t>
            </a:r>
            <a:r>
              <a:rPr lang="vi"/>
              <a:t>, </a:t>
            </a:r>
            <a:r>
              <a:rPr b="1" lang="vi"/>
              <a:t>Content</a:t>
            </a:r>
            <a:r>
              <a:rPr lang="vi"/>
              <a:t>, and </a:t>
            </a:r>
            <a:r>
              <a:rPr b="1" lang="vi"/>
              <a:t>Gamification Services</a:t>
            </a:r>
            <a:endParaRPr/>
          </a:p>
          <a:p>
            <a:pPr indent="-159543" lvl="0" marL="177800" rtl="0" algn="l">
              <a:lnSpc>
                <a:spcPct val="90000"/>
              </a:lnSpc>
              <a:spcBef>
                <a:spcPts val="800"/>
              </a:spcBef>
              <a:spcAft>
                <a:spcPts val="0"/>
              </a:spcAft>
              <a:buClr>
                <a:schemeClr val="dk1"/>
              </a:buClr>
              <a:buSzPct val="100000"/>
              <a:buChar char="•"/>
            </a:pPr>
            <a:r>
              <a:rPr lang="vi"/>
              <a:t>Conducted </a:t>
            </a:r>
            <a:r>
              <a:rPr b="1" lang="vi"/>
              <a:t>complete QA</a:t>
            </a:r>
            <a:r>
              <a:rPr lang="vi"/>
              <a:t> for Engagement and Content microservices</a:t>
            </a:r>
            <a:endParaRPr/>
          </a:p>
          <a:p>
            <a:pPr indent="-159543" lvl="0" marL="177800" rtl="0" algn="l">
              <a:lnSpc>
                <a:spcPct val="90000"/>
              </a:lnSpc>
              <a:spcBef>
                <a:spcPts val="800"/>
              </a:spcBef>
              <a:spcAft>
                <a:spcPts val="0"/>
              </a:spcAft>
              <a:buClr>
                <a:schemeClr val="dk1"/>
              </a:buClr>
              <a:buSzPct val="100000"/>
              <a:buChar char="•"/>
            </a:pPr>
            <a:r>
              <a:rPr lang="vi"/>
              <a:t>Designed, implemented, and managed the </a:t>
            </a:r>
            <a:r>
              <a:rPr b="1" lang="vi"/>
              <a:t>CI/CD pipelines</a:t>
            </a:r>
            <a:r>
              <a:rPr lang="vi"/>
              <a:t>, overseeing </a:t>
            </a:r>
            <a:r>
              <a:rPr b="1" lang="vi"/>
              <a:t>infrastructure configuration</a:t>
            </a:r>
            <a:r>
              <a:rPr lang="vi"/>
              <a:t> and </a:t>
            </a:r>
            <a:r>
              <a:rPr b="1" lang="vi"/>
              <a:t>end-to-end deployments</a:t>
            </a:r>
            <a:r>
              <a:rPr lang="vi"/>
              <a:t> across all microservices on </a:t>
            </a:r>
            <a:r>
              <a:rPr b="1" lang="vi"/>
              <a:t>DigitalOcean</a:t>
            </a:r>
            <a:endParaRPr b="1"/>
          </a:p>
          <a:p>
            <a:pPr indent="-131762" lvl="0" marL="177800" rtl="0" algn="l">
              <a:lnSpc>
                <a:spcPct val="90000"/>
              </a:lnSpc>
              <a:spcBef>
                <a:spcPts val="800"/>
              </a:spcBef>
              <a:spcAft>
                <a:spcPts val="0"/>
              </a:spcAft>
              <a:buSzPct val="66666"/>
              <a:buChar char="•"/>
            </a:pPr>
            <a:r>
              <a:rPr lang="vi"/>
              <a:t>Architected and </a:t>
            </a:r>
            <a:r>
              <a:rPr lang="vi"/>
              <a:t>implemented the</a:t>
            </a:r>
            <a:r>
              <a:rPr b="1" lang="vi"/>
              <a:t> Centralized Logging and Metrics &amp; Monitoring System</a:t>
            </a:r>
            <a:endParaRPr b="1"/>
          </a:p>
          <a:p>
            <a:pPr indent="-144462" lvl="0" marL="177800" rtl="0" algn="l">
              <a:spcBef>
                <a:spcPts val="800"/>
              </a:spcBef>
              <a:spcAft>
                <a:spcPts val="0"/>
              </a:spcAft>
              <a:buSzPct val="66666"/>
              <a:buChar char="•"/>
            </a:pPr>
            <a:r>
              <a:rPr lang="vi"/>
              <a:t>Maintained daily </a:t>
            </a:r>
            <a:r>
              <a:rPr b="1" lang="vi"/>
              <a:t>JIRA board </a:t>
            </a:r>
            <a:r>
              <a:rPr lang="vi"/>
              <a:t>and attended </a:t>
            </a:r>
            <a:r>
              <a:rPr b="1" lang="vi"/>
              <a:t>Scrum ceremonies</a:t>
            </a:r>
            <a:endParaRPr b="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6"/>
          <p:cNvSpPr txBox="1"/>
          <p:nvPr>
            <p:ph type="title"/>
          </p:nvPr>
        </p:nvSpPr>
        <p:spPr>
          <a:xfrm>
            <a:off x="628650" y="-4632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vi">
                <a:latin typeface="Arial"/>
                <a:ea typeface="Arial"/>
                <a:cs typeface="Arial"/>
                <a:sym typeface="Arial"/>
              </a:rPr>
              <a:t>Milestones &amp; Team Effort @2</a:t>
            </a:r>
            <a:endParaRPr>
              <a:latin typeface="Arial"/>
              <a:ea typeface="Arial"/>
              <a:cs typeface="Arial"/>
              <a:sym typeface="Arial"/>
            </a:endParaRPr>
          </a:p>
        </p:txBody>
      </p:sp>
      <p:sp>
        <p:nvSpPr>
          <p:cNvPr id="198" name="Google Shape;198;p36"/>
          <p:cNvSpPr txBox="1"/>
          <p:nvPr>
            <p:ph idx="1" type="body"/>
          </p:nvPr>
        </p:nvSpPr>
        <p:spPr>
          <a:xfrm>
            <a:off x="628650" y="843845"/>
            <a:ext cx="7886700" cy="4195500"/>
          </a:xfrm>
          <a:prstGeom prst="rect">
            <a:avLst/>
          </a:prstGeom>
          <a:noFill/>
          <a:ln>
            <a:noFill/>
          </a:ln>
        </p:spPr>
        <p:txBody>
          <a:bodyPr anchorCtr="0" anchor="t" bIns="34275" lIns="68575" spcFirstLastPara="1" rIns="68575" wrap="square" tIns="34275">
            <a:normAutofit fontScale="55000"/>
          </a:bodyPr>
          <a:lstStyle/>
          <a:p>
            <a:pPr indent="0" lvl="0" marL="0" rtl="0" algn="l">
              <a:lnSpc>
                <a:spcPct val="90000"/>
              </a:lnSpc>
              <a:spcBef>
                <a:spcPts val="0"/>
              </a:spcBef>
              <a:spcAft>
                <a:spcPts val="0"/>
              </a:spcAft>
              <a:buClr>
                <a:schemeClr val="dk1"/>
              </a:buClr>
              <a:buSzPct val="100000"/>
              <a:buNone/>
            </a:pPr>
            <a:r>
              <a:rPr b="1" lang="vi"/>
              <a:t>Yang Shuang</a:t>
            </a:r>
            <a:endParaRPr/>
          </a:p>
          <a:p>
            <a:pPr indent="-124142" lvl="0" marL="177800" rtl="0" algn="l">
              <a:lnSpc>
                <a:spcPct val="90000"/>
              </a:lnSpc>
              <a:spcBef>
                <a:spcPts val="800"/>
              </a:spcBef>
              <a:spcAft>
                <a:spcPts val="0"/>
              </a:spcAft>
              <a:buClr>
                <a:schemeClr val="dk1"/>
              </a:buClr>
              <a:buSzPct val="100000"/>
              <a:buChar char="•"/>
            </a:pPr>
            <a:r>
              <a:rPr lang="vi"/>
              <a:t>Took ownership of the </a:t>
            </a:r>
            <a:r>
              <a:rPr b="1" lang="vi"/>
              <a:t>Yushan Platform frontend</a:t>
            </a:r>
            <a:r>
              <a:rPr lang="vi"/>
              <a:t> development, driving </a:t>
            </a:r>
            <a:r>
              <a:rPr b="1" lang="vi"/>
              <a:t>integration</a:t>
            </a:r>
            <a:r>
              <a:rPr lang="vi"/>
              <a:t> with microservice backend APIs</a:t>
            </a:r>
            <a:endParaRPr/>
          </a:p>
          <a:p>
            <a:pPr indent="-137795" lvl="0" marL="177800" rtl="0" algn="l">
              <a:spcBef>
                <a:spcPts val="800"/>
              </a:spcBef>
              <a:spcAft>
                <a:spcPts val="0"/>
              </a:spcAft>
              <a:buSzPct val="66666"/>
              <a:buChar char="•"/>
            </a:pPr>
            <a:r>
              <a:rPr lang="vi"/>
              <a:t>Design and writing </a:t>
            </a:r>
            <a:r>
              <a:rPr b="1" lang="vi"/>
              <a:t>unit and</a:t>
            </a:r>
            <a:r>
              <a:rPr lang="vi"/>
              <a:t> </a:t>
            </a:r>
            <a:r>
              <a:rPr b="1" lang="vi"/>
              <a:t>integration tests</a:t>
            </a:r>
            <a:r>
              <a:rPr lang="vi"/>
              <a:t> for the </a:t>
            </a:r>
            <a:r>
              <a:rPr b="1" lang="vi"/>
              <a:t>frontend development, </a:t>
            </a:r>
            <a:r>
              <a:rPr lang="vi"/>
              <a:t>assisted in writing </a:t>
            </a:r>
            <a:r>
              <a:rPr b="1" lang="vi"/>
              <a:t>unit and integration tests</a:t>
            </a:r>
            <a:r>
              <a:rPr lang="vi"/>
              <a:t> for the Admin Panel</a:t>
            </a:r>
            <a:endParaRPr/>
          </a:p>
          <a:p>
            <a:pPr indent="-137795" lvl="0" marL="177800" rtl="0" algn="l">
              <a:spcBef>
                <a:spcPts val="800"/>
              </a:spcBef>
              <a:spcAft>
                <a:spcPts val="0"/>
              </a:spcAft>
              <a:buSzPct val="66666"/>
              <a:buChar char="•"/>
            </a:pPr>
            <a:r>
              <a:rPr lang="vi"/>
              <a:t>Maintained daily </a:t>
            </a:r>
            <a:r>
              <a:rPr b="1" lang="vi"/>
              <a:t>JIRA board </a:t>
            </a:r>
            <a:r>
              <a:rPr lang="vi"/>
              <a:t>and attended </a:t>
            </a:r>
            <a:r>
              <a:rPr b="1" lang="vi"/>
              <a:t>Scrum ceremonies </a:t>
            </a:r>
            <a:r>
              <a:rPr lang="vi"/>
              <a:t>and designed &amp; moderated the </a:t>
            </a:r>
            <a:r>
              <a:rPr b="1" lang="vi"/>
              <a:t>core features</a:t>
            </a:r>
            <a:endParaRPr b="1"/>
          </a:p>
          <a:p>
            <a:pPr indent="-124142" lvl="0" marL="177800" rtl="0" algn="l">
              <a:lnSpc>
                <a:spcPct val="90000"/>
              </a:lnSpc>
              <a:spcBef>
                <a:spcPts val="800"/>
              </a:spcBef>
              <a:spcAft>
                <a:spcPts val="0"/>
              </a:spcAft>
              <a:buClr>
                <a:schemeClr val="dk1"/>
              </a:buClr>
              <a:buSzPct val="100000"/>
              <a:buChar char="•"/>
            </a:pPr>
            <a:r>
              <a:rPr lang="vi"/>
              <a:t>Supported backend development in the </a:t>
            </a:r>
            <a:r>
              <a:rPr b="1" lang="vi"/>
              <a:t>Gamification Service</a:t>
            </a:r>
            <a:endParaRPr/>
          </a:p>
          <a:p>
            <a:pPr indent="0" lvl="0" marL="0" rtl="0" algn="l">
              <a:lnSpc>
                <a:spcPct val="90000"/>
              </a:lnSpc>
              <a:spcBef>
                <a:spcPts val="800"/>
              </a:spcBef>
              <a:spcAft>
                <a:spcPts val="0"/>
              </a:spcAft>
              <a:buClr>
                <a:schemeClr val="dk1"/>
              </a:buClr>
              <a:buSzPct val="100000"/>
              <a:buNone/>
            </a:pPr>
            <a:r>
              <a:rPr b="1" lang="vi"/>
              <a:t>Zhang Yan</a:t>
            </a:r>
            <a:endParaRPr/>
          </a:p>
          <a:p>
            <a:pPr indent="-124142" lvl="0" marL="177800" rtl="0" algn="l">
              <a:lnSpc>
                <a:spcPct val="90000"/>
              </a:lnSpc>
              <a:spcBef>
                <a:spcPts val="800"/>
              </a:spcBef>
              <a:spcAft>
                <a:spcPts val="0"/>
              </a:spcAft>
              <a:buClr>
                <a:schemeClr val="dk1"/>
              </a:buClr>
              <a:buSzPct val="100000"/>
              <a:buChar char="•"/>
            </a:pPr>
            <a:r>
              <a:rPr lang="vi"/>
              <a:t>Designed and implemented the </a:t>
            </a:r>
            <a:r>
              <a:rPr b="1" lang="vi"/>
              <a:t>User Service </a:t>
            </a:r>
            <a:r>
              <a:rPr lang="vi"/>
              <a:t>and part of </a:t>
            </a:r>
            <a:r>
              <a:rPr b="1" lang="vi"/>
              <a:t>Gamification Service</a:t>
            </a:r>
            <a:endParaRPr/>
          </a:p>
          <a:p>
            <a:pPr indent="-124142" lvl="0" marL="177800" rtl="0" algn="l">
              <a:lnSpc>
                <a:spcPct val="90000"/>
              </a:lnSpc>
              <a:spcBef>
                <a:spcPts val="800"/>
              </a:spcBef>
              <a:spcAft>
                <a:spcPts val="0"/>
              </a:spcAft>
              <a:buClr>
                <a:schemeClr val="dk1"/>
              </a:buClr>
              <a:buSzPct val="100000"/>
              <a:buChar char="•"/>
            </a:pPr>
            <a:r>
              <a:rPr lang="vi"/>
              <a:t>Performed </a:t>
            </a:r>
            <a:r>
              <a:rPr b="1" lang="vi"/>
              <a:t>complete </a:t>
            </a:r>
            <a:r>
              <a:rPr b="1" lang="vi"/>
              <a:t>QA and testing</a:t>
            </a:r>
            <a:r>
              <a:rPr lang="vi"/>
              <a:t> for User Service and Gamification Service</a:t>
            </a:r>
            <a:endParaRPr/>
          </a:p>
          <a:p>
            <a:pPr indent="-99695" lvl="0" marL="177800" rtl="0" algn="l">
              <a:lnSpc>
                <a:spcPct val="90000"/>
              </a:lnSpc>
              <a:spcBef>
                <a:spcPts val="800"/>
              </a:spcBef>
              <a:spcAft>
                <a:spcPts val="0"/>
              </a:spcAft>
              <a:buSzPct val="66666"/>
              <a:buChar char="•"/>
            </a:pPr>
            <a:r>
              <a:rPr lang="vi"/>
              <a:t>Maintained </a:t>
            </a:r>
            <a:r>
              <a:rPr lang="vi"/>
              <a:t>daily </a:t>
            </a:r>
            <a:r>
              <a:rPr b="1" lang="vi"/>
              <a:t>JIRA board </a:t>
            </a:r>
            <a:r>
              <a:rPr lang="vi"/>
              <a:t>and attended </a:t>
            </a:r>
            <a:r>
              <a:rPr b="1" lang="vi"/>
              <a:t>Scrum ceremonies </a:t>
            </a:r>
            <a:r>
              <a:rPr lang="vi"/>
              <a:t>and </a:t>
            </a:r>
            <a:r>
              <a:rPr lang="vi"/>
              <a:t>designed &amp; moderated the </a:t>
            </a:r>
            <a:r>
              <a:rPr b="1" lang="vi"/>
              <a:t>core features</a:t>
            </a:r>
            <a:endParaRPr b="1"/>
          </a:p>
          <a:p>
            <a:pPr indent="-99695" lvl="0" marL="177800" rtl="0" algn="l">
              <a:lnSpc>
                <a:spcPct val="90000"/>
              </a:lnSpc>
              <a:spcBef>
                <a:spcPts val="800"/>
              </a:spcBef>
              <a:spcAft>
                <a:spcPts val="0"/>
              </a:spcAft>
              <a:buSzPct val="66666"/>
              <a:buChar char="•"/>
            </a:pPr>
            <a:r>
              <a:rPr lang="vi"/>
              <a:t>Designed &amp; created </a:t>
            </a:r>
            <a:r>
              <a:rPr b="1" lang="vi"/>
              <a:t>Database</a:t>
            </a:r>
            <a:endParaRPr b="1"/>
          </a:p>
          <a:p>
            <a:pPr indent="0" lvl="0" marL="0" rtl="0" algn="l">
              <a:lnSpc>
                <a:spcPct val="90000"/>
              </a:lnSpc>
              <a:spcBef>
                <a:spcPts val="800"/>
              </a:spcBef>
              <a:spcAft>
                <a:spcPts val="0"/>
              </a:spcAft>
              <a:buClr>
                <a:schemeClr val="dk1"/>
              </a:buClr>
              <a:buSzPct val="100000"/>
              <a:buNone/>
            </a:pPr>
            <a:r>
              <a:rPr b="1" lang="vi"/>
              <a:t>Zhu Yuhui</a:t>
            </a:r>
            <a:endParaRPr/>
          </a:p>
          <a:p>
            <a:pPr indent="-124142" lvl="0" marL="177800" rtl="0" algn="l">
              <a:lnSpc>
                <a:spcPct val="90000"/>
              </a:lnSpc>
              <a:spcBef>
                <a:spcPts val="800"/>
              </a:spcBef>
              <a:spcAft>
                <a:spcPts val="0"/>
              </a:spcAft>
              <a:buClr>
                <a:schemeClr val="dk1"/>
              </a:buClr>
              <a:buSzPct val="100000"/>
              <a:buChar char="•"/>
            </a:pPr>
            <a:r>
              <a:rPr lang="vi"/>
              <a:t>Took ownership of the </a:t>
            </a:r>
            <a:r>
              <a:rPr b="1" lang="vi"/>
              <a:t>Yushan Platform frontend</a:t>
            </a:r>
            <a:r>
              <a:rPr lang="vi"/>
              <a:t> development, driving </a:t>
            </a:r>
            <a:r>
              <a:rPr b="1" lang="vi"/>
              <a:t>integration</a:t>
            </a:r>
            <a:r>
              <a:rPr lang="vi"/>
              <a:t> with microservice backend APIs</a:t>
            </a:r>
            <a:endParaRPr/>
          </a:p>
          <a:p>
            <a:pPr indent="-124142" lvl="0" marL="177800" rtl="0" algn="l">
              <a:lnSpc>
                <a:spcPct val="90000"/>
              </a:lnSpc>
              <a:spcBef>
                <a:spcPts val="800"/>
              </a:spcBef>
              <a:spcAft>
                <a:spcPts val="0"/>
              </a:spcAft>
              <a:buClr>
                <a:schemeClr val="dk1"/>
              </a:buClr>
              <a:buSzPct val="100000"/>
              <a:buChar char="•"/>
            </a:pPr>
            <a:r>
              <a:rPr lang="vi"/>
              <a:t>Supported backend </a:t>
            </a:r>
            <a:r>
              <a:rPr lang="vi"/>
              <a:t>development</a:t>
            </a:r>
            <a:r>
              <a:rPr lang="vi"/>
              <a:t> for the </a:t>
            </a:r>
            <a:r>
              <a:rPr b="1" lang="vi"/>
              <a:t>Engagement Service</a:t>
            </a:r>
            <a:endParaRPr b="1"/>
          </a:p>
          <a:p>
            <a:pPr indent="-137795" lvl="0" marL="177800" rtl="0" algn="l">
              <a:spcBef>
                <a:spcPts val="800"/>
              </a:spcBef>
              <a:spcAft>
                <a:spcPts val="0"/>
              </a:spcAft>
              <a:buSzPct val="66666"/>
              <a:buChar char="•"/>
            </a:pPr>
            <a:r>
              <a:rPr lang="vi"/>
              <a:t>Design and w</a:t>
            </a:r>
            <a:r>
              <a:rPr lang="vi"/>
              <a:t>riting </a:t>
            </a:r>
            <a:r>
              <a:rPr b="1" lang="vi"/>
              <a:t>unit and integration tests</a:t>
            </a:r>
            <a:r>
              <a:rPr lang="vi"/>
              <a:t> for the </a:t>
            </a:r>
            <a:r>
              <a:rPr b="1" lang="vi"/>
              <a:t>frontend development</a:t>
            </a:r>
            <a:endParaRPr b="1"/>
          </a:p>
          <a:p>
            <a:pPr indent="-137795" lvl="0" marL="177800" rtl="0" algn="l">
              <a:spcBef>
                <a:spcPts val="800"/>
              </a:spcBef>
              <a:spcAft>
                <a:spcPts val="0"/>
              </a:spcAft>
              <a:buSzPct val="66666"/>
              <a:buChar char="•"/>
            </a:pPr>
            <a:r>
              <a:rPr lang="vi"/>
              <a:t>Maintained daily </a:t>
            </a:r>
            <a:r>
              <a:rPr b="1" lang="vi"/>
              <a:t>JIRA board </a:t>
            </a:r>
            <a:r>
              <a:rPr lang="vi"/>
              <a:t>and attended </a:t>
            </a:r>
            <a:r>
              <a:rPr b="1" lang="vi"/>
              <a:t>Scrum ceremonies </a:t>
            </a:r>
            <a:r>
              <a:rPr lang="vi"/>
              <a:t>designed &amp; moderated the </a:t>
            </a:r>
            <a:r>
              <a:rPr b="1" lang="vi"/>
              <a:t>core features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vi">
                <a:latin typeface="Arial"/>
                <a:ea typeface="Arial"/>
                <a:cs typeface="Arial"/>
                <a:sym typeface="Arial"/>
              </a:rPr>
              <a:t>Q&amp;A</a:t>
            </a:r>
            <a:endParaRPr>
              <a:latin typeface="Arial"/>
              <a:ea typeface="Arial"/>
              <a:cs typeface="Arial"/>
              <a:sym typeface="Arial"/>
            </a:endParaRPr>
          </a:p>
        </p:txBody>
      </p:sp>
      <p:sp>
        <p:nvSpPr>
          <p:cNvPr id="204" name="Google Shape;204;p3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lnSpcReduction="10000"/>
          </a:bodyPr>
          <a:lstStyle/>
          <a:p>
            <a:pPr indent="-171450" lvl="0" marL="177800" rtl="0" algn="l">
              <a:lnSpc>
                <a:spcPct val="90000"/>
              </a:lnSpc>
              <a:spcBef>
                <a:spcPts val="0"/>
              </a:spcBef>
              <a:spcAft>
                <a:spcPts val="0"/>
              </a:spcAft>
              <a:buClr>
                <a:schemeClr val="dk1"/>
              </a:buClr>
              <a:buSzPts val="2100"/>
              <a:buChar char="•"/>
            </a:pPr>
            <a:r>
              <a:rPr lang="vi"/>
              <a:t>Any questions before we move to the system design and demo?</a:t>
            </a:r>
            <a:endParaRPr/>
          </a:p>
          <a:p>
            <a:pPr indent="0" lvl="0" marL="0" rtl="0" algn="l">
              <a:lnSpc>
                <a:spcPct val="90000"/>
              </a:lnSpc>
              <a:spcBef>
                <a:spcPts val="800"/>
              </a:spcBef>
              <a:spcAft>
                <a:spcPts val="0"/>
              </a:spcAft>
              <a:buClr>
                <a:schemeClr val="dk1"/>
              </a:buClr>
              <a:buSzPts val="2100"/>
              <a:buNone/>
            </a:pPr>
            <a:r>
              <a:rPr lang="vi"/>
              <a:t>Eureka – </a:t>
            </a:r>
            <a:r>
              <a:rPr lang="vi" u="sng">
                <a:solidFill>
                  <a:schemeClr val="hlink"/>
                </a:solidFill>
                <a:hlinkClick r:id="rId3"/>
              </a:rPr>
              <a:t>http://167.172.72.189:8761/</a:t>
            </a:r>
            <a:endParaRPr/>
          </a:p>
          <a:p>
            <a:pPr indent="0" lvl="0" marL="0" rtl="0" algn="l">
              <a:lnSpc>
                <a:spcPct val="90000"/>
              </a:lnSpc>
              <a:spcBef>
                <a:spcPts val="800"/>
              </a:spcBef>
              <a:spcAft>
                <a:spcPts val="0"/>
              </a:spcAft>
              <a:buClr>
                <a:schemeClr val="dk1"/>
              </a:buClr>
              <a:buSzPts val="2100"/>
              <a:buNone/>
            </a:pPr>
            <a:r>
              <a:rPr lang="vi"/>
              <a:t>Swaggers:</a:t>
            </a:r>
            <a:endParaRPr/>
          </a:p>
          <a:p>
            <a:pPr indent="0" lvl="0" marL="0" rtl="0" algn="l">
              <a:lnSpc>
                <a:spcPct val="90000"/>
              </a:lnSpc>
              <a:spcBef>
                <a:spcPts val="800"/>
              </a:spcBef>
              <a:spcAft>
                <a:spcPts val="0"/>
              </a:spcAft>
              <a:buClr>
                <a:schemeClr val="dk1"/>
              </a:buClr>
              <a:buSzPts val="2100"/>
              <a:buNone/>
            </a:pPr>
            <a:r>
              <a:rPr lang="vi" u="sng">
                <a:solidFill>
                  <a:schemeClr val="hlink"/>
                </a:solidFill>
                <a:hlinkClick r:id="rId4"/>
              </a:rPr>
              <a:t>http://167.71.216.54:8081/swagger-ui/index.html#/</a:t>
            </a:r>
            <a:endParaRPr/>
          </a:p>
          <a:p>
            <a:pPr indent="0" lvl="0" marL="0" rtl="0" algn="l">
              <a:lnSpc>
                <a:spcPct val="90000"/>
              </a:lnSpc>
              <a:spcBef>
                <a:spcPts val="800"/>
              </a:spcBef>
              <a:spcAft>
                <a:spcPts val="0"/>
              </a:spcAft>
              <a:buClr>
                <a:schemeClr val="dk1"/>
              </a:buClr>
              <a:buSzPts val="2100"/>
              <a:buNone/>
            </a:pPr>
            <a:r>
              <a:rPr lang="vi" u="sng">
                <a:solidFill>
                  <a:schemeClr val="hlink"/>
                </a:solidFill>
                <a:hlinkClick r:id="rId5"/>
              </a:rPr>
              <a:t>http://157.245.153.167:8082/swagger-ui/index.html</a:t>
            </a:r>
            <a:endParaRPr/>
          </a:p>
          <a:p>
            <a:pPr indent="0" lvl="0" marL="0" rtl="0" algn="l">
              <a:lnSpc>
                <a:spcPct val="90000"/>
              </a:lnSpc>
              <a:spcBef>
                <a:spcPts val="800"/>
              </a:spcBef>
              <a:spcAft>
                <a:spcPts val="0"/>
              </a:spcAft>
              <a:buClr>
                <a:schemeClr val="dk1"/>
              </a:buClr>
              <a:buSzPts val="2100"/>
              <a:buNone/>
            </a:pPr>
            <a:r>
              <a:rPr lang="vi" u="sng">
                <a:solidFill>
                  <a:schemeClr val="hlink"/>
                </a:solidFill>
                <a:hlinkClick r:id="rId6"/>
              </a:rPr>
              <a:t>http://139.59.243.188:8083/swagger-ui/index.html#/</a:t>
            </a:r>
            <a:endParaRPr/>
          </a:p>
          <a:p>
            <a:pPr indent="0" lvl="0" marL="0" rtl="0" algn="l">
              <a:lnSpc>
                <a:spcPct val="90000"/>
              </a:lnSpc>
              <a:spcBef>
                <a:spcPts val="800"/>
              </a:spcBef>
              <a:spcAft>
                <a:spcPts val="0"/>
              </a:spcAft>
              <a:buClr>
                <a:schemeClr val="dk1"/>
              </a:buClr>
              <a:buSzPts val="2100"/>
              <a:buNone/>
            </a:pPr>
            <a:r>
              <a:rPr lang="vi" u="sng">
                <a:solidFill>
                  <a:schemeClr val="hlink"/>
                </a:solidFill>
                <a:hlinkClick r:id="rId7"/>
              </a:rPr>
              <a:t>http://167.172.65.76:8084/swagger-ui/index.html#/</a:t>
            </a:r>
            <a:endParaRPr/>
          </a:p>
          <a:p>
            <a:pPr indent="0" lvl="0" marL="0" rtl="0" algn="l">
              <a:lnSpc>
                <a:spcPct val="90000"/>
              </a:lnSpc>
              <a:spcBef>
                <a:spcPts val="800"/>
              </a:spcBef>
              <a:spcAft>
                <a:spcPts val="0"/>
              </a:spcAft>
              <a:buClr>
                <a:schemeClr val="dk1"/>
              </a:buClr>
              <a:buSzPts val="2100"/>
              <a:buNone/>
            </a:pPr>
            <a:r>
              <a:rPr lang="vi" u="sng">
                <a:solidFill>
                  <a:schemeClr val="hlink"/>
                </a:solidFill>
                <a:hlinkClick r:id="rId8"/>
              </a:rPr>
              <a:t>http://139.59.243.188:8085/swagger-ui/index.html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8"/>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p>
            <a:pPr indent="0" lvl="0" marL="0" rtl="0" algn="ctr">
              <a:lnSpc>
                <a:spcPct val="90000"/>
              </a:lnSpc>
              <a:spcBef>
                <a:spcPts val="0"/>
              </a:spcBef>
              <a:spcAft>
                <a:spcPts val="0"/>
              </a:spcAft>
              <a:buClr>
                <a:schemeClr val="dk1"/>
              </a:buClr>
              <a:buSzPts val="3300"/>
              <a:buFont typeface="Arial"/>
              <a:buNone/>
            </a:pPr>
            <a:r>
              <a:rPr b="1" lang="vi" sz="3300">
                <a:latin typeface="Arial"/>
                <a:ea typeface="Arial"/>
                <a:cs typeface="Arial"/>
                <a:sym typeface="Arial"/>
              </a:rPr>
              <a:t>Logical Architecture &amp; Design</a:t>
            </a:r>
            <a:endParaRPr b="1" sz="33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9"/>
          <p:cNvSpPr txBox="1"/>
          <p:nvPr>
            <p:ph type="title"/>
          </p:nvPr>
        </p:nvSpPr>
        <p:spPr>
          <a:xfrm>
            <a:off x="628650" y="365494"/>
            <a:ext cx="7886700" cy="436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100"/>
              <a:buFont typeface="Arial"/>
              <a:buNone/>
            </a:pPr>
            <a:r>
              <a:rPr b="1" lang="vi" sz="2100">
                <a:latin typeface="Arial"/>
                <a:ea typeface="Arial"/>
                <a:cs typeface="Arial"/>
                <a:sym typeface="Arial"/>
              </a:rPr>
              <a:t>System Architecture Overview</a:t>
            </a:r>
            <a:endParaRPr sz="2100">
              <a:latin typeface="Arial"/>
              <a:ea typeface="Arial"/>
              <a:cs typeface="Arial"/>
              <a:sym typeface="Arial"/>
            </a:endParaRPr>
          </a:p>
        </p:txBody>
      </p:sp>
      <p:sp>
        <p:nvSpPr>
          <p:cNvPr id="215" name="Google Shape;215;p39"/>
          <p:cNvSpPr/>
          <p:nvPr/>
        </p:nvSpPr>
        <p:spPr>
          <a:xfrm>
            <a:off x="3530395" y="966242"/>
            <a:ext cx="2083200" cy="4608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vi" sz="1400" u="none" cap="none" strike="noStrike">
                <a:solidFill>
                  <a:schemeClr val="dk1"/>
                </a:solidFill>
                <a:latin typeface="Arial"/>
                <a:ea typeface="Arial"/>
                <a:cs typeface="Arial"/>
                <a:sym typeface="Arial"/>
              </a:rPr>
              <a:t>CLIENT LAYER</a:t>
            </a:r>
            <a:endParaRPr sz="1100"/>
          </a:p>
          <a:p>
            <a:pPr indent="0" lvl="0" marL="0" marR="0" rtl="0" algn="ctr">
              <a:spcBef>
                <a:spcPts val="0"/>
              </a:spcBef>
              <a:spcAft>
                <a:spcPts val="0"/>
              </a:spcAft>
              <a:buNone/>
            </a:pPr>
            <a:r>
              <a:rPr b="0" i="0" lang="vi" sz="1400" u="none" cap="none" strike="noStrike">
                <a:solidFill>
                  <a:schemeClr val="dk1"/>
                </a:solidFill>
                <a:latin typeface="Arial"/>
                <a:ea typeface="Arial"/>
                <a:cs typeface="Arial"/>
                <a:sym typeface="Arial"/>
              </a:rPr>
              <a:t>Web Page</a:t>
            </a:r>
            <a:endParaRPr b="0" i="0" sz="1400" u="none" cap="none" strike="noStrike">
              <a:solidFill>
                <a:schemeClr val="dk1"/>
              </a:solidFill>
              <a:latin typeface="Arial"/>
              <a:ea typeface="Arial"/>
              <a:cs typeface="Arial"/>
              <a:sym typeface="Arial"/>
            </a:endParaRPr>
          </a:p>
        </p:txBody>
      </p:sp>
      <p:sp>
        <p:nvSpPr>
          <p:cNvPr id="216" name="Google Shape;216;p39"/>
          <p:cNvSpPr/>
          <p:nvPr/>
        </p:nvSpPr>
        <p:spPr>
          <a:xfrm>
            <a:off x="3530395" y="1637793"/>
            <a:ext cx="2083200" cy="14028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b="0" i="0" lang="vi" sz="1400" u="none" cap="none" strike="noStrike">
                <a:solidFill>
                  <a:schemeClr val="dk1"/>
                </a:solidFill>
                <a:latin typeface="Arial"/>
                <a:ea typeface="Arial"/>
                <a:cs typeface="Arial"/>
                <a:sym typeface="Arial"/>
              </a:rPr>
              <a:t>API GATEWAY LAYER</a:t>
            </a:r>
            <a:endParaRPr sz="1100"/>
          </a:p>
        </p:txBody>
      </p:sp>
      <p:sp>
        <p:nvSpPr>
          <p:cNvPr id="217" name="Google Shape;217;p39"/>
          <p:cNvSpPr/>
          <p:nvPr/>
        </p:nvSpPr>
        <p:spPr>
          <a:xfrm>
            <a:off x="3626261" y="2026454"/>
            <a:ext cx="1891500" cy="8628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b="1" lang="vi" sz="1400">
                <a:solidFill>
                  <a:schemeClr val="dk1"/>
                </a:solidFill>
                <a:latin typeface="Arial"/>
                <a:ea typeface="Arial"/>
                <a:cs typeface="Arial"/>
                <a:sym typeface="Arial"/>
              </a:rPr>
              <a:t>Spring Cloud Gateway </a:t>
            </a:r>
            <a:r>
              <a:rPr lang="vi" sz="1400">
                <a:solidFill>
                  <a:schemeClr val="dk1"/>
                </a:solidFill>
                <a:latin typeface="Arial"/>
                <a:ea typeface="Arial"/>
                <a:cs typeface="Arial"/>
                <a:sym typeface="Arial"/>
              </a:rPr>
              <a:t>(Port 8080)</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Handle CORS</a:t>
            </a:r>
            <a:endParaRPr sz="1100"/>
          </a:p>
        </p:txBody>
      </p:sp>
      <p:cxnSp>
        <p:nvCxnSpPr>
          <p:cNvPr id="218" name="Google Shape;218;p39"/>
          <p:cNvCxnSpPr>
            <a:stCxn id="215" idx="2"/>
            <a:endCxn id="216" idx="0"/>
          </p:cNvCxnSpPr>
          <p:nvPr/>
        </p:nvCxnSpPr>
        <p:spPr>
          <a:xfrm>
            <a:off x="4571995" y="1427042"/>
            <a:ext cx="0" cy="210900"/>
          </a:xfrm>
          <a:prstGeom prst="straightConnector1">
            <a:avLst/>
          </a:prstGeom>
          <a:noFill/>
          <a:ln cap="flat" cmpd="sng" w="14300">
            <a:solidFill>
              <a:schemeClr val="dk1"/>
            </a:solidFill>
            <a:prstDash val="solid"/>
            <a:miter lim="800000"/>
            <a:headEnd len="sm" w="sm" type="none"/>
            <a:tailEnd len="med" w="med" type="triangle"/>
          </a:ln>
        </p:spPr>
      </p:cxnSp>
      <p:sp>
        <p:nvSpPr>
          <p:cNvPr id="219" name="Google Shape;219;p39"/>
          <p:cNvSpPr/>
          <p:nvPr/>
        </p:nvSpPr>
        <p:spPr>
          <a:xfrm>
            <a:off x="2391000" y="3277750"/>
            <a:ext cx="4362000" cy="14028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t" bIns="34275" lIns="68575" spcFirstLastPara="1" rIns="68575" wrap="square" tIns="34275">
            <a:noAutofit/>
          </a:bodyPr>
          <a:lstStyle/>
          <a:p>
            <a:pPr indent="0" lvl="0" marL="0" marR="0" rtl="0" algn="ctr">
              <a:spcBef>
                <a:spcPts val="0"/>
              </a:spcBef>
              <a:spcAft>
                <a:spcPts val="0"/>
              </a:spcAft>
              <a:buNone/>
            </a:pPr>
            <a:r>
              <a:rPr lang="vi" sz="1400">
                <a:solidFill>
                  <a:schemeClr val="dk1"/>
                </a:solidFill>
                <a:latin typeface="Arial"/>
                <a:ea typeface="Arial"/>
                <a:cs typeface="Arial"/>
                <a:sym typeface="Arial"/>
              </a:rPr>
              <a:t>INFRASTRUCTURE SERVICES LAYER</a:t>
            </a:r>
            <a:endParaRPr sz="1100"/>
          </a:p>
        </p:txBody>
      </p:sp>
      <p:sp>
        <p:nvSpPr>
          <p:cNvPr id="220" name="Google Shape;220;p39"/>
          <p:cNvSpPr/>
          <p:nvPr/>
        </p:nvSpPr>
        <p:spPr>
          <a:xfrm>
            <a:off x="2473293" y="3605900"/>
            <a:ext cx="1391400" cy="10014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b="1" lang="vi" sz="1400">
                <a:solidFill>
                  <a:schemeClr val="dk1"/>
                </a:solidFill>
                <a:latin typeface="Arial"/>
                <a:ea typeface="Arial"/>
                <a:cs typeface="Arial"/>
                <a:sym typeface="Arial"/>
              </a:rPr>
              <a:t>Eureka Server</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(Port 8761)</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Registration</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Discovery</a:t>
            </a:r>
            <a:endParaRPr sz="1100"/>
          </a:p>
        </p:txBody>
      </p:sp>
      <p:sp>
        <p:nvSpPr>
          <p:cNvPr id="221" name="Google Shape;221;p39"/>
          <p:cNvSpPr/>
          <p:nvPr/>
        </p:nvSpPr>
        <p:spPr>
          <a:xfrm>
            <a:off x="3939511" y="3605895"/>
            <a:ext cx="1329300" cy="10014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b="1" lang="vi" sz="1400">
                <a:solidFill>
                  <a:schemeClr val="dk1"/>
                </a:solidFill>
                <a:latin typeface="Arial"/>
                <a:ea typeface="Arial"/>
                <a:cs typeface="Arial"/>
                <a:sym typeface="Arial"/>
              </a:rPr>
              <a:t>Config Server</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(Port 8888)</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Config Mgmt</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vi" sz="1400">
                <a:solidFill>
                  <a:schemeClr val="dk1"/>
                </a:solidFill>
                <a:latin typeface="Arial"/>
                <a:ea typeface="Arial"/>
                <a:cs typeface="Arial"/>
                <a:sym typeface="Arial"/>
              </a:rPr>
              <a:t>• Environment</a:t>
            </a:r>
            <a:endParaRPr sz="1100"/>
          </a:p>
        </p:txBody>
      </p:sp>
      <p:sp>
        <p:nvSpPr>
          <p:cNvPr id="222" name="Google Shape;222;p39"/>
          <p:cNvSpPr/>
          <p:nvPr/>
        </p:nvSpPr>
        <p:spPr>
          <a:xfrm>
            <a:off x="5355356" y="3605895"/>
            <a:ext cx="1329300" cy="10014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b="1" lang="vi" sz="1400">
                <a:solidFill>
                  <a:schemeClr val="dk1"/>
                </a:solidFill>
                <a:latin typeface="Arial"/>
                <a:ea typeface="Arial"/>
                <a:cs typeface="Arial"/>
                <a:sym typeface="Arial"/>
              </a:rPr>
              <a:t>Kafka</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(Port 9092)</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Event Bus</a:t>
            </a:r>
            <a:endParaRPr sz="1100"/>
          </a:p>
        </p:txBody>
      </p:sp>
      <p:cxnSp>
        <p:nvCxnSpPr>
          <p:cNvPr id="223" name="Google Shape;223;p39"/>
          <p:cNvCxnSpPr>
            <a:stCxn id="216" idx="2"/>
            <a:endCxn id="219" idx="0"/>
          </p:cNvCxnSpPr>
          <p:nvPr/>
        </p:nvCxnSpPr>
        <p:spPr>
          <a:xfrm>
            <a:off x="4571995" y="3040593"/>
            <a:ext cx="0" cy="237300"/>
          </a:xfrm>
          <a:prstGeom prst="straightConnector1">
            <a:avLst/>
          </a:prstGeom>
          <a:noFill/>
          <a:ln cap="flat" cmpd="sng" w="14300">
            <a:solidFill>
              <a:schemeClr val="dk1"/>
            </a:solidFill>
            <a:prstDash val="solid"/>
            <a:miter lim="800000"/>
            <a:headEnd len="sm" w="sm" type="none"/>
            <a:tailEnd len="med" w="med" type="triangle"/>
          </a:ln>
        </p:spPr>
      </p:cxnSp>
      <p:cxnSp>
        <p:nvCxnSpPr>
          <p:cNvPr id="224" name="Google Shape;224;p39"/>
          <p:cNvCxnSpPr>
            <a:stCxn id="219" idx="2"/>
          </p:cNvCxnSpPr>
          <p:nvPr/>
        </p:nvCxnSpPr>
        <p:spPr>
          <a:xfrm>
            <a:off x="4572000" y="4680550"/>
            <a:ext cx="0" cy="246000"/>
          </a:xfrm>
          <a:prstGeom prst="straightConnector1">
            <a:avLst/>
          </a:prstGeom>
          <a:noFill/>
          <a:ln cap="flat" cmpd="sng" w="14300">
            <a:solidFill>
              <a:schemeClr val="dk1"/>
            </a:solidFill>
            <a:prstDash val="solid"/>
            <a:miter lim="800000"/>
            <a:headEnd len="sm" w="sm"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0"/>
          <p:cNvSpPr txBox="1"/>
          <p:nvPr>
            <p:ph type="title"/>
          </p:nvPr>
        </p:nvSpPr>
        <p:spPr>
          <a:xfrm>
            <a:off x="668288" y="426185"/>
            <a:ext cx="7886700" cy="436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100"/>
              <a:buFont typeface="Arial"/>
              <a:buNone/>
            </a:pPr>
            <a:r>
              <a:rPr b="1" lang="vi" sz="2100">
                <a:latin typeface="Arial"/>
                <a:ea typeface="Arial"/>
                <a:cs typeface="Arial"/>
                <a:sym typeface="Arial"/>
              </a:rPr>
              <a:t>System Architecture Overview</a:t>
            </a:r>
            <a:endParaRPr sz="2100">
              <a:latin typeface="Arial"/>
              <a:ea typeface="Arial"/>
              <a:cs typeface="Arial"/>
              <a:sym typeface="Arial"/>
            </a:endParaRPr>
          </a:p>
        </p:txBody>
      </p:sp>
      <p:sp>
        <p:nvSpPr>
          <p:cNvPr id="230" name="Google Shape;230;p40"/>
          <p:cNvSpPr/>
          <p:nvPr/>
        </p:nvSpPr>
        <p:spPr>
          <a:xfrm>
            <a:off x="472000" y="1190175"/>
            <a:ext cx="8380500" cy="16929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vi" sz="1400">
                <a:solidFill>
                  <a:schemeClr val="dk1"/>
                </a:solidFill>
                <a:latin typeface="Arial"/>
                <a:ea typeface="Arial"/>
                <a:cs typeface="Arial"/>
                <a:sym typeface="Arial"/>
              </a:rPr>
              <a:t> BUSINESS SERVICES LAYER</a:t>
            </a:r>
            <a:endParaRPr sz="1100"/>
          </a:p>
        </p:txBody>
      </p:sp>
      <p:sp>
        <p:nvSpPr>
          <p:cNvPr id="231" name="Google Shape;231;p40"/>
          <p:cNvSpPr/>
          <p:nvPr/>
        </p:nvSpPr>
        <p:spPr>
          <a:xfrm>
            <a:off x="547980" y="1518175"/>
            <a:ext cx="1374300" cy="12984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b="1" lang="vi" sz="1400">
                <a:solidFill>
                  <a:schemeClr val="dk1"/>
                </a:solidFill>
                <a:latin typeface="Arial"/>
                <a:ea typeface="Arial"/>
                <a:cs typeface="Arial"/>
                <a:sym typeface="Arial"/>
              </a:rPr>
              <a:t>User Service</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(Port 8081)</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Auth</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Users Profile</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Users Library</a:t>
            </a:r>
            <a:endParaRPr sz="1100"/>
          </a:p>
        </p:txBody>
      </p:sp>
      <p:sp>
        <p:nvSpPr>
          <p:cNvPr id="232" name="Google Shape;232;p40"/>
          <p:cNvSpPr/>
          <p:nvPr/>
        </p:nvSpPr>
        <p:spPr>
          <a:xfrm>
            <a:off x="2056870" y="1518175"/>
            <a:ext cx="1511400" cy="12984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b="1" lang="vi" sz="1400">
                <a:solidFill>
                  <a:schemeClr val="dk1"/>
                </a:solidFill>
                <a:latin typeface="Arial"/>
                <a:ea typeface="Arial"/>
                <a:cs typeface="Arial"/>
                <a:sym typeface="Arial"/>
              </a:rPr>
              <a:t>Content Service</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(Port 8082)</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Novel</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Chapter</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Category</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Search</a:t>
            </a:r>
            <a:endParaRPr sz="1100"/>
          </a:p>
        </p:txBody>
      </p:sp>
      <p:sp>
        <p:nvSpPr>
          <p:cNvPr id="233" name="Google Shape;233;p40"/>
          <p:cNvSpPr/>
          <p:nvPr/>
        </p:nvSpPr>
        <p:spPr>
          <a:xfrm>
            <a:off x="5379763" y="1509475"/>
            <a:ext cx="1940100" cy="12984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b="1" lang="vi" sz="1400">
                <a:solidFill>
                  <a:schemeClr val="dk1"/>
                </a:solidFill>
                <a:latin typeface="Arial"/>
                <a:ea typeface="Arial"/>
                <a:cs typeface="Arial"/>
                <a:sym typeface="Arial"/>
              </a:rPr>
              <a:t>Engagement Service</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(Port 8084)</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Comment</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Review</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Vote</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Report</a:t>
            </a:r>
            <a:endParaRPr sz="1100"/>
          </a:p>
        </p:txBody>
      </p:sp>
      <p:sp>
        <p:nvSpPr>
          <p:cNvPr id="234" name="Google Shape;234;p40"/>
          <p:cNvSpPr/>
          <p:nvPr/>
        </p:nvSpPr>
        <p:spPr>
          <a:xfrm>
            <a:off x="7430202" y="1509479"/>
            <a:ext cx="1322700" cy="12984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b="1" lang="vi" sz="1400">
                <a:solidFill>
                  <a:schemeClr val="dk1"/>
                </a:solidFill>
                <a:latin typeface="Arial"/>
                <a:ea typeface="Arial"/>
                <a:cs typeface="Arial"/>
                <a:sym typeface="Arial"/>
              </a:rPr>
              <a:t>Gamification Service</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(Port 8085)</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EXP, Level</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Yuan</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Achievement</a:t>
            </a:r>
            <a:endParaRPr sz="1100"/>
          </a:p>
        </p:txBody>
      </p:sp>
      <p:sp>
        <p:nvSpPr>
          <p:cNvPr id="235" name="Google Shape;235;p40"/>
          <p:cNvSpPr/>
          <p:nvPr/>
        </p:nvSpPr>
        <p:spPr>
          <a:xfrm>
            <a:off x="3641675" y="1518175"/>
            <a:ext cx="1664700" cy="12984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b="1" lang="vi" sz="1400">
                <a:solidFill>
                  <a:schemeClr val="dk1"/>
                </a:solidFill>
                <a:latin typeface="Arial"/>
                <a:ea typeface="Arial"/>
                <a:cs typeface="Arial"/>
                <a:sym typeface="Arial"/>
              </a:rPr>
              <a:t>Analytics</a:t>
            </a:r>
            <a:r>
              <a:rPr lang="vi" sz="1400">
                <a:solidFill>
                  <a:schemeClr val="dk1"/>
                </a:solidFill>
                <a:latin typeface="Arial"/>
                <a:ea typeface="Arial"/>
                <a:cs typeface="Arial"/>
                <a:sym typeface="Arial"/>
              </a:rPr>
              <a:t> </a:t>
            </a:r>
            <a:r>
              <a:rPr b="1" lang="vi" sz="1400">
                <a:solidFill>
                  <a:schemeClr val="dk1"/>
                </a:solidFill>
                <a:latin typeface="Arial"/>
                <a:ea typeface="Arial"/>
                <a:cs typeface="Arial"/>
                <a:sym typeface="Arial"/>
              </a:rPr>
              <a:t>Service</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(Port 8083)</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Ranking</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Analytic (Admin)</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History</a:t>
            </a:r>
            <a:endParaRPr sz="1100"/>
          </a:p>
        </p:txBody>
      </p:sp>
      <p:sp>
        <p:nvSpPr>
          <p:cNvPr id="236" name="Google Shape;236;p40"/>
          <p:cNvSpPr/>
          <p:nvPr/>
        </p:nvSpPr>
        <p:spPr>
          <a:xfrm>
            <a:off x="1696150" y="3096676"/>
            <a:ext cx="5932200" cy="14862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vi" sz="1400">
                <a:solidFill>
                  <a:schemeClr val="dk1"/>
                </a:solidFill>
                <a:latin typeface="Arial"/>
                <a:ea typeface="Arial"/>
                <a:cs typeface="Arial"/>
                <a:sym typeface="Arial"/>
              </a:rPr>
              <a:t>DATA STORAGE LAYER</a:t>
            </a:r>
            <a:endParaRPr sz="1100"/>
          </a:p>
        </p:txBody>
      </p:sp>
      <p:sp>
        <p:nvSpPr>
          <p:cNvPr id="237" name="Google Shape;237;p40"/>
          <p:cNvSpPr/>
          <p:nvPr/>
        </p:nvSpPr>
        <p:spPr>
          <a:xfrm>
            <a:off x="1803700" y="3424751"/>
            <a:ext cx="1202700" cy="10674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b="1" lang="vi" sz="1400">
                <a:solidFill>
                  <a:schemeClr val="dk1"/>
                </a:solidFill>
                <a:latin typeface="Arial"/>
                <a:ea typeface="Arial"/>
                <a:cs typeface="Arial"/>
                <a:sym typeface="Arial"/>
              </a:rPr>
              <a:t>PostgreSQL per service</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Primary Database</a:t>
            </a:r>
            <a:endParaRPr sz="1100"/>
          </a:p>
        </p:txBody>
      </p:sp>
      <p:sp>
        <p:nvSpPr>
          <p:cNvPr id="238" name="Google Shape;238;p40"/>
          <p:cNvSpPr/>
          <p:nvPr/>
        </p:nvSpPr>
        <p:spPr>
          <a:xfrm>
            <a:off x="3092325" y="3424751"/>
            <a:ext cx="1374300" cy="10674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b="1" lang="vi" sz="1400">
                <a:solidFill>
                  <a:schemeClr val="dk1"/>
                </a:solidFill>
                <a:latin typeface="Arial"/>
                <a:ea typeface="Arial"/>
                <a:cs typeface="Arial"/>
                <a:sym typeface="Arial"/>
              </a:rPr>
              <a:t>Redis </a:t>
            </a:r>
            <a:r>
              <a:rPr b="1" lang="vi">
                <a:solidFill>
                  <a:schemeClr val="dk1"/>
                </a:solidFill>
              </a:rPr>
              <a:t>per service</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Cache</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Sessions</a:t>
            </a:r>
            <a:endParaRPr sz="1100"/>
          </a:p>
        </p:txBody>
      </p:sp>
      <p:sp>
        <p:nvSpPr>
          <p:cNvPr id="239" name="Google Shape;239;p40"/>
          <p:cNvSpPr/>
          <p:nvPr/>
        </p:nvSpPr>
        <p:spPr>
          <a:xfrm>
            <a:off x="6084875" y="3416049"/>
            <a:ext cx="1455600" cy="10674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b="1" lang="vi" sz="1400">
                <a:solidFill>
                  <a:schemeClr val="dk1"/>
                </a:solidFill>
                <a:latin typeface="Arial"/>
                <a:ea typeface="Arial"/>
                <a:cs typeface="Arial"/>
                <a:sym typeface="Arial"/>
              </a:rPr>
              <a:t>Kafka Topics</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Events</a:t>
            </a:r>
            <a:endParaRPr sz="1100"/>
          </a:p>
        </p:txBody>
      </p:sp>
      <p:sp>
        <p:nvSpPr>
          <p:cNvPr id="240" name="Google Shape;240;p40"/>
          <p:cNvSpPr/>
          <p:nvPr/>
        </p:nvSpPr>
        <p:spPr>
          <a:xfrm>
            <a:off x="4547350" y="3424751"/>
            <a:ext cx="1455600" cy="10674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b="1" lang="vi" sz="1400">
                <a:solidFill>
                  <a:schemeClr val="dk1"/>
                </a:solidFill>
                <a:latin typeface="Arial"/>
                <a:ea typeface="Arial"/>
                <a:cs typeface="Arial"/>
                <a:sym typeface="Arial"/>
              </a:rPr>
              <a:t>Elasticsearch</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(Port 9200)</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Search</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a:t>
            </a:r>
            <a:r>
              <a:rPr lang="vi" sz="1400">
                <a:solidFill>
                  <a:schemeClr val="dk1"/>
                </a:solidFill>
                <a:latin typeface="Arial"/>
                <a:ea typeface="Arial"/>
                <a:cs typeface="Arial"/>
                <a:sym typeface="Arial"/>
              </a:rPr>
              <a:t>Analy</a:t>
            </a:r>
            <a:r>
              <a:rPr lang="vi">
                <a:solidFill>
                  <a:schemeClr val="dk1"/>
                </a:solidFill>
              </a:rPr>
              <a:t>sis</a:t>
            </a:r>
            <a:endParaRPr sz="1100"/>
          </a:p>
        </p:txBody>
      </p:sp>
      <p:cxnSp>
        <p:nvCxnSpPr>
          <p:cNvPr id="241" name="Google Shape;241;p40"/>
          <p:cNvCxnSpPr>
            <a:stCxn id="230" idx="2"/>
            <a:endCxn id="236" idx="0"/>
          </p:cNvCxnSpPr>
          <p:nvPr/>
        </p:nvCxnSpPr>
        <p:spPr>
          <a:xfrm>
            <a:off x="4662250" y="2883075"/>
            <a:ext cx="0" cy="213600"/>
          </a:xfrm>
          <a:prstGeom prst="straightConnector1">
            <a:avLst/>
          </a:prstGeom>
          <a:noFill/>
          <a:ln cap="flat" cmpd="sng" w="14300">
            <a:solidFill>
              <a:schemeClr val="dk1"/>
            </a:solidFill>
            <a:prstDash val="solid"/>
            <a:miter lim="800000"/>
            <a:headEnd len="sm" w="sm" type="none"/>
            <a:tailEnd len="med" w="med" type="triangle"/>
          </a:ln>
        </p:spPr>
      </p:cxnSp>
      <p:cxnSp>
        <p:nvCxnSpPr>
          <p:cNvPr id="242" name="Google Shape;242;p40"/>
          <p:cNvCxnSpPr>
            <a:stCxn id="236" idx="2"/>
          </p:cNvCxnSpPr>
          <p:nvPr/>
        </p:nvCxnSpPr>
        <p:spPr>
          <a:xfrm>
            <a:off x="4662250" y="4582876"/>
            <a:ext cx="0" cy="254400"/>
          </a:xfrm>
          <a:prstGeom prst="straightConnector1">
            <a:avLst/>
          </a:prstGeom>
          <a:noFill/>
          <a:ln cap="flat" cmpd="sng" w="14300">
            <a:solidFill>
              <a:schemeClr val="dk1"/>
            </a:solidFill>
            <a:prstDash val="solid"/>
            <a:miter lim="800000"/>
            <a:headEnd len="sm" w="sm" type="none"/>
            <a:tailEnd len="med" w="med" type="triangle"/>
          </a:ln>
        </p:spPr>
      </p:cxnSp>
      <p:cxnSp>
        <p:nvCxnSpPr>
          <p:cNvPr id="243" name="Google Shape;243;p40"/>
          <p:cNvCxnSpPr>
            <a:endCxn id="230" idx="0"/>
          </p:cNvCxnSpPr>
          <p:nvPr/>
        </p:nvCxnSpPr>
        <p:spPr>
          <a:xfrm>
            <a:off x="4662250" y="943575"/>
            <a:ext cx="0" cy="246600"/>
          </a:xfrm>
          <a:prstGeom prst="straightConnector1">
            <a:avLst/>
          </a:prstGeom>
          <a:noFill/>
          <a:ln cap="flat" cmpd="sng" w="14300">
            <a:solidFill>
              <a:schemeClr val="dk1"/>
            </a:solidFill>
            <a:prstDash val="solid"/>
            <a:miter lim="800000"/>
            <a:headEnd len="sm" w="sm"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1"/>
          <p:cNvSpPr txBox="1"/>
          <p:nvPr>
            <p:ph type="title"/>
          </p:nvPr>
        </p:nvSpPr>
        <p:spPr>
          <a:xfrm>
            <a:off x="628650" y="451497"/>
            <a:ext cx="7886700" cy="436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100"/>
              <a:buFont typeface="Arial"/>
              <a:buNone/>
            </a:pPr>
            <a:r>
              <a:rPr b="1" lang="vi" sz="2100">
                <a:latin typeface="Arial"/>
                <a:ea typeface="Arial"/>
                <a:cs typeface="Arial"/>
                <a:sym typeface="Arial"/>
              </a:rPr>
              <a:t>System Architecture Overview</a:t>
            </a:r>
            <a:endParaRPr sz="2100">
              <a:latin typeface="Arial"/>
              <a:ea typeface="Arial"/>
              <a:cs typeface="Arial"/>
              <a:sym typeface="Arial"/>
            </a:endParaRPr>
          </a:p>
        </p:txBody>
      </p:sp>
      <p:sp>
        <p:nvSpPr>
          <p:cNvPr id="249" name="Google Shape;249;p41"/>
          <p:cNvSpPr/>
          <p:nvPr/>
        </p:nvSpPr>
        <p:spPr>
          <a:xfrm>
            <a:off x="1335190" y="1780366"/>
            <a:ext cx="6264000" cy="16929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vi" sz="1400">
                <a:solidFill>
                  <a:schemeClr val="dk1"/>
                </a:solidFill>
                <a:latin typeface="Arial"/>
                <a:ea typeface="Arial"/>
                <a:cs typeface="Arial"/>
                <a:sym typeface="Arial"/>
              </a:rPr>
              <a:t> OBSERVABILITY LAYER</a:t>
            </a:r>
            <a:endParaRPr sz="1100"/>
          </a:p>
        </p:txBody>
      </p:sp>
      <p:sp>
        <p:nvSpPr>
          <p:cNvPr id="250" name="Google Shape;250;p41"/>
          <p:cNvSpPr/>
          <p:nvPr/>
        </p:nvSpPr>
        <p:spPr>
          <a:xfrm>
            <a:off x="1455020" y="2108366"/>
            <a:ext cx="1202700" cy="12984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b="1" lang="vi" sz="1400">
                <a:solidFill>
                  <a:schemeClr val="dk1"/>
                </a:solidFill>
                <a:latin typeface="Arial"/>
                <a:ea typeface="Arial"/>
                <a:cs typeface="Arial"/>
                <a:sym typeface="Arial"/>
              </a:rPr>
              <a:t>Prometheus</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(Port 9090)</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Metrics</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Alerting</a:t>
            </a:r>
            <a:endParaRPr sz="1100"/>
          </a:p>
        </p:txBody>
      </p:sp>
      <p:sp>
        <p:nvSpPr>
          <p:cNvPr id="251" name="Google Shape;251;p41"/>
          <p:cNvSpPr/>
          <p:nvPr/>
        </p:nvSpPr>
        <p:spPr>
          <a:xfrm>
            <a:off x="2743662" y="2108365"/>
            <a:ext cx="1374300" cy="12984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b="1" lang="vi" sz="1400">
                <a:solidFill>
                  <a:schemeClr val="dk1"/>
                </a:solidFill>
                <a:latin typeface="Arial"/>
                <a:ea typeface="Arial"/>
                <a:cs typeface="Arial"/>
                <a:sym typeface="Arial"/>
              </a:rPr>
              <a:t>Grafana</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(Port 3000)</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Dashboards</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Charts</a:t>
            </a:r>
            <a:endParaRPr sz="1100"/>
          </a:p>
        </p:txBody>
      </p:sp>
      <p:sp>
        <p:nvSpPr>
          <p:cNvPr id="252" name="Google Shape;252;p41"/>
          <p:cNvSpPr/>
          <p:nvPr/>
        </p:nvSpPr>
        <p:spPr>
          <a:xfrm>
            <a:off x="5736208" y="2099681"/>
            <a:ext cx="1752300" cy="12984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b="1" lang="vi" sz="1400">
                <a:solidFill>
                  <a:schemeClr val="dk1"/>
                </a:solidFill>
                <a:latin typeface="Arial"/>
                <a:ea typeface="Arial"/>
                <a:cs typeface="Arial"/>
                <a:sym typeface="Arial"/>
              </a:rPr>
              <a:t>Kibana</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(Port 5601)</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Log View  </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Discovery</a:t>
            </a:r>
            <a:endParaRPr sz="1100"/>
          </a:p>
        </p:txBody>
      </p:sp>
      <p:sp>
        <p:nvSpPr>
          <p:cNvPr id="253" name="Google Shape;253;p41"/>
          <p:cNvSpPr/>
          <p:nvPr/>
        </p:nvSpPr>
        <p:spPr>
          <a:xfrm>
            <a:off x="4198683" y="2108365"/>
            <a:ext cx="1455600" cy="12984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b="1" lang="vi" sz="1400">
                <a:solidFill>
                  <a:schemeClr val="dk1"/>
                </a:solidFill>
                <a:latin typeface="Arial"/>
                <a:ea typeface="Arial"/>
                <a:cs typeface="Arial"/>
                <a:sym typeface="Arial"/>
              </a:rPr>
              <a:t>Elasticsearch</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(Logs)</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Log Storage</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 Indexing</a:t>
            </a:r>
            <a:endParaRPr sz="1100"/>
          </a:p>
        </p:txBody>
      </p:sp>
      <p:cxnSp>
        <p:nvCxnSpPr>
          <p:cNvPr id="254" name="Google Shape;254;p41"/>
          <p:cNvCxnSpPr>
            <a:endCxn id="249" idx="0"/>
          </p:cNvCxnSpPr>
          <p:nvPr/>
        </p:nvCxnSpPr>
        <p:spPr>
          <a:xfrm>
            <a:off x="4467190" y="1552066"/>
            <a:ext cx="0" cy="228300"/>
          </a:xfrm>
          <a:prstGeom prst="straightConnector1">
            <a:avLst/>
          </a:prstGeom>
          <a:noFill/>
          <a:ln cap="flat" cmpd="sng" w="14300">
            <a:solidFill>
              <a:schemeClr val="dk1"/>
            </a:solidFill>
            <a:prstDash val="solid"/>
            <a:miter lim="800000"/>
            <a:headEnd len="sm" w="sm"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100"/>
              <a:buFont typeface="Arial"/>
              <a:buNone/>
            </a:pPr>
            <a:r>
              <a:rPr b="1" lang="vi" sz="2100">
                <a:latin typeface="Arial"/>
                <a:ea typeface="Arial"/>
                <a:cs typeface="Arial"/>
                <a:sym typeface="Arial"/>
              </a:rPr>
              <a:t>Domain Driven Design: </a:t>
            </a:r>
            <a:r>
              <a:rPr lang="vi" sz="2100">
                <a:latin typeface="Arial"/>
                <a:ea typeface="Arial"/>
                <a:cs typeface="Arial"/>
                <a:sym typeface="Arial"/>
              </a:rPr>
              <a:t>Bounded Contexts</a:t>
            </a:r>
            <a:endParaRPr sz="2100">
              <a:latin typeface="Arial"/>
              <a:ea typeface="Arial"/>
              <a:cs typeface="Arial"/>
              <a:sym typeface="Arial"/>
            </a:endParaRPr>
          </a:p>
        </p:txBody>
      </p:sp>
      <p:sp>
        <p:nvSpPr>
          <p:cNvPr id="260" name="Google Shape;260;p42"/>
          <p:cNvSpPr/>
          <p:nvPr/>
        </p:nvSpPr>
        <p:spPr>
          <a:xfrm>
            <a:off x="304150" y="1216750"/>
            <a:ext cx="4186800" cy="31818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215900" lvl="0" marL="215900" marR="0" rtl="0" algn="l">
              <a:spcBef>
                <a:spcPts val="0"/>
              </a:spcBef>
              <a:spcAft>
                <a:spcPts val="0"/>
              </a:spcAft>
              <a:buClr>
                <a:schemeClr val="dk1"/>
              </a:buClr>
              <a:buSzPts val="1400"/>
              <a:buFont typeface="Arial"/>
              <a:buChar char="•"/>
            </a:pPr>
            <a:r>
              <a:rPr b="1" lang="vi" sz="1400">
                <a:solidFill>
                  <a:schemeClr val="dk1"/>
                </a:solidFill>
                <a:latin typeface="Arial"/>
                <a:ea typeface="Arial"/>
                <a:cs typeface="Arial"/>
                <a:sym typeface="Arial"/>
              </a:rPr>
              <a:t>User Context</a:t>
            </a:r>
            <a:endParaRPr sz="1100"/>
          </a:p>
          <a:p>
            <a:pPr indent="0" lvl="0" marL="0" marR="0" rtl="0" algn="l">
              <a:spcBef>
                <a:spcPts val="0"/>
              </a:spcBef>
              <a:spcAft>
                <a:spcPts val="0"/>
              </a:spcAft>
              <a:buNone/>
            </a:pPr>
            <a:r>
              <a:rPr b="1" lang="vi" sz="1400">
                <a:solidFill>
                  <a:schemeClr val="dk1"/>
                </a:solidFill>
                <a:latin typeface="Arial"/>
                <a:ea typeface="Arial"/>
                <a:cs typeface="Arial"/>
                <a:sym typeface="Arial"/>
              </a:rPr>
              <a:t>Aggregate Root</a:t>
            </a:r>
            <a:r>
              <a:rPr lang="vi" sz="1400">
                <a:solidFill>
                  <a:schemeClr val="dk1"/>
                </a:solidFill>
                <a:latin typeface="Arial"/>
                <a:ea typeface="Arial"/>
                <a:cs typeface="Arial"/>
                <a:sym typeface="Arial"/>
              </a:rPr>
              <a:t>: User</a:t>
            </a:r>
            <a:endParaRPr sz="1100"/>
          </a:p>
          <a:p>
            <a:pPr indent="0" lvl="0" marL="0" marR="0" rtl="0" algn="l">
              <a:spcBef>
                <a:spcPts val="0"/>
              </a:spcBef>
              <a:spcAft>
                <a:spcPts val="0"/>
              </a:spcAft>
              <a:buNone/>
            </a:pPr>
            <a:r>
              <a:rPr b="1" lang="vi" sz="1400">
                <a:solidFill>
                  <a:schemeClr val="dk1"/>
                </a:solidFill>
                <a:latin typeface="Arial"/>
                <a:ea typeface="Arial"/>
                <a:cs typeface="Arial"/>
                <a:sym typeface="Arial"/>
              </a:rPr>
              <a:t>Value Objects</a:t>
            </a:r>
            <a:r>
              <a:rPr lang="vi" sz="1400">
                <a:solidFill>
                  <a:schemeClr val="dk1"/>
                </a:solidFill>
                <a:latin typeface="Arial"/>
                <a:ea typeface="Arial"/>
                <a:cs typeface="Arial"/>
                <a:sym typeface="Arial"/>
              </a:rPr>
              <a:t>: Email, Username, PasswordHash</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1" lang="vi" sz="1400">
                <a:solidFill>
                  <a:schemeClr val="dk1"/>
                </a:solidFill>
                <a:latin typeface="Arial"/>
                <a:ea typeface="Arial"/>
                <a:cs typeface="Arial"/>
                <a:sym typeface="Arial"/>
              </a:rPr>
              <a:t>Services</a:t>
            </a:r>
            <a:r>
              <a:rPr lang="vi" sz="1400">
                <a:solidFill>
                  <a:schemeClr val="dk1"/>
                </a:solidFill>
                <a:latin typeface="Arial"/>
                <a:ea typeface="Arial"/>
                <a:cs typeface="Arial"/>
                <a:sym typeface="Arial"/>
              </a:rPr>
              <a:t>: AuthService, ProfileService, LibraryService</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1" lang="vi" sz="1400">
                <a:solidFill>
                  <a:schemeClr val="dk1"/>
                </a:solidFill>
                <a:latin typeface="Arial"/>
                <a:ea typeface="Arial"/>
                <a:cs typeface="Arial"/>
                <a:sym typeface="Arial"/>
              </a:rPr>
              <a:t>Repository</a:t>
            </a:r>
            <a:r>
              <a:rPr lang="vi" sz="1400">
                <a:solidFill>
                  <a:schemeClr val="dk1"/>
                </a:solidFill>
                <a:latin typeface="Arial"/>
                <a:ea typeface="Arial"/>
                <a:cs typeface="Arial"/>
                <a:sym typeface="Arial"/>
              </a:rPr>
              <a:t>: UserRepository, LibrarayRepository</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1" lang="vi" sz="1400">
                <a:solidFill>
                  <a:schemeClr val="dk1"/>
                </a:solidFill>
                <a:latin typeface="Arial"/>
                <a:ea typeface="Arial"/>
                <a:cs typeface="Arial"/>
                <a:sym typeface="Arial"/>
              </a:rPr>
              <a:t>Domain Events</a:t>
            </a:r>
            <a:r>
              <a:rPr lang="vi" sz="1400">
                <a:solidFill>
                  <a:schemeClr val="dk1"/>
                </a:solidFill>
                <a:latin typeface="Arial"/>
                <a:ea typeface="Arial"/>
                <a:cs typeface="Arial"/>
                <a:sym typeface="Arial"/>
              </a:rPr>
              <a:t>:</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UserRegistered</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vi" sz="1400">
                <a:solidFill>
                  <a:schemeClr val="dk1"/>
                </a:solidFill>
                <a:latin typeface="Arial"/>
                <a:ea typeface="Arial"/>
                <a:cs typeface="Arial"/>
                <a:sym typeface="Arial"/>
              </a:rPr>
              <a:t>UserLoggedIn</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vi" sz="1400">
                <a:solidFill>
                  <a:schemeClr val="dk1"/>
                </a:solidFill>
                <a:latin typeface="Arial"/>
                <a:ea typeface="Arial"/>
                <a:cs typeface="Arial"/>
                <a:sym typeface="Arial"/>
              </a:rPr>
              <a:t>ProfileUpdated</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vi" sz="1400">
                <a:solidFill>
                  <a:schemeClr val="dk1"/>
                </a:solidFill>
                <a:latin typeface="Arial"/>
                <a:ea typeface="Arial"/>
                <a:cs typeface="Arial"/>
                <a:sym typeface="Arial"/>
              </a:rPr>
              <a:t>AddToLibrary</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1" lang="vi" sz="1400">
                <a:solidFill>
                  <a:schemeClr val="dk1"/>
                </a:solidFill>
                <a:latin typeface="Arial"/>
                <a:ea typeface="Arial"/>
                <a:cs typeface="Arial"/>
                <a:sym typeface="Arial"/>
              </a:rPr>
              <a:t>Anti-Corruption Layer</a:t>
            </a:r>
            <a:r>
              <a:rPr lang="vi" sz="1400">
                <a:solidFill>
                  <a:schemeClr val="dk1"/>
                </a:solidFill>
                <a:latin typeface="Arial"/>
                <a:ea typeface="Arial"/>
                <a:cs typeface="Arial"/>
                <a:sym typeface="Arial"/>
              </a:rPr>
              <a:t>:</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Feign clients isolate external service dependencies</a:t>
            </a:r>
            <a:endParaRPr sz="1100"/>
          </a:p>
        </p:txBody>
      </p:sp>
      <p:sp>
        <p:nvSpPr>
          <p:cNvPr id="261" name="Google Shape;261;p42"/>
          <p:cNvSpPr/>
          <p:nvPr/>
        </p:nvSpPr>
        <p:spPr>
          <a:xfrm>
            <a:off x="4734233" y="1216742"/>
            <a:ext cx="3862200" cy="31818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215900" lvl="0" marL="215900" marR="0" rtl="0" algn="l">
              <a:spcBef>
                <a:spcPts val="0"/>
              </a:spcBef>
              <a:spcAft>
                <a:spcPts val="0"/>
              </a:spcAft>
              <a:buClr>
                <a:schemeClr val="dk1"/>
              </a:buClr>
              <a:buSzPts val="1400"/>
              <a:buFont typeface="Arial"/>
              <a:buChar char="•"/>
            </a:pPr>
            <a:r>
              <a:rPr b="1" lang="vi" sz="1400">
                <a:solidFill>
                  <a:schemeClr val="dk1"/>
                </a:solidFill>
                <a:latin typeface="Arial"/>
                <a:ea typeface="Arial"/>
                <a:cs typeface="Arial"/>
                <a:sym typeface="Arial"/>
              </a:rPr>
              <a:t>Content Context</a:t>
            </a:r>
            <a:endParaRPr sz="1100"/>
          </a:p>
          <a:p>
            <a:pPr indent="0" lvl="0" marL="0" marR="0" rtl="0" algn="l">
              <a:spcBef>
                <a:spcPts val="0"/>
              </a:spcBef>
              <a:spcAft>
                <a:spcPts val="0"/>
              </a:spcAft>
              <a:buNone/>
            </a:pPr>
            <a:r>
              <a:rPr b="1" lang="vi" sz="1400">
                <a:solidFill>
                  <a:schemeClr val="dk1"/>
                </a:solidFill>
                <a:latin typeface="Arial"/>
                <a:ea typeface="Arial"/>
                <a:cs typeface="Arial"/>
                <a:sym typeface="Arial"/>
              </a:rPr>
              <a:t>Aggregate Root</a:t>
            </a:r>
            <a:r>
              <a:rPr lang="vi" sz="1400">
                <a:solidFill>
                  <a:schemeClr val="dk1"/>
                </a:solidFill>
                <a:latin typeface="Arial"/>
                <a:ea typeface="Arial"/>
                <a:cs typeface="Arial"/>
                <a:sym typeface="Arial"/>
              </a:rPr>
              <a:t>: Novel, Chapter, Category</a:t>
            </a:r>
            <a:endParaRPr sz="1100"/>
          </a:p>
          <a:p>
            <a:pPr indent="0" lvl="0" marL="0" marR="0" rtl="0" algn="l">
              <a:spcBef>
                <a:spcPts val="0"/>
              </a:spcBef>
              <a:spcAft>
                <a:spcPts val="0"/>
              </a:spcAft>
              <a:buNone/>
            </a:pPr>
            <a:r>
              <a:rPr b="1" lang="vi" sz="1400">
                <a:solidFill>
                  <a:schemeClr val="dk1"/>
                </a:solidFill>
                <a:latin typeface="Arial"/>
                <a:ea typeface="Arial"/>
                <a:cs typeface="Arial"/>
                <a:sym typeface="Arial"/>
              </a:rPr>
              <a:t>Value Objects</a:t>
            </a:r>
            <a:r>
              <a:rPr lang="vi" sz="1400">
                <a:solidFill>
                  <a:schemeClr val="dk1"/>
                </a:solidFill>
                <a:latin typeface="Arial"/>
                <a:ea typeface="Arial"/>
                <a:cs typeface="Arial"/>
                <a:sym typeface="Arial"/>
              </a:rPr>
              <a:t>: Genre, Tag, Synopsis</a:t>
            </a:r>
            <a:endParaRPr sz="1100"/>
          </a:p>
          <a:p>
            <a:pPr indent="0" lvl="0" marL="0" marR="0" rtl="0" algn="l">
              <a:spcBef>
                <a:spcPts val="0"/>
              </a:spcBef>
              <a:spcAft>
                <a:spcPts val="0"/>
              </a:spcAft>
              <a:buNone/>
            </a:pPr>
            <a:r>
              <a:rPr b="1" lang="vi" sz="1400">
                <a:solidFill>
                  <a:schemeClr val="dk1"/>
                </a:solidFill>
                <a:latin typeface="Arial"/>
                <a:ea typeface="Arial"/>
                <a:cs typeface="Arial"/>
                <a:sym typeface="Arial"/>
              </a:rPr>
              <a:t>Services</a:t>
            </a:r>
            <a:r>
              <a:rPr lang="vi" sz="1400">
                <a:solidFill>
                  <a:schemeClr val="dk1"/>
                </a:solidFill>
                <a:latin typeface="Arial"/>
                <a:ea typeface="Arial"/>
                <a:cs typeface="Arial"/>
                <a:sym typeface="Arial"/>
              </a:rPr>
              <a:t>: NovelService, ChapterService, CategoryService, SearchService</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1" lang="vi" sz="1400">
                <a:solidFill>
                  <a:schemeClr val="dk1"/>
                </a:solidFill>
                <a:latin typeface="Arial"/>
                <a:ea typeface="Arial"/>
                <a:cs typeface="Arial"/>
                <a:sym typeface="Arial"/>
              </a:rPr>
              <a:t>Repository</a:t>
            </a:r>
            <a:r>
              <a:rPr lang="vi" sz="1400">
                <a:solidFill>
                  <a:schemeClr val="dk1"/>
                </a:solidFill>
                <a:latin typeface="Arial"/>
                <a:ea typeface="Arial"/>
                <a:cs typeface="Arial"/>
                <a:sym typeface="Arial"/>
              </a:rPr>
              <a:t>: NovelRepository, ChapterRepository, CategoryRepository</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1" lang="vi" sz="1400">
                <a:solidFill>
                  <a:schemeClr val="dk1"/>
                </a:solidFill>
                <a:latin typeface="Arial"/>
                <a:ea typeface="Arial"/>
                <a:cs typeface="Arial"/>
                <a:sym typeface="Arial"/>
              </a:rPr>
              <a:t>Domain Events</a:t>
            </a:r>
            <a:r>
              <a:rPr lang="vi" sz="1400">
                <a:solidFill>
                  <a:schemeClr val="dk1"/>
                </a:solidFill>
                <a:latin typeface="Arial"/>
                <a:ea typeface="Arial"/>
                <a:cs typeface="Arial"/>
                <a:sym typeface="Arial"/>
              </a:rPr>
              <a:t>:</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NovelPublished</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vi" sz="1400">
                <a:solidFill>
                  <a:schemeClr val="dk1"/>
                </a:solidFill>
                <a:latin typeface="Arial"/>
                <a:ea typeface="Arial"/>
                <a:cs typeface="Arial"/>
                <a:sym typeface="Arial"/>
              </a:rPr>
              <a:t>ChapterCreated</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vi" sz="1400">
                <a:solidFill>
                  <a:schemeClr val="dk1"/>
                </a:solidFill>
                <a:latin typeface="Arial"/>
                <a:ea typeface="Arial"/>
                <a:cs typeface="Arial"/>
                <a:sym typeface="Arial"/>
              </a:rPr>
              <a:t>ContentModerated</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1" lang="vi" sz="1400">
                <a:solidFill>
                  <a:schemeClr val="dk1"/>
                </a:solidFill>
                <a:latin typeface="Arial"/>
                <a:ea typeface="Arial"/>
                <a:cs typeface="Arial"/>
                <a:sym typeface="Arial"/>
              </a:rPr>
              <a:t>Specialized Storage</a:t>
            </a:r>
            <a:r>
              <a:rPr lang="vi" sz="1400">
                <a:solidFill>
                  <a:schemeClr val="dk1"/>
                </a:solidFill>
                <a:latin typeface="Arial"/>
                <a:ea typeface="Arial"/>
                <a:cs typeface="Arial"/>
                <a:sym typeface="Arial"/>
              </a:rPr>
              <a:t>:</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PostgreSQL for transactional data</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Elasticsearch for search optimization</a:t>
            </a:r>
            <a:endParaRPr sz="1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100"/>
              <a:buFont typeface="Arial"/>
              <a:buNone/>
            </a:pPr>
            <a:r>
              <a:rPr b="1" lang="vi" sz="2100">
                <a:latin typeface="Arial"/>
                <a:ea typeface="Arial"/>
                <a:cs typeface="Arial"/>
                <a:sym typeface="Arial"/>
              </a:rPr>
              <a:t>Domain Driven Design: </a:t>
            </a:r>
            <a:r>
              <a:rPr lang="vi" sz="2100">
                <a:latin typeface="Arial"/>
                <a:ea typeface="Arial"/>
                <a:cs typeface="Arial"/>
                <a:sym typeface="Arial"/>
              </a:rPr>
              <a:t>Bounded Contexts</a:t>
            </a:r>
            <a:endParaRPr sz="2100">
              <a:latin typeface="Arial"/>
              <a:ea typeface="Arial"/>
              <a:cs typeface="Arial"/>
              <a:sym typeface="Arial"/>
            </a:endParaRPr>
          </a:p>
        </p:txBody>
      </p:sp>
      <p:sp>
        <p:nvSpPr>
          <p:cNvPr id="267" name="Google Shape;267;p43"/>
          <p:cNvSpPr/>
          <p:nvPr/>
        </p:nvSpPr>
        <p:spPr>
          <a:xfrm>
            <a:off x="628650" y="1216742"/>
            <a:ext cx="3862200" cy="28944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215900" lvl="0" marL="215900" marR="0" rtl="0" algn="l">
              <a:spcBef>
                <a:spcPts val="0"/>
              </a:spcBef>
              <a:spcAft>
                <a:spcPts val="0"/>
              </a:spcAft>
              <a:buClr>
                <a:schemeClr val="dk1"/>
              </a:buClr>
              <a:buSzPts val="1400"/>
              <a:buFont typeface="Arial"/>
              <a:buChar char="•"/>
            </a:pPr>
            <a:r>
              <a:rPr b="1" lang="vi" sz="1400">
                <a:solidFill>
                  <a:schemeClr val="dk1"/>
                </a:solidFill>
                <a:latin typeface="Arial"/>
                <a:ea typeface="Arial"/>
                <a:cs typeface="Arial"/>
                <a:sym typeface="Arial"/>
              </a:rPr>
              <a:t>Engagement Context</a:t>
            </a:r>
            <a:endParaRPr sz="1100"/>
          </a:p>
          <a:p>
            <a:pPr indent="0" lvl="0" marL="0" marR="0" rtl="0" algn="l">
              <a:spcBef>
                <a:spcPts val="0"/>
              </a:spcBef>
              <a:spcAft>
                <a:spcPts val="0"/>
              </a:spcAft>
              <a:buNone/>
            </a:pPr>
            <a:r>
              <a:rPr b="1" lang="vi" sz="1400">
                <a:solidFill>
                  <a:schemeClr val="dk1"/>
                </a:solidFill>
                <a:latin typeface="Arial"/>
                <a:ea typeface="Arial"/>
                <a:cs typeface="Arial"/>
                <a:sym typeface="Arial"/>
              </a:rPr>
              <a:t>Aggregate Root</a:t>
            </a:r>
            <a:r>
              <a:rPr lang="vi" sz="1400">
                <a:solidFill>
                  <a:schemeClr val="dk1"/>
                </a:solidFill>
                <a:latin typeface="Arial"/>
                <a:ea typeface="Arial"/>
                <a:cs typeface="Arial"/>
                <a:sym typeface="Arial"/>
              </a:rPr>
              <a:t>: Comment, Review, Vote, Report</a:t>
            </a:r>
            <a:endParaRPr sz="1100"/>
          </a:p>
          <a:p>
            <a:pPr indent="0" lvl="0" marL="0" marR="0" rtl="0" algn="l">
              <a:spcBef>
                <a:spcPts val="0"/>
              </a:spcBef>
              <a:spcAft>
                <a:spcPts val="0"/>
              </a:spcAft>
              <a:buNone/>
            </a:pPr>
            <a:r>
              <a:rPr b="1" lang="vi" sz="1400">
                <a:solidFill>
                  <a:schemeClr val="dk1"/>
                </a:solidFill>
                <a:latin typeface="Arial"/>
                <a:ea typeface="Arial"/>
                <a:cs typeface="Arial"/>
                <a:sym typeface="Arial"/>
              </a:rPr>
              <a:t>Value Objects</a:t>
            </a:r>
            <a:r>
              <a:rPr lang="vi" sz="1400">
                <a:solidFill>
                  <a:schemeClr val="dk1"/>
                </a:solidFill>
                <a:latin typeface="Arial"/>
                <a:ea typeface="Arial"/>
                <a:cs typeface="Arial"/>
                <a:sym typeface="Arial"/>
              </a:rPr>
              <a:t>: Rating, Sentiment</a:t>
            </a:r>
            <a:endParaRPr sz="1100"/>
          </a:p>
          <a:p>
            <a:pPr indent="0" lvl="0" marL="0" marR="0" rtl="0" algn="l">
              <a:spcBef>
                <a:spcPts val="0"/>
              </a:spcBef>
              <a:spcAft>
                <a:spcPts val="0"/>
              </a:spcAft>
              <a:buNone/>
            </a:pPr>
            <a:r>
              <a:rPr b="1" lang="vi" sz="1400">
                <a:solidFill>
                  <a:schemeClr val="dk1"/>
                </a:solidFill>
                <a:latin typeface="Arial"/>
                <a:ea typeface="Arial"/>
                <a:cs typeface="Arial"/>
                <a:sym typeface="Arial"/>
              </a:rPr>
              <a:t>Services</a:t>
            </a:r>
            <a:r>
              <a:rPr lang="vi" sz="1400">
                <a:solidFill>
                  <a:schemeClr val="dk1"/>
                </a:solidFill>
                <a:latin typeface="Arial"/>
                <a:ea typeface="Arial"/>
                <a:cs typeface="Arial"/>
                <a:sym typeface="Arial"/>
              </a:rPr>
              <a:t>: CommentService, ReviewService, VoteService, ReportService</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1" lang="vi" sz="1400">
                <a:solidFill>
                  <a:schemeClr val="dk1"/>
                </a:solidFill>
                <a:latin typeface="Arial"/>
                <a:ea typeface="Arial"/>
                <a:cs typeface="Arial"/>
                <a:sym typeface="Arial"/>
              </a:rPr>
              <a:t>Repository</a:t>
            </a:r>
            <a:r>
              <a:rPr lang="vi" sz="1400">
                <a:solidFill>
                  <a:schemeClr val="dk1"/>
                </a:solidFill>
                <a:latin typeface="Arial"/>
                <a:ea typeface="Arial"/>
                <a:cs typeface="Arial"/>
                <a:sym typeface="Arial"/>
              </a:rPr>
              <a:t>: CommentRepository, ReviewRepository, VoteRepository, ReportRepository</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1" lang="vi" sz="1400">
                <a:solidFill>
                  <a:schemeClr val="dk1"/>
                </a:solidFill>
                <a:latin typeface="Arial"/>
                <a:ea typeface="Arial"/>
                <a:cs typeface="Arial"/>
                <a:sym typeface="Arial"/>
              </a:rPr>
              <a:t>Domain Events</a:t>
            </a:r>
            <a:r>
              <a:rPr lang="vi" sz="1400">
                <a:solidFill>
                  <a:schemeClr val="dk1"/>
                </a:solidFill>
                <a:latin typeface="Arial"/>
                <a:ea typeface="Arial"/>
                <a:cs typeface="Arial"/>
                <a:sym typeface="Arial"/>
              </a:rPr>
              <a:t>:</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CommentPosted</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vi" sz="1400">
                <a:solidFill>
                  <a:schemeClr val="dk1"/>
                </a:solidFill>
                <a:latin typeface="Arial"/>
                <a:ea typeface="Arial"/>
                <a:cs typeface="Arial"/>
                <a:sym typeface="Arial"/>
              </a:rPr>
              <a:t>ReviewCreated</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vi" sz="1400">
                <a:solidFill>
                  <a:schemeClr val="dk1"/>
                </a:solidFill>
                <a:latin typeface="Arial"/>
                <a:ea typeface="Arial"/>
                <a:cs typeface="Arial"/>
                <a:sym typeface="Arial"/>
              </a:rPr>
              <a:t>Voted</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ReportCreated</a:t>
            </a:r>
            <a:endParaRPr sz="1400">
              <a:solidFill>
                <a:schemeClr val="dk1"/>
              </a:solidFill>
              <a:latin typeface="Arial"/>
              <a:ea typeface="Arial"/>
              <a:cs typeface="Arial"/>
              <a:sym typeface="Arial"/>
            </a:endParaRPr>
          </a:p>
        </p:txBody>
      </p:sp>
      <p:sp>
        <p:nvSpPr>
          <p:cNvPr id="268" name="Google Shape;268;p43"/>
          <p:cNvSpPr/>
          <p:nvPr/>
        </p:nvSpPr>
        <p:spPr>
          <a:xfrm>
            <a:off x="4734225" y="1216753"/>
            <a:ext cx="3862200" cy="28944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215900" lvl="0" marL="215900" marR="0" rtl="0" algn="l">
              <a:spcBef>
                <a:spcPts val="0"/>
              </a:spcBef>
              <a:spcAft>
                <a:spcPts val="0"/>
              </a:spcAft>
              <a:buClr>
                <a:schemeClr val="dk1"/>
              </a:buClr>
              <a:buSzPts val="1400"/>
              <a:buFont typeface="Arial"/>
              <a:buChar char="•"/>
            </a:pPr>
            <a:r>
              <a:rPr b="1" lang="vi" sz="1400">
                <a:solidFill>
                  <a:schemeClr val="dk1"/>
                </a:solidFill>
                <a:latin typeface="Arial"/>
                <a:ea typeface="Arial"/>
                <a:cs typeface="Arial"/>
                <a:sym typeface="Arial"/>
              </a:rPr>
              <a:t>Gamification Context</a:t>
            </a:r>
            <a:endParaRPr sz="1100"/>
          </a:p>
          <a:p>
            <a:pPr indent="0" lvl="0" marL="0" marR="0" rtl="0" algn="l">
              <a:spcBef>
                <a:spcPts val="0"/>
              </a:spcBef>
              <a:spcAft>
                <a:spcPts val="0"/>
              </a:spcAft>
              <a:buNone/>
            </a:pPr>
            <a:r>
              <a:rPr b="1" lang="vi" sz="1400">
                <a:solidFill>
                  <a:schemeClr val="dk1"/>
                </a:solidFill>
                <a:latin typeface="Arial"/>
                <a:ea typeface="Arial"/>
                <a:cs typeface="Arial"/>
                <a:sym typeface="Arial"/>
              </a:rPr>
              <a:t>Aggregate Root</a:t>
            </a:r>
            <a:r>
              <a:rPr lang="vi" sz="1400">
                <a:solidFill>
                  <a:schemeClr val="dk1"/>
                </a:solidFill>
                <a:latin typeface="Arial"/>
                <a:ea typeface="Arial"/>
                <a:cs typeface="Arial"/>
                <a:sym typeface="Arial"/>
              </a:rPr>
              <a:t>: EXP+Level, Achievement, Yuan</a:t>
            </a:r>
            <a:endParaRPr sz="1100"/>
          </a:p>
          <a:p>
            <a:pPr indent="0" lvl="0" marL="0" marR="0" rtl="0" algn="l">
              <a:spcBef>
                <a:spcPts val="0"/>
              </a:spcBef>
              <a:spcAft>
                <a:spcPts val="0"/>
              </a:spcAft>
              <a:buNone/>
            </a:pPr>
            <a:r>
              <a:rPr b="1" lang="vi" sz="1400">
                <a:solidFill>
                  <a:schemeClr val="dk1"/>
                </a:solidFill>
                <a:latin typeface="Arial"/>
                <a:ea typeface="Arial"/>
                <a:cs typeface="Arial"/>
                <a:sym typeface="Arial"/>
              </a:rPr>
              <a:t>Value Objects</a:t>
            </a:r>
            <a:r>
              <a:rPr lang="vi" sz="1400">
                <a:solidFill>
                  <a:schemeClr val="dk1"/>
                </a:solidFill>
                <a:latin typeface="Arial"/>
                <a:ea typeface="Arial"/>
                <a:cs typeface="Arial"/>
                <a:sym typeface="Arial"/>
              </a:rPr>
              <a:t>: Badge, Quest, Reward</a:t>
            </a:r>
            <a:endParaRPr sz="1100"/>
          </a:p>
          <a:p>
            <a:pPr indent="0" lvl="0" marL="0" marR="0" rtl="0" algn="l">
              <a:spcBef>
                <a:spcPts val="0"/>
              </a:spcBef>
              <a:spcAft>
                <a:spcPts val="0"/>
              </a:spcAft>
              <a:buNone/>
            </a:pPr>
            <a:r>
              <a:rPr b="1" lang="vi" sz="1400">
                <a:solidFill>
                  <a:schemeClr val="dk1"/>
                </a:solidFill>
                <a:latin typeface="Arial"/>
                <a:ea typeface="Arial"/>
                <a:cs typeface="Arial"/>
                <a:sym typeface="Arial"/>
              </a:rPr>
              <a:t>Services</a:t>
            </a:r>
            <a:r>
              <a:rPr lang="vi" sz="1400">
                <a:solidFill>
                  <a:schemeClr val="dk1"/>
                </a:solidFill>
                <a:latin typeface="Arial"/>
                <a:ea typeface="Arial"/>
                <a:cs typeface="Arial"/>
                <a:sym typeface="Arial"/>
              </a:rPr>
              <a:t>: LevelService, AchievementService</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1" lang="vi" sz="1400">
                <a:solidFill>
                  <a:schemeClr val="dk1"/>
                </a:solidFill>
                <a:latin typeface="Arial"/>
                <a:ea typeface="Arial"/>
                <a:cs typeface="Arial"/>
                <a:sym typeface="Arial"/>
              </a:rPr>
              <a:t>Repository</a:t>
            </a:r>
            <a:r>
              <a:rPr lang="vi" sz="1400">
                <a:solidFill>
                  <a:schemeClr val="dk1"/>
                </a:solidFill>
                <a:latin typeface="Arial"/>
                <a:ea typeface="Arial"/>
                <a:cs typeface="Arial"/>
                <a:sym typeface="Arial"/>
              </a:rPr>
              <a:t>: EXPRepository, AchievementRepository, YuanRepository</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1" lang="vi" sz="1400">
                <a:solidFill>
                  <a:schemeClr val="dk1"/>
                </a:solidFill>
                <a:latin typeface="Arial"/>
                <a:ea typeface="Arial"/>
                <a:cs typeface="Arial"/>
                <a:sym typeface="Arial"/>
              </a:rPr>
              <a:t>Domain Events</a:t>
            </a:r>
            <a:r>
              <a:rPr lang="vi" sz="1400">
                <a:solidFill>
                  <a:schemeClr val="dk1"/>
                </a:solidFill>
                <a:latin typeface="Arial"/>
                <a:ea typeface="Arial"/>
                <a:cs typeface="Arial"/>
                <a:sym typeface="Arial"/>
              </a:rPr>
              <a:t>:</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YuanAdded</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vi" sz="1400">
                <a:solidFill>
                  <a:schemeClr val="dk1"/>
                </a:solidFill>
                <a:latin typeface="Arial"/>
                <a:ea typeface="Arial"/>
                <a:cs typeface="Arial"/>
                <a:sym typeface="Arial"/>
              </a:rPr>
              <a:t>AchievementUnlocked</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vi" sz="1400">
                <a:solidFill>
                  <a:schemeClr val="dk1"/>
                </a:solidFill>
                <a:latin typeface="Arial"/>
                <a:ea typeface="Arial"/>
                <a:cs typeface="Arial"/>
                <a:sym typeface="Arial"/>
              </a:rPr>
              <a:t>LevelUped</a:t>
            </a:r>
            <a:endParaRPr sz="1400">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100"/>
              <a:buFont typeface="Arial"/>
              <a:buNone/>
            </a:pPr>
            <a:r>
              <a:rPr b="1" lang="vi" sz="2100">
                <a:latin typeface="Arial"/>
                <a:ea typeface="Arial"/>
                <a:cs typeface="Arial"/>
                <a:sym typeface="Arial"/>
              </a:rPr>
              <a:t>Domain Driven Design: </a:t>
            </a:r>
            <a:r>
              <a:rPr lang="vi" sz="2100">
                <a:latin typeface="Arial"/>
                <a:ea typeface="Arial"/>
                <a:cs typeface="Arial"/>
                <a:sym typeface="Arial"/>
              </a:rPr>
              <a:t>Bounded Contexts</a:t>
            </a:r>
            <a:endParaRPr sz="2100">
              <a:latin typeface="Arial"/>
              <a:ea typeface="Arial"/>
              <a:cs typeface="Arial"/>
              <a:sym typeface="Arial"/>
            </a:endParaRPr>
          </a:p>
        </p:txBody>
      </p:sp>
      <p:sp>
        <p:nvSpPr>
          <p:cNvPr id="274" name="Google Shape;274;p44"/>
          <p:cNvSpPr/>
          <p:nvPr/>
        </p:nvSpPr>
        <p:spPr>
          <a:xfrm>
            <a:off x="2640883" y="1382661"/>
            <a:ext cx="3862200" cy="2437200"/>
          </a:xfrm>
          <a:prstGeom prst="rect">
            <a:avLst/>
          </a:prstGeom>
          <a:solidFill>
            <a:schemeClr val="lt1"/>
          </a:solid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215900" lvl="0" marL="215900" marR="0" rtl="0" algn="l">
              <a:spcBef>
                <a:spcPts val="0"/>
              </a:spcBef>
              <a:spcAft>
                <a:spcPts val="0"/>
              </a:spcAft>
              <a:buClr>
                <a:schemeClr val="dk1"/>
              </a:buClr>
              <a:buSzPts val="1400"/>
              <a:buFont typeface="Arial"/>
              <a:buChar char="•"/>
            </a:pPr>
            <a:r>
              <a:rPr b="1" lang="vi" sz="1400">
                <a:solidFill>
                  <a:schemeClr val="dk1"/>
                </a:solidFill>
                <a:latin typeface="Arial"/>
                <a:ea typeface="Arial"/>
                <a:cs typeface="Arial"/>
                <a:sym typeface="Arial"/>
              </a:rPr>
              <a:t>Analytics Context</a:t>
            </a:r>
            <a:endParaRPr sz="1100"/>
          </a:p>
          <a:p>
            <a:pPr indent="0" lvl="0" marL="0" marR="0" rtl="0" algn="l">
              <a:spcBef>
                <a:spcPts val="0"/>
              </a:spcBef>
              <a:spcAft>
                <a:spcPts val="0"/>
              </a:spcAft>
              <a:buNone/>
            </a:pPr>
            <a:r>
              <a:rPr b="1" lang="vi" sz="1400">
                <a:solidFill>
                  <a:schemeClr val="dk1"/>
                </a:solidFill>
                <a:latin typeface="Arial"/>
                <a:ea typeface="Arial"/>
                <a:cs typeface="Arial"/>
                <a:sym typeface="Arial"/>
              </a:rPr>
              <a:t>Aggregate Root</a:t>
            </a:r>
            <a:r>
              <a:rPr lang="vi" sz="1400">
                <a:solidFill>
                  <a:schemeClr val="dk1"/>
                </a:solidFill>
                <a:latin typeface="Arial"/>
                <a:ea typeface="Arial"/>
                <a:cs typeface="Arial"/>
                <a:sym typeface="Arial"/>
              </a:rPr>
              <a:t>: History, Ranking, Admin</a:t>
            </a:r>
            <a:endParaRPr sz="1100"/>
          </a:p>
          <a:p>
            <a:pPr indent="0" lvl="0" marL="0" marR="0" rtl="0" algn="l">
              <a:spcBef>
                <a:spcPts val="0"/>
              </a:spcBef>
              <a:spcAft>
                <a:spcPts val="0"/>
              </a:spcAft>
              <a:buNone/>
            </a:pPr>
            <a:r>
              <a:rPr b="1" lang="vi" sz="1400">
                <a:solidFill>
                  <a:schemeClr val="dk1"/>
                </a:solidFill>
                <a:latin typeface="Arial"/>
                <a:ea typeface="Arial"/>
                <a:cs typeface="Arial"/>
                <a:sym typeface="Arial"/>
              </a:rPr>
              <a:t>Value Objects</a:t>
            </a:r>
            <a:r>
              <a:rPr lang="vi" sz="1400">
                <a:solidFill>
                  <a:schemeClr val="dk1"/>
                </a:solidFill>
                <a:latin typeface="Arial"/>
                <a:ea typeface="Arial"/>
                <a:cs typeface="Arial"/>
                <a:sym typeface="Arial"/>
              </a:rPr>
              <a:t>: Aggregation, Trend</a:t>
            </a:r>
            <a:endParaRPr sz="1100"/>
          </a:p>
          <a:p>
            <a:pPr indent="0" lvl="0" marL="0" marR="0" rtl="0" algn="l">
              <a:spcBef>
                <a:spcPts val="0"/>
              </a:spcBef>
              <a:spcAft>
                <a:spcPts val="0"/>
              </a:spcAft>
              <a:buNone/>
            </a:pPr>
            <a:r>
              <a:rPr b="1" lang="vi" sz="1400">
                <a:solidFill>
                  <a:schemeClr val="dk1"/>
                </a:solidFill>
                <a:latin typeface="Arial"/>
                <a:ea typeface="Arial"/>
                <a:cs typeface="Arial"/>
                <a:sym typeface="Arial"/>
              </a:rPr>
              <a:t>Services</a:t>
            </a:r>
            <a:r>
              <a:rPr lang="vi" sz="1400">
                <a:solidFill>
                  <a:schemeClr val="dk1"/>
                </a:solidFill>
                <a:latin typeface="Arial"/>
                <a:ea typeface="Arial"/>
                <a:cs typeface="Arial"/>
                <a:sym typeface="Arial"/>
              </a:rPr>
              <a:t>: AnalyticsService, RankingService, HistoryService</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1" lang="vi" sz="1400">
                <a:solidFill>
                  <a:schemeClr val="dk1"/>
                </a:solidFill>
                <a:latin typeface="Arial"/>
                <a:ea typeface="Arial"/>
                <a:cs typeface="Arial"/>
                <a:sym typeface="Arial"/>
              </a:rPr>
              <a:t>Repository</a:t>
            </a:r>
            <a:r>
              <a:rPr lang="vi" sz="1400">
                <a:solidFill>
                  <a:schemeClr val="dk1"/>
                </a:solidFill>
                <a:latin typeface="Arial"/>
                <a:ea typeface="Arial"/>
                <a:cs typeface="Arial"/>
                <a:sym typeface="Arial"/>
              </a:rPr>
              <a:t>: HistoryRepository</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1" lang="vi" sz="1400">
                <a:solidFill>
                  <a:schemeClr val="dk1"/>
                </a:solidFill>
                <a:latin typeface="Arial"/>
                <a:ea typeface="Arial"/>
                <a:cs typeface="Arial"/>
                <a:sym typeface="Arial"/>
              </a:rPr>
              <a:t>Domain Events</a:t>
            </a:r>
            <a:r>
              <a:rPr lang="vi" sz="1400">
                <a:solidFill>
                  <a:schemeClr val="dk1"/>
                </a:solidFill>
                <a:latin typeface="Arial"/>
                <a:ea typeface="Arial"/>
                <a:cs typeface="Arial"/>
                <a:sym typeface="Arial"/>
              </a:rPr>
              <a:t>:</a:t>
            </a:r>
            <a:endParaRPr sz="1100"/>
          </a:p>
          <a:p>
            <a:pPr indent="0" lvl="0" marL="0" marR="0" rtl="0" algn="l">
              <a:spcBef>
                <a:spcPts val="0"/>
              </a:spcBef>
              <a:spcAft>
                <a:spcPts val="0"/>
              </a:spcAft>
              <a:buNone/>
            </a:pPr>
            <a:r>
              <a:rPr lang="vi" sz="1400">
                <a:solidFill>
                  <a:schemeClr val="dk1"/>
                </a:solidFill>
                <a:latin typeface="Arial"/>
                <a:ea typeface="Arial"/>
                <a:cs typeface="Arial"/>
                <a:sym typeface="Arial"/>
              </a:rPr>
              <a:t>DataAnalysis</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vi" sz="1400">
                <a:solidFill>
                  <a:schemeClr val="dk1"/>
                </a:solidFill>
                <a:latin typeface="Arial"/>
                <a:ea typeface="Arial"/>
                <a:cs typeface="Arial"/>
                <a:sym typeface="Arial"/>
              </a:rPr>
              <a:t>RankingUpdated</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vi" sz="1400">
                <a:solidFill>
                  <a:schemeClr val="dk1"/>
                </a:solidFill>
                <a:latin typeface="Arial"/>
                <a:ea typeface="Arial"/>
                <a:cs typeface="Arial"/>
                <a:sym typeface="Arial"/>
              </a:rPr>
              <a:t>HistoryCreated</a:t>
            </a:r>
            <a:endParaRPr sz="1400">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100"/>
              <a:buFont typeface="Arial"/>
              <a:buNone/>
            </a:pPr>
            <a:r>
              <a:rPr b="1" lang="vi" sz="2100">
                <a:latin typeface="Arial"/>
                <a:ea typeface="Arial"/>
                <a:cs typeface="Arial"/>
                <a:sym typeface="Arial"/>
              </a:rPr>
              <a:t>Domain Driven Design: </a:t>
            </a:r>
            <a:r>
              <a:rPr lang="vi" sz="2100">
                <a:latin typeface="Arial"/>
                <a:ea typeface="Arial"/>
                <a:cs typeface="Arial"/>
                <a:sym typeface="Arial"/>
              </a:rPr>
              <a:t>Context Mapping</a:t>
            </a:r>
            <a:endParaRPr sz="2100">
              <a:latin typeface="Arial"/>
              <a:ea typeface="Arial"/>
              <a:cs typeface="Arial"/>
              <a:sym typeface="Arial"/>
            </a:endParaRPr>
          </a:p>
        </p:txBody>
      </p:sp>
      <p:sp>
        <p:nvSpPr>
          <p:cNvPr id="280" name="Google Shape;280;p4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2100"/>
              <a:buChar char="•"/>
            </a:pPr>
            <a:r>
              <a:rPr b="1" lang="vi"/>
              <a:t>Published Language</a:t>
            </a:r>
            <a:r>
              <a:rPr lang="vi"/>
              <a:t>: Kafka events provide a shared communication protocol</a:t>
            </a:r>
            <a:endParaRPr/>
          </a:p>
          <a:p>
            <a:pPr indent="-171450" lvl="0" marL="177800" rtl="0" algn="l">
              <a:lnSpc>
                <a:spcPct val="90000"/>
              </a:lnSpc>
              <a:spcBef>
                <a:spcPts val="800"/>
              </a:spcBef>
              <a:spcAft>
                <a:spcPts val="0"/>
              </a:spcAft>
              <a:buClr>
                <a:schemeClr val="dk1"/>
              </a:buClr>
              <a:buSzPts val="2100"/>
              <a:buChar char="•"/>
            </a:pPr>
            <a:r>
              <a:rPr b="1" lang="vi"/>
              <a:t>Conformist</a:t>
            </a:r>
            <a:r>
              <a:rPr lang="vi"/>
              <a:t>: Analytics service conforms to events published by other services</a:t>
            </a:r>
            <a:endParaRPr/>
          </a:p>
          <a:p>
            <a:pPr indent="-171450" lvl="0" marL="177800" rtl="0" algn="l">
              <a:lnSpc>
                <a:spcPct val="90000"/>
              </a:lnSpc>
              <a:spcBef>
                <a:spcPts val="800"/>
              </a:spcBef>
              <a:spcAft>
                <a:spcPts val="0"/>
              </a:spcAft>
              <a:buClr>
                <a:schemeClr val="dk1"/>
              </a:buClr>
              <a:buSzPts val="2100"/>
              <a:buChar char="•"/>
            </a:pPr>
            <a:r>
              <a:rPr b="1" lang="vi"/>
              <a:t>Customer/Provider</a:t>
            </a:r>
            <a:r>
              <a:rPr lang="vi"/>
              <a:t>: Engagement service is a customer of Content service</a:t>
            </a:r>
            <a:endParaRPr/>
          </a:p>
          <a:p>
            <a:pPr indent="-171450" lvl="0" marL="177800" rtl="0" algn="l">
              <a:lnSpc>
                <a:spcPct val="90000"/>
              </a:lnSpc>
              <a:spcBef>
                <a:spcPts val="800"/>
              </a:spcBef>
              <a:spcAft>
                <a:spcPts val="0"/>
              </a:spcAft>
              <a:buClr>
                <a:schemeClr val="dk1"/>
              </a:buClr>
              <a:buSzPts val="2100"/>
              <a:buChar char="•"/>
            </a:pPr>
            <a:r>
              <a:rPr b="1" lang="vi"/>
              <a:t>Anti-Corruption Layer</a:t>
            </a:r>
            <a:r>
              <a:rPr lang="vi"/>
              <a:t>: Each service maintains its own view of data from other services</a:t>
            </a:r>
            <a:endParaRPr/>
          </a:p>
          <a:p>
            <a:pPr indent="-38100" lvl="0" marL="177800" rtl="0" algn="l">
              <a:lnSpc>
                <a:spcPct val="90000"/>
              </a:lnSpc>
              <a:spcBef>
                <a:spcPts val="800"/>
              </a:spcBef>
              <a:spcAft>
                <a:spcPts val="0"/>
              </a:spcAft>
              <a:buClr>
                <a:schemeClr val="dk1"/>
              </a:buClr>
              <a:buSzPts val="21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6"/>
          <p:cNvSpPr txBox="1"/>
          <p:nvPr>
            <p:ph type="title"/>
          </p:nvPr>
        </p:nvSpPr>
        <p:spPr>
          <a:xfrm>
            <a:off x="787195" y="550376"/>
            <a:ext cx="7886700" cy="3345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2100"/>
              <a:buFont typeface="Arial"/>
              <a:buNone/>
            </a:pPr>
            <a:r>
              <a:rPr b="1" lang="vi" sz="2100">
                <a:latin typeface="Arial"/>
                <a:ea typeface="Arial"/>
                <a:cs typeface="Arial"/>
                <a:sym typeface="Arial"/>
              </a:rPr>
              <a:t>Producer-Consumer Interactions - ASYNC</a:t>
            </a:r>
            <a:endParaRPr sz="2100">
              <a:latin typeface="Arial"/>
              <a:ea typeface="Arial"/>
              <a:cs typeface="Arial"/>
              <a:sym typeface="Arial"/>
            </a:endParaRPr>
          </a:p>
        </p:txBody>
      </p:sp>
      <p:graphicFrame>
        <p:nvGraphicFramePr>
          <p:cNvPr id="286" name="Google Shape;286;p46"/>
          <p:cNvGraphicFramePr/>
          <p:nvPr/>
        </p:nvGraphicFramePr>
        <p:xfrm>
          <a:off x="1524000" y="1201871"/>
          <a:ext cx="3000000" cy="3000000"/>
        </p:xfrm>
        <a:graphic>
          <a:graphicData uri="http://schemas.openxmlformats.org/drawingml/2006/table">
            <a:tbl>
              <a:tblPr bandRow="1" firstRow="1">
                <a:noFill/>
                <a:tableStyleId>{AF019049-BCBF-475E-B298-90896E157E7F}</a:tableStyleId>
              </a:tblPr>
              <a:tblGrid>
                <a:gridCol w="2032000"/>
                <a:gridCol w="2032000"/>
                <a:gridCol w="2032000"/>
              </a:tblGrid>
              <a:tr h="278150">
                <a:tc>
                  <a:txBody>
                    <a:bodyPr/>
                    <a:lstStyle/>
                    <a:p>
                      <a:pPr indent="0" lvl="0" marL="0" marR="0" rtl="0" algn="ctr">
                        <a:spcBef>
                          <a:spcPts val="0"/>
                        </a:spcBef>
                        <a:spcAft>
                          <a:spcPts val="0"/>
                        </a:spcAft>
                        <a:buNone/>
                      </a:pPr>
                      <a:r>
                        <a:rPr b="1" lang="vi" sz="1400" u="none" cap="none" strike="noStrike"/>
                        <a:t>Producer</a:t>
                      </a:r>
                      <a:endParaRPr b="1" sz="14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vi" sz="1400"/>
                        <a:t>Kafka Topic</a:t>
                      </a:r>
                      <a:endParaRPr b="1" sz="14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vi" sz="1400"/>
                        <a:t>Consumer</a:t>
                      </a:r>
                      <a:endParaRPr b="1" sz="14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r>
              <a:tr h="278150">
                <a:tc>
                  <a:txBody>
                    <a:bodyPr/>
                    <a:lstStyle/>
                    <a:p>
                      <a:pPr indent="0" lvl="0" marL="0" marR="0" rtl="0" algn="l">
                        <a:spcBef>
                          <a:spcPts val="0"/>
                        </a:spcBef>
                        <a:spcAft>
                          <a:spcPts val="0"/>
                        </a:spcAft>
                        <a:buNone/>
                      </a:pPr>
                      <a:r>
                        <a:rPr lang="vi" sz="1400"/>
                        <a:t>User Service</a:t>
                      </a:r>
                      <a:endParaRPr sz="1100"/>
                    </a:p>
                    <a:p>
                      <a:pPr indent="-215900" lvl="0" marL="215900" marR="0" rtl="0" algn="l">
                        <a:spcBef>
                          <a:spcPts val="0"/>
                        </a:spcBef>
                        <a:spcAft>
                          <a:spcPts val="0"/>
                        </a:spcAft>
                        <a:buClr>
                          <a:schemeClr val="dk1"/>
                        </a:buClr>
                        <a:buSzPts val="1400"/>
                        <a:buFont typeface="Arial"/>
                        <a:buChar char="•"/>
                      </a:pPr>
                      <a:r>
                        <a:rPr lang="vi" sz="1400"/>
                        <a:t>When register</a:t>
                      </a:r>
                      <a:endParaRPr sz="1100"/>
                    </a:p>
                    <a:p>
                      <a:pPr indent="-215900" lvl="0" marL="215900" marR="0" rtl="0" algn="l">
                        <a:spcBef>
                          <a:spcPts val="0"/>
                        </a:spcBef>
                        <a:spcAft>
                          <a:spcPts val="0"/>
                        </a:spcAft>
                        <a:buClr>
                          <a:schemeClr val="dk1"/>
                        </a:buClr>
                        <a:buSzPts val="1400"/>
                        <a:buFont typeface="Arial"/>
                        <a:buChar char="•"/>
                      </a:pPr>
                      <a:r>
                        <a:rPr lang="vi" sz="1400"/>
                        <a:t>When log in</a:t>
                      </a:r>
                      <a:endParaRPr sz="14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rial"/>
                        <a:buNone/>
                      </a:pPr>
                      <a:r>
                        <a:rPr lang="vi" sz="1400">
                          <a:solidFill>
                            <a:schemeClr val="dk1"/>
                          </a:solidFill>
                        </a:rPr>
                        <a:t>user-events</a:t>
                      </a:r>
                      <a:endParaRPr sz="1400">
                        <a:solidFill>
                          <a:schemeClr val="dk1"/>
                        </a:solidFill>
                        <a:latin typeface="Arial"/>
                        <a:ea typeface="Arial"/>
                        <a:cs typeface="Arial"/>
                        <a:sym typeface="Arial"/>
                      </a:endParaRPr>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vi" sz="1400"/>
                        <a:t>Gamification service</a:t>
                      </a:r>
                      <a:endParaRPr sz="1100"/>
                    </a:p>
                    <a:p>
                      <a:pPr indent="-215900" lvl="0" marL="215900" marR="0" rtl="0" algn="l">
                        <a:spcBef>
                          <a:spcPts val="0"/>
                        </a:spcBef>
                        <a:spcAft>
                          <a:spcPts val="0"/>
                        </a:spcAft>
                        <a:buClr>
                          <a:schemeClr val="dk1"/>
                        </a:buClr>
                        <a:buSzPts val="1400"/>
                        <a:buFont typeface="Arial"/>
                        <a:buChar char="•"/>
                      </a:pPr>
                      <a:r>
                        <a:rPr lang="vi" sz="1400"/>
                        <a:t>Reward</a:t>
                      </a:r>
                      <a:endParaRPr sz="14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r>
              <a:tr h="278150">
                <a:tc>
                  <a:txBody>
                    <a:bodyPr/>
                    <a:lstStyle/>
                    <a:p>
                      <a:pPr indent="0" lvl="0" marL="0" marR="0" rtl="0" algn="l">
                        <a:spcBef>
                          <a:spcPts val="0"/>
                        </a:spcBef>
                        <a:spcAft>
                          <a:spcPts val="0"/>
                        </a:spcAft>
                        <a:buNone/>
                      </a:pPr>
                      <a:r>
                        <a:rPr lang="vi" sz="1400"/>
                        <a:t>Engagement Service</a:t>
                      </a:r>
                      <a:endParaRPr sz="1100"/>
                    </a:p>
                    <a:p>
                      <a:pPr indent="-215900" lvl="0" marL="215900" marR="0" rtl="0" algn="l">
                        <a:spcBef>
                          <a:spcPts val="0"/>
                        </a:spcBef>
                        <a:spcAft>
                          <a:spcPts val="0"/>
                        </a:spcAft>
                        <a:buClr>
                          <a:schemeClr val="dk1"/>
                        </a:buClr>
                        <a:buSzPts val="1400"/>
                        <a:buFont typeface="Arial"/>
                        <a:buChar char="•"/>
                      </a:pPr>
                      <a:r>
                        <a:rPr lang="vi" sz="1400"/>
                        <a:t>When user comment</a:t>
                      </a:r>
                      <a:endParaRPr sz="14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rial"/>
                        <a:buNone/>
                      </a:pPr>
                      <a:r>
                        <a:rPr lang="vi" sz="1400">
                          <a:solidFill>
                            <a:schemeClr val="dk1"/>
                          </a:solidFill>
                        </a:rPr>
                        <a:t>comment-events</a:t>
                      </a:r>
                      <a:endParaRPr sz="1400">
                        <a:solidFill>
                          <a:schemeClr val="dk1"/>
                        </a:solidFill>
                        <a:latin typeface="Arial"/>
                        <a:ea typeface="Arial"/>
                        <a:cs typeface="Arial"/>
                        <a:sym typeface="Arial"/>
                      </a:endParaRPr>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vi" sz="1400"/>
                        <a:t>Gamification service</a:t>
                      </a:r>
                      <a:endParaRPr sz="1100"/>
                    </a:p>
                    <a:p>
                      <a:pPr indent="-215900" lvl="0" marL="215900" marR="0" rtl="0" algn="l">
                        <a:spcBef>
                          <a:spcPts val="0"/>
                        </a:spcBef>
                        <a:spcAft>
                          <a:spcPts val="0"/>
                        </a:spcAft>
                        <a:buClr>
                          <a:schemeClr val="dk1"/>
                        </a:buClr>
                        <a:buSzPts val="1400"/>
                        <a:buFont typeface="Arial"/>
                        <a:buChar char="•"/>
                      </a:pPr>
                      <a:r>
                        <a:rPr lang="vi" sz="1400"/>
                        <a:t>Reward</a:t>
                      </a:r>
                      <a:endParaRPr sz="14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r>
              <a:tr h="278150">
                <a:tc>
                  <a:txBody>
                    <a:bodyPr/>
                    <a:lstStyle/>
                    <a:p>
                      <a:pPr indent="0" lvl="0" marL="0" marR="0" rtl="0" algn="l">
                        <a:lnSpc>
                          <a:spcPct val="100000"/>
                        </a:lnSpc>
                        <a:spcBef>
                          <a:spcPts val="0"/>
                        </a:spcBef>
                        <a:spcAft>
                          <a:spcPts val="0"/>
                        </a:spcAft>
                        <a:buClr>
                          <a:schemeClr val="dk1"/>
                        </a:buClr>
                        <a:buSzPts val="1400"/>
                        <a:buFont typeface="Arial"/>
                        <a:buNone/>
                      </a:pPr>
                      <a:r>
                        <a:rPr lang="vi" sz="1400"/>
                        <a:t>Engagement Service</a:t>
                      </a:r>
                      <a:endParaRPr sz="1100"/>
                    </a:p>
                    <a:p>
                      <a:pPr indent="-215900" lvl="0" marL="215900" marR="0" rtl="0" algn="l">
                        <a:lnSpc>
                          <a:spcPct val="100000"/>
                        </a:lnSpc>
                        <a:spcBef>
                          <a:spcPts val="0"/>
                        </a:spcBef>
                        <a:spcAft>
                          <a:spcPts val="0"/>
                        </a:spcAft>
                        <a:buClr>
                          <a:schemeClr val="dk1"/>
                        </a:buClr>
                        <a:buSzPts val="1400"/>
                        <a:buFont typeface="Arial"/>
                        <a:buChar char="•"/>
                      </a:pPr>
                      <a:r>
                        <a:rPr lang="vi" sz="1400"/>
                        <a:t>When user review</a:t>
                      </a:r>
                      <a:endParaRPr sz="14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rial"/>
                        <a:buNone/>
                      </a:pPr>
                      <a:r>
                        <a:rPr lang="vi" sz="1400">
                          <a:solidFill>
                            <a:schemeClr val="dk1"/>
                          </a:solidFill>
                        </a:rPr>
                        <a:t>review-events</a:t>
                      </a:r>
                      <a:endParaRPr sz="11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vi" sz="1400"/>
                        <a:t>Gamification service</a:t>
                      </a:r>
                      <a:endParaRPr sz="1100"/>
                    </a:p>
                    <a:p>
                      <a:pPr indent="-215900" lvl="0" marL="215900" marR="0" rtl="0" algn="l">
                        <a:spcBef>
                          <a:spcPts val="0"/>
                        </a:spcBef>
                        <a:spcAft>
                          <a:spcPts val="0"/>
                        </a:spcAft>
                        <a:buClr>
                          <a:schemeClr val="dk1"/>
                        </a:buClr>
                        <a:buSzPts val="1400"/>
                        <a:buFont typeface="Arial"/>
                        <a:buChar char="•"/>
                      </a:pPr>
                      <a:r>
                        <a:rPr lang="vi" sz="1400"/>
                        <a:t>Reward</a:t>
                      </a:r>
                      <a:endParaRPr sz="14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r>
              <a:tr h="278150">
                <a:tc>
                  <a:txBody>
                    <a:bodyPr/>
                    <a:lstStyle/>
                    <a:p>
                      <a:pPr indent="0" lvl="0" marL="0" marR="0" rtl="0" algn="l">
                        <a:lnSpc>
                          <a:spcPct val="100000"/>
                        </a:lnSpc>
                        <a:spcBef>
                          <a:spcPts val="0"/>
                        </a:spcBef>
                        <a:spcAft>
                          <a:spcPts val="0"/>
                        </a:spcAft>
                        <a:buClr>
                          <a:schemeClr val="dk1"/>
                        </a:buClr>
                        <a:buSzPts val="1400"/>
                        <a:buFont typeface="Arial"/>
                        <a:buNone/>
                      </a:pPr>
                      <a:r>
                        <a:rPr lang="vi" sz="1400"/>
                        <a:t>Engagement Service</a:t>
                      </a:r>
                      <a:endParaRPr sz="1100"/>
                    </a:p>
                    <a:p>
                      <a:pPr indent="-215900" lvl="0" marL="215900" marR="0" rtl="0" algn="l">
                        <a:lnSpc>
                          <a:spcPct val="100000"/>
                        </a:lnSpc>
                        <a:spcBef>
                          <a:spcPts val="0"/>
                        </a:spcBef>
                        <a:spcAft>
                          <a:spcPts val="0"/>
                        </a:spcAft>
                        <a:buClr>
                          <a:schemeClr val="dk1"/>
                        </a:buClr>
                        <a:buSzPts val="1400"/>
                        <a:buFont typeface="Arial"/>
                        <a:buChar char="•"/>
                      </a:pPr>
                      <a:r>
                        <a:rPr lang="vi" sz="1400"/>
                        <a:t>When user vote</a:t>
                      </a:r>
                      <a:endParaRPr sz="14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rial"/>
                        <a:buNone/>
                      </a:pPr>
                      <a:r>
                        <a:rPr lang="vi" sz="1400">
                          <a:solidFill>
                            <a:schemeClr val="dk1"/>
                          </a:solidFill>
                        </a:rPr>
                        <a:t>vote-events</a:t>
                      </a:r>
                      <a:endParaRPr sz="11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vi" sz="1400"/>
                        <a:t>Gamification service</a:t>
                      </a:r>
                      <a:endParaRPr sz="1100"/>
                    </a:p>
                    <a:p>
                      <a:pPr indent="-215900" lvl="0" marL="215900" marR="0" rtl="0" algn="l">
                        <a:spcBef>
                          <a:spcPts val="0"/>
                        </a:spcBef>
                        <a:spcAft>
                          <a:spcPts val="0"/>
                        </a:spcAft>
                        <a:buClr>
                          <a:schemeClr val="dk1"/>
                        </a:buClr>
                        <a:buSzPts val="1400"/>
                        <a:buFont typeface="Arial"/>
                        <a:buChar char="•"/>
                      </a:pPr>
                      <a:r>
                        <a:rPr lang="vi" sz="1400"/>
                        <a:t>Reward</a:t>
                      </a:r>
                      <a:endParaRPr sz="14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r>
              <a:tr h="278150">
                <a:tc>
                  <a:txBody>
                    <a:bodyPr/>
                    <a:lstStyle/>
                    <a:p>
                      <a:pPr indent="0" lvl="0" marL="0" marR="0" rtl="0" algn="l">
                        <a:spcBef>
                          <a:spcPts val="0"/>
                        </a:spcBef>
                        <a:spcAft>
                          <a:spcPts val="0"/>
                        </a:spcAft>
                        <a:buNone/>
                      </a:pPr>
                      <a:r>
                        <a:rPr lang="vi" sz="1400"/>
                        <a:t>Every Service</a:t>
                      </a:r>
                      <a:endParaRPr sz="1100"/>
                    </a:p>
                    <a:p>
                      <a:pPr indent="-215900" lvl="0" marL="215900" marR="0" rtl="0" algn="l">
                        <a:spcBef>
                          <a:spcPts val="0"/>
                        </a:spcBef>
                        <a:spcAft>
                          <a:spcPts val="0"/>
                        </a:spcAft>
                        <a:buClr>
                          <a:schemeClr val="dk1"/>
                        </a:buClr>
                        <a:buSzPts val="1400"/>
                        <a:buFont typeface="Arial"/>
                        <a:buChar char="•"/>
                      </a:pPr>
                      <a:r>
                        <a:rPr lang="vi" sz="1400"/>
                        <a:t>When use trigger APIs</a:t>
                      </a:r>
                      <a:endParaRPr sz="14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vi" sz="1400"/>
                        <a:t>active</a:t>
                      </a:r>
                      <a:endParaRPr sz="14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vi" sz="1400"/>
                        <a:t>User Service</a:t>
                      </a:r>
                      <a:endParaRPr sz="1100"/>
                    </a:p>
                    <a:p>
                      <a:pPr indent="-215900" lvl="0" marL="215900" marR="0" rtl="0" algn="l">
                        <a:spcBef>
                          <a:spcPts val="0"/>
                        </a:spcBef>
                        <a:spcAft>
                          <a:spcPts val="0"/>
                        </a:spcAft>
                        <a:buClr>
                          <a:schemeClr val="dk1"/>
                        </a:buClr>
                        <a:buSzPts val="1400"/>
                        <a:buFont typeface="Arial"/>
                        <a:buChar char="•"/>
                      </a:pPr>
                      <a:r>
                        <a:rPr lang="vi" sz="1400"/>
                        <a:t>Update last active</a:t>
                      </a:r>
                      <a:endParaRPr sz="14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7"/>
          <p:cNvSpPr txBox="1"/>
          <p:nvPr>
            <p:ph type="title"/>
          </p:nvPr>
        </p:nvSpPr>
        <p:spPr>
          <a:xfrm>
            <a:off x="787195" y="247756"/>
            <a:ext cx="7886700" cy="3345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2100"/>
              <a:buFont typeface="Arial"/>
              <a:buNone/>
            </a:pPr>
            <a:r>
              <a:rPr b="1" lang="vi" sz="2100">
                <a:latin typeface="Arial"/>
                <a:ea typeface="Arial"/>
                <a:cs typeface="Arial"/>
                <a:sym typeface="Arial"/>
              </a:rPr>
              <a:t>Producer-Consumer Interactions - SYNC</a:t>
            </a:r>
            <a:endParaRPr sz="2100">
              <a:latin typeface="Arial"/>
              <a:ea typeface="Arial"/>
              <a:cs typeface="Arial"/>
              <a:sym typeface="Arial"/>
            </a:endParaRPr>
          </a:p>
        </p:txBody>
      </p:sp>
      <p:graphicFrame>
        <p:nvGraphicFramePr>
          <p:cNvPr id="292" name="Google Shape;292;p47"/>
          <p:cNvGraphicFramePr/>
          <p:nvPr/>
        </p:nvGraphicFramePr>
        <p:xfrm>
          <a:off x="787195" y="637465"/>
          <a:ext cx="3000000" cy="3000000"/>
        </p:xfrm>
        <a:graphic>
          <a:graphicData uri="http://schemas.openxmlformats.org/drawingml/2006/table">
            <a:tbl>
              <a:tblPr bandRow="1" firstRow="1">
                <a:noFill/>
                <a:tableStyleId>{AF019049-BCBF-475E-B298-90896E157E7F}</a:tableStyleId>
              </a:tblPr>
              <a:tblGrid>
                <a:gridCol w="4685300"/>
                <a:gridCol w="2504525"/>
              </a:tblGrid>
              <a:tr h="313850">
                <a:tc>
                  <a:txBody>
                    <a:bodyPr/>
                    <a:lstStyle/>
                    <a:p>
                      <a:pPr indent="0" lvl="0" marL="0" marR="0" rtl="0" algn="ctr">
                        <a:spcBef>
                          <a:spcPts val="0"/>
                        </a:spcBef>
                        <a:spcAft>
                          <a:spcPts val="0"/>
                        </a:spcAft>
                        <a:buNone/>
                      </a:pPr>
                      <a:r>
                        <a:rPr b="1" lang="vi" sz="1400"/>
                        <a:t>Producer</a:t>
                      </a:r>
                      <a:endParaRPr b="1" sz="14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vi" sz="1400"/>
                        <a:t>Consumer</a:t>
                      </a:r>
                      <a:endParaRPr b="1" sz="14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r>
              <a:tr h="676700">
                <a:tc>
                  <a:txBody>
                    <a:bodyPr/>
                    <a:lstStyle/>
                    <a:p>
                      <a:pPr indent="0" lvl="0" marL="0" marR="0" rtl="0" algn="l">
                        <a:spcBef>
                          <a:spcPts val="0"/>
                        </a:spcBef>
                        <a:spcAft>
                          <a:spcPts val="0"/>
                        </a:spcAft>
                        <a:buNone/>
                      </a:pPr>
                      <a:r>
                        <a:rPr lang="vi" sz="1400"/>
                        <a:t>User Service</a:t>
                      </a:r>
                      <a:endParaRPr sz="1100"/>
                    </a:p>
                    <a:p>
                      <a:pPr indent="-215900" lvl="0" marL="215900" marR="0" rtl="0" algn="l">
                        <a:spcBef>
                          <a:spcPts val="0"/>
                        </a:spcBef>
                        <a:spcAft>
                          <a:spcPts val="0"/>
                        </a:spcAft>
                        <a:buClr>
                          <a:schemeClr val="dk1"/>
                        </a:buClr>
                        <a:buSzPts val="1400"/>
                        <a:buFont typeface="Arial"/>
                        <a:buChar char="•"/>
                      </a:pPr>
                      <a:r>
                        <a:rPr lang="vi" sz="1400"/>
                        <a:t>GET /api/v1/users/{userId}</a:t>
                      </a:r>
                      <a:endParaRPr sz="1100"/>
                    </a:p>
                    <a:p>
                      <a:pPr indent="-215900" lvl="0" marL="215900" marR="0" rtl="0" algn="l">
                        <a:lnSpc>
                          <a:spcPct val="100000"/>
                        </a:lnSpc>
                        <a:spcBef>
                          <a:spcPts val="0"/>
                        </a:spcBef>
                        <a:spcAft>
                          <a:spcPts val="0"/>
                        </a:spcAft>
                        <a:buClr>
                          <a:schemeClr val="dk1"/>
                        </a:buClr>
                        <a:buSzPts val="1400"/>
                        <a:buFont typeface="Arial"/>
                        <a:buChar char="•"/>
                      </a:pPr>
                      <a:r>
                        <a:rPr lang="vi" sz="1400">
                          <a:solidFill>
                            <a:schemeClr val="dk1"/>
                          </a:solidFill>
                          <a:latin typeface="Arial"/>
                          <a:ea typeface="Arial"/>
                          <a:cs typeface="Arial"/>
                          <a:sym typeface="Arial"/>
                        </a:rPr>
                        <a:t>POST /api/v1/users/batch/get</a:t>
                      </a:r>
                      <a:endParaRPr sz="11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vi" sz="1400"/>
                        <a:t>Engagement Service</a:t>
                      </a:r>
                      <a:endParaRPr sz="1100"/>
                    </a:p>
                    <a:p>
                      <a:pPr indent="0" lvl="0" marL="0" marR="0" rtl="0" algn="l">
                        <a:spcBef>
                          <a:spcPts val="0"/>
                        </a:spcBef>
                        <a:spcAft>
                          <a:spcPts val="0"/>
                        </a:spcAft>
                        <a:buNone/>
                      </a:pPr>
                      <a:r>
                        <a:rPr lang="vi" sz="1400"/>
                        <a:t>Analytics Service</a:t>
                      </a:r>
                      <a:endParaRPr sz="14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r>
              <a:tr h="1082725">
                <a:tc>
                  <a:txBody>
                    <a:bodyPr/>
                    <a:lstStyle/>
                    <a:p>
                      <a:pPr indent="0" lvl="0" marL="0" marR="0" rtl="0" algn="l">
                        <a:spcBef>
                          <a:spcPts val="0"/>
                        </a:spcBef>
                        <a:spcAft>
                          <a:spcPts val="0"/>
                        </a:spcAft>
                        <a:buNone/>
                      </a:pPr>
                      <a:r>
                        <a:rPr lang="vi" sz="1400"/>
                        <a:t>Content Service</a:t>
                      </a:r>
                      <a:endParaRPr sz="1100"/>
                    </a:p>
                    <a:p>
                      <a:pPr indent="-215900" lvl="0" marL="215900" marR="0" rtl="0" algn="l">
                        <a:spcBef>
                          <a:spcPts val="0"/>
                        </a:spcBef>
                        <a:spcAft>
                          <a:spcPts val="0"/>
                        </a:spcAft>
                        <a:buClr>
                          <a:schemeClr val="dk1"/>
                        </a:buClr>
                        <a:buSzPts val="1400"/>
                        <a:buFont typeface="Arial"/>
                        <a:buChar char="•"/>
                      </a:pPr>
                      <a:r>
                        <a:rPr lang="vi" sz="1400"/>
                        <a:t>GET /api/v1/novels/{novelId}</a:t>
                      </a:r>
                      <a:endParaRPr sz="1100"/>
                    </a:p>
                    <a:p>
                      <a:pPr indent="-215900" lvl="0" marL="215900" marR="0" rtl="0" algn="l">
                        <a:spcBef>
                          <a:spcPts val="0"/>
                        </a:spcBef>
                        <a:spcAft>
                          <a:spcPts val="0"/>
                        </a:spcAft>
                        <a:buClr>
                          <a:schemeClr val="dk1"/>
                        </a:buClr>
                        <a:buSzPts val="1400"/>
                        <a:buFont typeface="Arial"/>
                        <a:buChar char="•"/>
                      </a:pPr>
                      <a:r>
                        <a:rPr lang="vi" sz="1400"/>
                        <a:t>POST /api/v1/novels/batch/get</a:t>
                      </a:r>
                      <a:endParaRPr sz="1100"/>
                    </a:p>
                    <a:p>
                      <a:pPr indent="-215900" lvl="0" marL="215900" marR="0" rtl="0" algn="l">
                        <a:spcBef>
                          <a:spcPts val="0"/>
                        </a:spcBef>
                        <a:spcAft>
                          <a:spcPts val="0"/>
                        </a:spcAft>
                        <a:buClr>
                          <a:schemeClr val="dk1"/>
                        </a:buClr>
                        <a:buSzPts val="1400"/>
                        <a:buFont typeface="Arial"/>
                        <a:buChar char="•"/>
                      </a:pPr>
                      <a:r>
                        <a:rPr lang="vi" sz="1400"/>
                        <a:t>GET /api/v1/chapters/{chapterId}</a:t>
                      </a:r>
                      <a:endParaRPr sz="1100"/>
                    </a:p>
                    <a:p>
                      <a:pPr indent="-215900" lvl="0" marL="215900" marR="0" rtl="0" algn="l">
                        <a:spcBef>
                          <a:spcPts val="0"/>
                        </a:spcBef>
                        <a:spcAft>
                          <a:spcPts val="0"/>
                        </a:spcAft>
                        <a:buClr>
                          <a:schemeClr val="dk1"/>
                        </a:buClr>
                        <a:buSzPts val="1400"/>
                        <a:buFont typeface="Arial"/>
                        <a:buChar char="•"/>
                      </a:pPr>
                      <a:r>
                        <a:rPr lang="vi" sz="1400"/>
                        <a:t>POST /api/v1/chapters/batch/get</a:t>
                      </a:r>
                      <a:endParaRPr sz="11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vi" sz="1400"/>
                        <a:t>User service</a:t>
                      </a:r>
                      <a:endParaRPr sz="1100"/>
                    </a:p>
                    <a:p>
                      <a:pPr indent="0" lvl="0" marL="0" marR="0" rtl="0" algn="l">
                        <a:spcBef>
                          <a:spcPts val="0"/>
                        </a:spcBef>
                        <a:spcAft>
                          <a:spcPts val="0"/>
                        </a:spcAft>
                        <a:buNone/>
                      </a:pPr>
                      <a:r>
                        <a:rPr lang="vi" sz="1400"/>
                        <a:t>Engagement Service</a:t>
                      </a:r>
                      <a:endParaRPr sz="1100"/>
                    </a:p>
                    <a:p>
                      <a:pPr indent="0" lvl="0" marL="0" marR="0" rtl="0" algn="l">
                        <a:lnSpc>
                          <a:spcPct val="100000"/>
                        </a:lnSpc>
                        <a:spcBef>
                          <a:spcPts val="0"/>
                        </a:spcBef>
                        <a:spcAft>
                          <a:spcPts val="0"/>
                        </a:spcAft>
                        <a:buClr>
                          <a:schemeClr val="dk1"/>
                        </a:buClr>
                        <a:buSzPts val="1400"/>
                        <a:buFont typeface="Arial"/>
                        <a:buNone/>
                      </a:pPr>
                      <a:r>
                        <a:rPr lang="vi" sz="1400"/>
                        <a:t>Analytics Service</a:t>
                      </a:r>
                      <a:endParaRPr sz="14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r>
              <a:tr h="357150">
                <a:tc>
                  <a:txBody>
                    <a:bodyPr/>
                    <a:lstStyle/>
                    <a:p>
                      <a:pPr indent="0" lvl="0" marL="0" marR="0" rtl="0" algn="l">
                        <a:spcBef>
                          <a:spcPts val="0"/>
                        </a:spcBef>
                        <a:spcAft>
                          <a:spcPts val="0"/>
                        </a:spcAft>
                        <a:buClr>
                          <a:schemeClr val="dk1"/>
                        </a:buClr>
                        <a:buSzPts val="1400"/>
                        <a:buFont typeface="Arial"/>
                        <a:buNone/>
                      </a:pPr>
                      <a:r>
                        <a:rPr lang="vi" sz="1400"/>
                        <a:t>Content Service</a:t>
                      </a:r>
                      <a:endParaRPr sz="1100"/>
                    </a:p>
                    <a:p>
                      <a:pPr indent="-215900" lvl="0" marL="215900" marR="0" rtl="0" algn="l">
                        <a:lnSpc>
                          <a:spcPct val="100000"/>
                        </a:lnSpc>
                        <a:spcBef>
                          <a:spcPts val="0"/>
                        </a:spcBef>
                        <a:spcAft>
                          <a:spcPts val="0"/>
                        </a:spcAft>
                        <a:buClr>
                          <a:schemeClr val="dk1"/>
                        </a:buClr>
                        <a:buSzPts val="1400"/>
                        <a:buFont typeface="Arial"/>
                        <a:buChar char="•"/>
                      </a:pPr>
                      <a:r>
                        <a:rPr lang="vi" sz="1400">
                          <a:solidFill>
                            <a:schemeClr val="dk1"/>
                          </a:solidFill>
                          <a:latin typeface="Arial"/>
                          <a:ea typeface="Arial"/>
                          <a:cs typeface="Arial"/>
                          <a:sym typeface="Arial"/>
                        </a:rPr>
                        <a:t>GET /api/v1/novels/{novelId}/vote-count</a:t>
                      </a:r>
                      <a:endParaRPr sz="1100"/>
                    </a:p>
                    <a:p>
                      <a:pPr indent="-215900" lvl="0" marL="215900" marR="0" rtl="0" algn="l">
                        <a:lnSpc>
                          <a:spcPct val="100000"/>
                        </a:lnSpc>
                        <a:spcBef>
                          <a:spcPts val="0"/>
                        </a:spcBef>
                        <a:spcAft>
                          <a:spcPts val="0"/>
                        </a:spcAft>
                        <a:buClr>
                          <a:schemeClr val="dk1"/>
                        </a:buClr>
                        <a:buSzPts val="1400"/>
                        <a:buFont typeface="Arial"/>
                        <a:buChar char="•"/>
                      </a:pPr>
                      <a:r>
                        <a:rPr lang="vi" sz="1400">
                          <a:solidFill>
                            <a:schemeClr val="dk1"/>
                          </a:solidFill>
                          <a:latin typeface="Arial"/>
                          <a:ea typeface="Arial"/>
                          <a:cs typeface="Arial"/>
                          <a:sym typeface="Arial"/>
                        </a:rPr>
                        <a:t>POST /api/v1/novels/{novelId}/vote</a:t>
                      </a:r>
                      <a:endParaRPr sz="1100"/>
                    </a:p>
                    <a:p>
                      <a:pPr indent="-215900" lvl="0" marL="215900" marR="0" rtl="0" algn="l">
                        <a:lnSpc>
                          <a:spcPct val="100000"/>
                        </a:lnSpc>
                        <a:spcBef>
                          <a:spcPts val="0"/>
                        </a:spcBef>
                        <a:spcAft>
                          <a:spcPts val="0"/>
                        </a:spcAft>
                        <a:buClr>
                          <a:schemeClr val="dk1"/>
                        </a:buClr>
                        <a:buSzPts val="1400"/>
                        <a:buFont typeface="Arial"/>
                        <a:buChar char="•"/>
                      </a:pPr>
                      <a:r>
                        <a:rPr lang="vi" sz="1400">
                          <a:solidFill>
                            <a:schemeClr val="dk1"/>
                          </a:solidFill>
                          <a:latin typeface="Arial"/>
                          <a:ea typeface="Arial"/>
                          <a:cs typeface="Arial"/>
                          <a:sym typeface="Arial"/>
                        </a:rPr>
                        <a:t>PUT /api/v1/novels/{novelId}/rating</a:t>
                      </a:r>
                      <a:endParaRPr sz="1100"/>
                    </a:p>
                    <a:p>
                      <a:pPr indent="-215900" lvl="0" marL="215900" marR="0" rtl="0" algn="l">
                        <a:lnSpc>
                          <a:spcPct val="100000"/>
                        </a:lnSpc>
                        <a:spcBef>
                          <a:spcPts val="0"/>
                        </a:spcBef>
                        <a:spcAft>
                          <a:spcPts val="0"/>
                        </a:spcAft>
                        <a:buClr>
                          <a:schemeClr val="dk1"/>
                        </a:buClr>
                        <a:buSzPts val="1400"/>
                        <a:buFont typeface="Arial"/>
                        <a:buChar char="•"/>
                      </a:pPr>
                      <a:r>
                        <a:rPr lang="vi" sz="1400">
                          <a:solidFill>
                            <a:schemeClr val="dk1"/>
                          </a:solidFill>
                          <a:latin typeface="Arial"/>
                          <a:ea typeface="Arial"/>
                          <a:cs typeface="Arial"/>
                          <a:sym typeface="Arial"/>
                        </a:rPr>
                        <a:t>GET /api/v1/chapters/novel/{novelId}</a:t>
                      </a:r>
                      <a:endParaRPr sz="11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rial"/>
                        <a:buNone/>
                      </a:pPr>
                      <a:r>
                        <a:rPr lang="vi" sz="1400"/>
                        <a:t>Engagement Service</a:t>
                      </a:r>
                      <a:endParaRPr sz="11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r>
              <a:tr h="357150">
                <a:tc>
                  <a:txBody>
                    <a:bodyPr/>
                    <a:lstStyle/>
                    <a:p>
                      <a:pPr indent="0" lvl="0" marL="0" marR="0" rtl="0" algn="l">
                        <a:lnSpc>
                          <a:spcPct val="100000"/>
                        </a:lnSpc>
                        <a:spcBef>
                          <a:spcPts val="0"/>
                        </a:spcBef>
                        <a:spcAft>
                          <a:spcPts val="0"/>
                        </a:spcAft>
                        <a:buClr>
                          <a:schemeClr val="dk1"/>
                        </a:buClr>
                        <a:buSzPts val="1400"/>
                        <a:buFont typeface="Arial"/>
                        <a:buNone/>
                      </a:pPr>
                      <a:r>
                        <a:rPr lang="vi" sz="1400"/>
                        <a:t>Gamification Service</a:t>
                      </a:r>
                      <a:endParaRPr sz="1100"/>
                    </a:p>
                    <a:p>
                      <a:pPr indent="-215900" lvl="0" marL="215900" marR="0" rtl="0" algn="l">
                        <a:spcBef>
                          <a:spcPts val="0"/>
                        </a:spcBef>
                        <a:spcAft>
                          <a:spcPts val="0"/>
                        </a:spcAft>
                        <a:buClr>
                          <a:schemeClr val="dk1"/>
                        </a:buClr>
                        <a:buSzPts val="1400"/>
                        <a:buFont typeface="Arial"/>
                        <a:buChar char="•"/>
                      </a:pPr>
                      <a:r>
                        <a:rPr lang="vi" sz="1400">
                          <a:solidFill>
                            <a:schemeClr val="dk1"/>
                          </a:solidFill>
                          <a:latin typeface="Arial"/>
                          <a:ea typeface="Arial"/>
                          <a:cs typeface="Arial"/>
                          <a:sym typeface="Arial"/>
                        </a:rPr>
                        <a:t>GET /api/v1/gamification/votes/check</a:t>
                      </a:r>
                      <a:endParaRPr sz="11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rial"/>
                        <a:buNone/>
                      </a:pPr>
                      <a:r>
                        <a:rPr lang="vi" sz="1400"/>
                        <a:t>Engagement service</a:t>
                      </a:r>
                      <a:endParaRPr sz="1100"/>
                    </a:p>
                    <a:p>
                      <a:pPr indent="0" lvl="0" marL="0" marR="0" rtl="0" algn="l">
                        <a:lnSpc>
                          <a:spcPct val="100000"/>
                        </a:lnSpc>
                        <a:spcBef>
                          <a:spcPts val="0"/>
                        </a:spcBef>
                        <a:spcAft>
                          <a:spcPts val="0"/>
                        </a:spcAft>
                        <a:buClr>
                          <a:schemeClr val="dk1"/>
                        </a:buClr>
                        <a:buSzPts val="1400"/>
                        <a:buFont typeface="Arial"/>
                        <a:buNone/>
                      </a:pPr>
                      <a:r>
                        <a:t/>
                      </a:r>
                      <a:endParaRPr sz="14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r>
              <a:tr h="357150">
                <a:tc>
                  <a:txBody>
                    <a:bodyPr/>
                    <a:lstStyle/>
                    <a:p>
                      <a:pPr indent="0" lvl="0" marL="0" marR="0" rtl="0" algn="l">
                        <a:spcBef>
                          <a:spcPts val="0"/>
                        </a:spcBef>
                        <a:spcAft>
                          <a:spcPts val="0"/>
                        </a:spcAft>
                        <a:buClr>
                          <a:schemeClr val="dk1"/>
                        </a:buClr>
                        <a:buSzPts val="1400"/>
                        <a:buFont typeface="Arial"/>
                        <a:buNone/>
                      </a:pPr>
                      <a:r>
                        <a:rPr lang="vi" sz="1400">
                          <a:solidFill>
                            <a:schemeClr val="dk1"/>
                          </a:solidFill>
                          <a:latin typeface="Arial"/>
                          <a:ea typeface="Arial"/>
                          <a:cs typeface="Arial"/>
                          <a:sym typeface="Arial"/>
                        </a:rPr>
                        <a:t>Gamification Service</a:t>
                      </a:r>
                      <a:endParaRPr sz="1100"/>
                    </a:p>
                    <a:p>
                      <a:pPr indent="-215900" lvl="0" marL="215900" marR="0" rtl="0" algn="l">
                        <a:spcBef>
                          <a:spcPts val="0"/>
                        </a:spcBef>
                        <a:spcAft>
                          <a:spcPts val="0"/>
                        </a:spcAft>
                        <a:buClr>
                          <a:schemeClr val="dk1"/>
                        </a:buClr>
                        <a:buSzPts val="1400"/>
                        <a:buFont typeface="Arial"/>
                        <a:buChar char="•"/>
                      </a:pPr>
                      <a:r>
                        <a:rPr lang="vi" sz="1400">
                          <a:solidFill>
                            <a:schemeClr val="dk1"/>
                          </a:solidFill>
                          <a:latin typeface="Arial"/>
                          <a:ea typeface="Arial"/>
                          <a:cs typeface="Arial"/>
                          <a:sym typeface="Arial"/>
                        </a:rPr>
                        <a:t>GET /api/v1/gamification/rank</a:t>
                      </a:r>
                      <a:endParaRPr sz="11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rial"/>
                        <a:buNone/>
                      </a:pPr>
                      <a:r>
                        <a:rPr lang="vi" sz="1400"/>
                        <a:t>Analytics Service</a:t>
                      </a:r>
                      <a:endParaRPr sz="1400"/>
                    </a:p>
                  </a:txBody>
                  <a:tcPr marT="34300" marB="34300" marR="68600" marL="68600">
                    <a:lnL cap="flat" cmpd="sng" w="7150">
                      <a:solidFill>
                        <a:schemeClr val="dk1"/>
                      </a:solidFill>
                      <a:prstDash val="solid"/>
                      <a:round/>
                      <a:headEnd len="sm" w="sm" type="none"/>
                      <a:tailEnd len="sm" w="sm" type="none"/>
                    </a:lnL>
                    <a:lnR cap="flat" cmpd="sng" w="7150">
                      <a:solidFill>
                        <a:schemeClr val="dk1"/>
                      </a:solidFill>
                      <a:prstDash val="solid"/>
                      <a:round/>
                      <a:headEnd len="sm" w="sm" type="none"/>
                      <a:tailEnd len="sm" w="sm" type="none"/>
                    </a:lnR>
                    <a:lnT cap="flat" cmpd="sng" w="7150">
                      <a:solidFill>
                        <a:schemeClr val="dk1"/>
                      </a:solidFill>
                      <a:prstDash val="solid"/>
                      <a:round/>
                      <a:headEnd len="sm" w="sm" type="none"/>
                      <a:tailEnd len="sm" w="sm" type="none"/>
                    </a:lnT>
                    <a:lnB cap="flat" cmpd="sng" w="7150">
                      <a:solidFill>
                        <a:schemeClr val="dk1"/>
                      </a:solidFill>
                      <a:prstDash val="solid"/>
                      <a:round/>
                      <a:headEnd len="sm" w="sm" type="none"/>
                      <a:tailEnd len="sm" w="sm" type="none"/>
                    </a:lnB>
                  </a:tcPr>
                </a:tc>
              </a:tr>
            </a:tbl>
          </a:graphicData>
        </a:graphic>
      </p:graphicFrame>
      <p:sp>
        <p:nvSpPr>
          <p:cNvPr id="293" name="Google Shape;293;p47"/>
          <p:cNvSpPr txBox="1"/>
          <p:nvPr/>
        </p:nvSpPr>
        <p:spPr>
          <a:xfrm>
            <a:off x="2286391" y="2433251"/>
            <a:ext cx="45726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vi" sz="1400">
                <a:solidFill>
                  <a:schemeClr val="dk1"/>
                </a:solidFill>
                <a:latin typeface="Arial"/>
                <a:ea typeface="Arial"/>
                <a:cs typeface="Arial"/>
                <a:sym typeface="Arial"/>
              </a:rPr>
              <a:t> </a:t>
            </a:r>
            <a:endParaRPr sz="1400">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8"/>
          <p:cNvSpPr txBox="1"/>
          <p:nvPr>
            <p:ph type="ctrTitle"/>
          </p:nvPr>
        </p:nvSpPr>
        <p:spPr>
          <a:xfrm>
            <a:off x="206575" y="1237950"/>
            <a:ext cx="8742000" cy="872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vi" sz="3050"/>
              <a:t>Yushan Platform - Physical Architecture &amp; Design</a:t>
            </a:r>
            <a:endParaRPr sz="3050"/>
          </a:p>
        </p:txBody>
      </p:sp>
      <p:sp>
        <p:nvSpPr>
          <p:cNvPr id="299" name="Google Shape;299;p48"/>
          <p:cNvSpPr txBox="1"/>
          <p:nvPr/>
        </p:nvSpPr>
        <p:spPr>
          <a:xfrm>
            <a:off x="2990675" y="2110050"/>
            <a:ext cx="5958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vi" sz="1800">
                <a:solidFill>
                  <a:schemeClr val="accent3"/>
                </a:solidFill>
                <a:latin typeface="Average"/>
                <a:ea typeface="Average"/>
                <a:cs typeface="Average"/>
                <a:sym typeface="Average"/>
              </a:rPr>
              <a:t>—— Decisions, Deployment, Persistence, User flow</a:t>
            </a:r>
            <a:endParaRPr sz="1800">
              <a:solidFill>
                <a:schemeClr val="accent3"/>
              </a:solidFill>
              <a:latin typeface="Average"/>
              <a:ea typeface="Average"/>
              <a:cs typeface="Average"/>
              <a:sym typeface="Average"/>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vi"/>
              <a:t>Key Architectural Decisions</a:t>
            </a:r>
            <a:endParaRPr/>
          </a:p>
          <a:p>
            <a:pPr indent="0" lvl="0" marL="0" rtl="0" algn="l">
              <a:spcBef>
                <a:spcPts val="0"/>
              </a:spcBef>
              <a:spcAft>
                <a:spcPts val="0"/>
              </a:spcAft>
              <a:buNone/>
            </a:pPr>
            <a:r>
              <a:t/>
            </a:r>
            <a:endParaRPr/>
          </a:p>
        </p:txBody>
      </p:sp>
      <p:sp>
        <p:nvSpPr>
          <p:cNvPr id="305" name="Google Shape;305;p49"/>
          <p:cNvSpPr txBox="1"/>
          <p:nvPr>
            <p:ph idx="1" type="body"/>
          </p:nvPr>
        </p:nvSpPr>
        <p:spPr>
          <a:xfrm>
            <a:off x="210649" y="1021116"/>
            <a:ext cx="8832300" cy="4280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accent2"/>
              </a:buClr>
              <a:buSzPts val="1800"/>
              <a:buChar char="❏"/>
            </a:pPr>
            <a:r>
              <a:rPr b="1" lang="vi">
                <a:solidFill>
                  <a:schemeClr val="accent2"/>
                </a:solidFill>
              </a:rPr>
              <a:t>Microservices</a:t>
            </a:r>
            <a:endParaRPr b="1">
              <a:solidFill>
                <a:schemeClr val="accent2"/>
              </a:solidFill>
            </a:endParaRPr>
          </a:p>
          <a:p>
            <a:pPr indent="-317500" lvl="1" marL="914400" rtl="0" algn="l">
              <a:spcBef>
                <a:spcPts val="0"/>
              </a:spcBef>
              <a:spcAft>
                <a:spcPts val="0"/>
              </a:spcAft>
              <a:buClr>
                <a:schemeClr val="accent2"/>
              </a:buClr>
              <a:buSzPts val="1400"/>
              <a:buChar char="❏"/>
            </a:pPr>
            <a:r>
              <a:rPr lang="vi">
                <a:solidFill>
                  <a:schemeClr val="accent2"/>
                </a:solidFill>
              </a:rPr>
              <a:t>domain-split services — user, content, engagement, gamification, analytics</a:t>
            </a:r>
            <a:endParaRPr>
              <a:solidFill>
                <a:schemeClr val="accent2"/>
              </a:solidFill>
            </a:endParaRPr>
          </a:p>
          <a:p>
            <a:pPr indent="-342900" lvl="0" marL="457200" rtl="0" algn="l">
              <a:spcBef>
                <a:spcPts val="0"/>
              </a:spcBef>
              <a:spcAft>
                <a:spcPts val="0"/>
              </a:spcAft>
              <a:buClr>
                <a:schemeClr val="accent2"/>
              </a:buClr>
              <a:buSzPts val="1800"/>
              <a:buChar char="❏"/>
            </a:pPr>
            <a:r>
              <a:rPr b="1" lang="vi">
                <a:solidFill>
                  <a:schemeClr val="accent2"/>
                </a:solidFill>
              </a:rPr>
              <a:t>Dockerized Java backends (Spring Boot)</a:t>
            </a:r>
            <a:endParaRPr b="1">
              <a:solidFill>
                <a:schemeClr val="accent2"/>
              </a:solidFill>
            </a:endParaRPr>
          </a:p>
          <a:p>
            <a:pPr indent="-317500" lvl="1" marL="914400" rtl="0" algn="l">
              <a:spcBef>
                <a:spcPts val="0"/>
              </a:spcBef>
              <a:spcAft>
                <a:spcPts val="0"/>
              </a:spcAft>
              <a:buClr>
                <a:schemeClr val="accent2"/>
              </a:buClr>
              <a:buSzPts val="1400"/>
              <a:buChar char="❏"/>
            </a:pPr>
            <a:r>
              <a:rPr lang="vi">
                <a:solidFill>
                  <a:schemeClr val="accent2"/>
                </a:solidFill>
              </a:rPr>
              <a:t>container deployment units</a:t>
            </a:r>
            <a:endParaRPr>
              <a:solidFill>
                <a:schemeClr val="accent2"/>
              </a:solidFill>
            </a:endParaRPr>
          </a:p>
          <a:p>
            <a:pPr indent="-342900" lvl="0" marL="457200" rtl="0" algn="l">
              <a:spcBef>
                <a:spcPts val="0"/>
              </a:spcBef>
              <a:spcAft>
                <a:spcPts val="0"/>
              </a:spcAft>
              <a:buClr>
                <a:schemeClr val="accent2"/>
              </a:buClr>
              <a:buSzPts val="1800"/>
              <a:buChar char="❏"/>
            </a:pPr>
            <a:r>
              <a:rPr b="1" lang="vi">
                <a:solidFill>
                  <a:schemeClr val="accent2"/>
                </a:solidFill>
              </a:rPr>
              <a:t>Infrastructure</a:t>
            </a:r>
            <a:r>
              <a:rPr lang="vi">
                <a:solidFill>
                  <a:schemeClr val="accent2"/>
                </a:solidFill>
              </a:rPr>
              <a:t> on </a:t>
            </a:r>
            <a:r>
              <a:rPr b="1" lang="vi">
                <a:solidFill>
                  <a:schemeClr val="accent2"/>
                </a:solidFill>
              </a:rPr>
              <a:t>DigitalOcean</a:t>
            </a:r>
            <a:r>
              <a:rPr lang="vi">
                <a:solidFill>
                  <a:schemeClr val="accent2"/>
                </a:solidFill>
              </a:rPr>
              <a:t>, provisioned with </a:t>
            </a:r>
            <a:r>
              <a:rPr b="1" lang="vi">
                <a:solidFill>
                  <a:schemeClr val="accent2"/>
                </a:solidFill>
              </a:rPr>
              <a:t>Terraform</a:t>
            </a:r>
            <a:endParaRPr b="1">
              <a:solidFill>
                <a:schemeClr val="accent2"/>
              </a:solidFill>
            </a:endParaRPr>
          </a:p>
          <a:p>
            <a:pPr indent="-342900" lvl="0" marL="457200" rtl="0" algn="l">
              <a:spcBef>
                <a:spcPts val="0"/>
              </a:spcBef>
              <a:spcAft>
                <a:spcPts val="0"/>
              </a:spcAft>
              <a:buClr>
                <a:schemeClr val="accent2"/>
              </a:buClr>
              <a:buSzPts val="1800"/>
              <a:buChar char="❏"/>
            </a:pPr>
            <a:r>
              <a:rPr b="1" lang="vi">
                <a:solidFill>
                  <a:schemeClr val="accent2"/>
                </a:solidFill>
              </a:rPr>
              <a:t>Centralized runtime</a:t>
            </a:r>
            <a:endParaRPr>
              <a:solidFill>
                <a:schemeClr val="accent2"/>
              </a:solidFill>
            </a:endParaRPr>
          </a:p>
          <a:p>
            <a:pPr indent="-317500" lvl="1" marL="914400" rtl="0" algn="l">
              <a:spcBef>
                <a:spcPts val="0"/>
              </a:spcBef>
              <a:spcAft>
                <a:spcPts val="0"/>
              </a:spcAft>
              <a:buClr>
                <a:schemeClr val="accent2"/>
              </a:buClr>
              <a:buSzPts val="1400"/>
              <a:buChar char="❏"/>
            </a:pPr>
            <a:r>
              <a:rPr lang="vi">
                <a:solidFill>
                  <a:schemeClr val="accent2"/>
                </a:solidFill>
              </a:rPr>
              <a:t>Config Server &amp; Eureka (service discovery)</a:t>
            </a:r>
            <a:endParaRPr>
              <a:solidFill>
                <a:schemeClr val="accent2"/>
              </a:solidFill>
            </a:endParaRPr>
          </a:p>
          <a:p>
            <a:pPr indent="-342900" lvl="0" marL="457200" rtl="0" algn="l">
              <a:spcBef>
                <a:spcPts val="0"/>
              </a:spcBef>
              <a:spcAft>
                <a:spcPts val="0"/>
              </a:spcAft>
              <a:buClr>
                <a:schemeClr val="accent2"/>
              </a:buClr>
              <a:buSzPts val="1800"/>
              <a:buChar char="❏"/>
            </a:pPr>
            <a:r>
              <a:rPr lang="vi">
                <a:solidFill>
                  <a:schemeClr val="accent2"/>
                </a:solidFill>
              </a:rPr>
              <a:t>Single </a:t>
            </a:r>
            <a:r>
              <a:rPr b="1" lang="vi">
                <a:solidFill>
                  <a:schemeClr val="accent2"/>
                </a:solidFill>
              </a:rPr>
              <a:t>API Gateway</a:t>
            </a:r>
            <a:r>
              <a:rPr lang="vi">
                <a:solidFill>
                  <a:schemeClr val="accent2"/>
                </a:solidFill>
              </a:rPr>
              <a:t> as public entry</a:t>
            </a:r>
            <a:endParaRPr>
              <a:solidFill>
                <a:schemeClr val="accent2"/>
              </a:solidFill>
            </a:endParaRPr>
          </a:p>
          <a:p>
            <a:pPr indent="-292100" lvl="1" marL="914400" rtl="0" algn="l">
              <a:spcBef>
                <a:spcPts val="0"/>
              </a:spcBef>
              <a:spcAft>
                <a:spcPts val="0"/>
              </a:spcAft>
              <a:buClr>
                <a:schemeClr val="accent5"/>
              </a:buClr>
              <a:buSzPts val="1000"/>
              <a:buChar char="❏"/>
            </a:pPr>
            <a:r>
              <a:rPr lang="vi" u="sng">
                <a:solidFill>
                  <a:schemeClr val="accent5"/>
                </a:solidFill>
                <a:hlinkClick r:id="rId3">
                  <a:extLst>
                    <a:ext uri="{A12FA001-AC4F-418D-AE19-62706E023703}">
                      <ahyp:hlinkClr val="tx"/>
                    </a:ext>
                  </a:extLst>
                </a:hlinkClick>
              </a:rPr>
              <a:t>https://yushan.duckdns.org/api/v1</a:t>
            </a:r>
            <a:endParaRPr sz="1000">
              <a:solidFill>
                <a:schemeClr val="accent5"/>
              </a:solidFill>
            </a:endParaRPr>
          </a:p>
          <a:p>
            <a:pPr indent="-342900" lvl="0" marL="457200" rtl="0" algn="l">
              <a:spcBef>
                <a:spcPts val="0"/>
              </a:spcBef>
              <a:spcAft>
                <a:spcPts val="0"/>
              </a:spcAft>
              <a:buClr>
                <a:schemeClr val="accent2"/>
              </a:buClr>
              <a:buSzPts val="1800"/>
              <a:buChar char="❏"/>
            </a:pPr>
            <a:r>
              <a:rPr lang="vi">
                <a:solidFill>
                  <a:schemeClr val="accent2"/>
                </a:solidFill>
              </a:rPr>
              <a:t>DB-per-service using </a:t>
            </a:r>
            <a:r>
              <a:rPr b="1" lang="vi">
                <a:solidFill>
                  <a:schemeClr val="accent2"/>
                </a:solidFill>
              </a:rPr>
              <a:t>PostgreSQL</a:t>
            </a:r>
            <a:r>
              <a:rPr lang="vi">
                <a:solidFill>
                  <a:schemeClr val="accent2"/>
                </a:solidFill>
              </a:rPr>
              <a:t>; async events for decoupling; </a:t>
            </a:r>
            <a:r>
              <a:rPr b="1" lang="vi">
                <a:solidFill>
                  <a:schemeClr val="accent2"/>
                </a:solidFill>
              </a:rPr>
              <a:t>Redis</a:t>
            </a:r>
            <a:r>
              <a:rPr lang="vi">
                <a:solidFill>
                  <a:schemeClr val="accent2"/>
                </a:solidFill>
              </a:rPr>
              <a:t> for realtime counters</a:t>
            </a:r>
            <a:endParaRPr>
              <a:solidFill>
                <a:schemeClr val="accent2"/>
              </a:solidFill>
            </a:endParaRPr>
          </a:p>
          <a:p>
            <a:pPr indent="-342900" lvl="0" marL="457200" rtl="0" algn="l">
              <a:spcBef>
                <a:spcPts val="0"/>
              </a:spcBef>
              <a:spcAft>
                <a:spcPts val="0"/>
              </a:spcAft>
              <a:buClr>
                <a:schemeClr val="accent2"/>
              </a:buClr>
              <a:buSzPts val="1800"/>
              <a:buChar char="❏"/>
            </a:pPr>
            <a:r>
              <a:rPr b="1" lang="vi">
                <a:solidFill>
                  <a:schemeClr val="accent2"/>
                </a:solidFill>
              </a:rPr>
              <a:t>CI/CD</a:t>
            </a:r>
            <a:r>
              <a:rPr lang="vi">
                <a:solidFill>
                  <a:schemeClr val="accent2"/>
                </a:solidFill>
              </a:rPr>
              <a:t>: </a:t>
            </a:r>
            <a:endParaRPr>
              <a:solidFill>
                <a:schemeClr val="accent2"/>
              </a:solidFill>
            </a:endParaRPr>
          </a:p>
          <a:p>
            <a:pPr indent="-317500" lvl="1" marL="914400" rtl="0" algn="l">
              <a:spcBef>
                <a:spcPts val="0"/>
              </a:spcBef>
              <a:spcAft>
                <a:spcPts val="0"/>
              </a:spcAft>
              <a:buClr>
                <a:schemeClr val="accent3"/>
              </a:buClr>
              <a:buSzPts val="1400"/>
              <a:buChar char="❏"/>
            </a:pPr>
            <a:r>
              <a:rPr lang="vi" u="sng">
                <a:solidFill>
                  <a:schemeClr val="accent5"/>
                </a:solidFill>
                <a:hlinkClick r:id="rId4">
                  <a:extLst>
                    <a:ext uri="{A12FA001-AC4F-418D-AE19-62706E023703}">
                      <ahyp:hlinkClr val="tx"/>
                    </a:ext>
                  </a:extLst>
                </a:hlinkClick>
              </a:rPr>
              <a:t>https://github.com/maugus0/yushan-platform-frontend/actions</a:t>
            </a:r>
            <a:r>
              <a:rPr lang="vi">
                <a:solidFill>
                  <a:schemeClr val="accent3"/>
                </a:solidFill>
              </a:rPr>
              <a:t> </a:t>
            </a:r>
            <a:endParaRPr>
              <a:solidFill>
                <a:schemeClr val="accent3"/>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Physical Architecture</a:t>
            </a:r>
            <a:endParaRPr/>
          </a:p>
        </p:txBody>
      </p:sp>
      <p:sp>
        <p:nvSpPr>
          <p:cNvPr id="311" name="Google Shape;311;p50"/>
          <p:cNvSpPr txBox="1"/>
          <p:nvPr>
            <p:ph idx="1" type="body"/>
          </p:nvPr>
        </p:nvSpPr>
        <p:spPr>
          <a:xfrm>
            <a:off x="311700" y="1017725"/>
            <a:ext cx="8520600" cy="4193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accent2"/>
              </a:buClr>
              <a:buSzPts val="1800"/>
              <a:buChar char="❏"/>
            </a:pPr>
            <a:r>
              <a:rPr lang="vi">
                <a:solidFill>
                  <a:schemeClr val="accent2"/>
                </a:solidFill>
              </a:rPr>
              <a:t>Public layer:</a:t>
            </a:r>
            <a:endParaRPr>
              <a:solidFill>
                <a:schemeClr val="accent2"/>
              </a:solidFill>
            </a:endParaRPr>
          </a:p>
          <a:p>
            <a:pPr indent="-317500" lvl="1" marL="914400" rtl="0" algn="l">
              <a:spcBef>
                <a:spcPts val="0"/>
              </a:spcBef>
              <a:spcAft>
                <a:spcPts val="0"/>
              </a:spcAft>
              <a:buClr>
                <a:schemeClr val="accent2"/>
              </a:buClr>
              <a:buSzPts val="1400"/>
              <a:buChar char="❏"/>
            </a:pPr>
            <a:r>
              <a:rPr lang="vi">
                <a:solidFill>
                  <a:schemeClr val="accent2"/>
                </a:solidFill>
              </a:rPr>
              <a:t>Frontend CDN (</a:t>
            </a:r>
            <a:r>
              <a:rPr b="1" lang="vi">
                <a:solidFill>
                  <a:schemeClr val="accent2"/>
                </a:solidFill>
              </a:rPr>
              <a:t>GitHub Pages</a:t>
            </a:r>
            <a:r>
              <a:rPr lang="vi">
                <a:solidFill>
                  <a:schemeClr val="accent2"/>
                </a:solidFill>
              </a:rPr>
              <a:t>) → </a:t>
            </a:r>
            <a:r>
              <a:rPr b="1" lang="vi">
                <a:solidFill>
                  <a:schemeClr val="accent2"/>
                </a:solidFill>
              </a:rPr>
              <a:t>API Gateway </a:t>
            </a:r>
            <a:r>
              <a:rPr lang="vi">
                <a:solidFill>
                  <a:schemeClr val="accent2"/>
                </a:solidFill>
              </a:rPr>
              <a:t>(yushan.duckdns.org)</a:t>
            </a:r>
            <a:endParaRPr>
              <a:solidFill>
                <a:schemeClr val="accent2"/>
              </a:solidFill>
            </a:endParaRPr>
          </a:p>
          <a:p>
            <a:pPr indent="-342900" lvl="0" marL="457200" rtl="0" algn="l">
              <a:spcBef>
                <a:spcPts val="0"/>
              </a:spcBef>
              <a:spcAft>
                <a:spcPts val="0"/>
              </a:spcAft>
              <a:buClr>
                <a:schemeClr val="accent2"/>
              </a:buClr>
              <a:buSzPts val="1800"/>
              <a:buChar char="❏"/>
            </a:pPr>
            <a:r>
              <a:rPr lang="vi">
                <a:solidFill>
                  <a:schemeClr val="accent2"/>
                </a:solidFill>
              </a:rPr>
              <a:t>Control plane: </a:t>
            </a:r>
            <a:endParaRPr>
              <a:solidFill>
                <a:schemeClr val="accent2"/>
              </a:solidFill>
            </a:endParaRPr>
          </a:p>
          <a:p>
            <a:pPr indent="-317500" lvl="1" marL="914400" rtl="0" algn="l">
              <a:spcBef>
                <a:spcPts val="0"/>
              </a:spcBef>
              <a:spcAft>
                <a:spcPts val="0"/>
              </a:spcAft>
              <a:buClr>
                <a:schemeClr val="accent2"/>
              </a:buClr>
              <a:buSzPts val="1400"/>
              <a:buChar char="❏"/>
            </a:pPr>
            <a:r>
              <a:rPr lang="vi">
                <a:solidFill>
                  <a:schemeClr val="accent2"/>
                </a:solidFill>
              </a:rPr>
              <a:t>Infra </a:t>
            </a:r>
            <a:r>
              <a:rPr b="1" lang="vi">
                <a:solidFill>
                  <a:schemeClr val="accent2"/>
                </a:solidFill>
              </a:rPr>
              <a:t>droplet(s)</a:t>
            </a:r>
            <a:r>
              <a:rPr lang="vi">
                <a:solidFill>
                  <a:schemeClr val="accent2"/>
                </a:solidFill>
              </a:rPr>
              <a:t> — Nginx, API Gateway, Config Server, Eureka (Terraform-provisioned)</a:t>
            </a:r>
            <a:endParaRPr>
              <a:solidFill>
                <a:schemeClr val="accent2"/>
              </a:solidFill>
            </a:endParaRPr>
          </a:p>
          <a:p>
            <a:pPr indent="-342900" lvl="0" marL="457200" rtl="0" algn="l">
              <a:spcBef>
                <a:spcPts val="0"/>
              </a:spcBef>
              <a:spcAft>
                <a:spcPts val="0"/>
              </a:spcAft>
              <a:buClr>
                <a:schemeClr val="accent2"/>
              </a:buClr>
              <a:buSzPts val="1800"/>
              <a:buChar char="❏"/>
            </a:pPr>
            <a:r>
              <a:rPr lang="vi">
                <a:solidFill>
                  <a:schemeClr val="accent2"/>
                </a:solidFill>
              </a:rPr>
              <a:t>Services: </a:t>
            </a:r>
            <a:endParaRPr>
              <a:solidFill>
                <a:schemeClr val="accent2"/>
              </a:solidFill>
            </a:endParaRPr>
          </a:p>
          <a:p>
            <a:pPr indent="-317500" lvl="1" marL="914400" rtl="0" algn="l">
              <a:spcBef>
                <a:spcPts val="0"/>
              </a:spcBef>
              <a:spcAft>
                <a:spcPts val="0"/>
              </a:spcAft>
              <a:buClr>
                <a:schemeClr val="accent2"/>
              </a:buClr>
              <a:buSzPts val="1400"/>
              <a:buChar char="❏"/>
            </a:pPr>
            <a:r>
              <a:rPr lang="vi">
                <a:solidFill>
                  <a:schemeClr val="accent2"/>
                </a:solidFill>
              </a:rPr>
              <a:t>content / user / engagement / gamification / analytics</a:t>
            </a:r>
            <a:endParaRPr>
              <a:solidFill>
                <a:schemeClr val="accent2"/>
              </a:solidFill>
            </a:endParaRPr>
          </a:p>
          <a:p>
            <a:pPr indent="-317500" lvl="1" marL="914400" rtl="0" algn="l">
              <a:spcBef>
                <a:spcPts val="0"/>
              </a:spcBef>
              <a:spcAft>
                <a:spcPts val="0"/>
              </a:spcAft>
              <a:buClr>
                <a:schemeClr val="accent2"/>
              </a:buClr>
              <a:buSzPts val="1400"/>
              <a:buChar char="❏"/>
            </a:pPr>
            <a:r>
              <a:rPr lang="vi">
                <a:solidFill>
                  <a:schemeClr val="accent2"/>
                </a:solidFill>
              </a:rPr>
              <a:t>per-service containers on DO Droplets</a:t>
            </a:r>
            <a:endParaRPr>
              <a:solidFill>
                <a:schemeClr val="accent2"/>
              </a:solidFill>
            </a:endParaRPr>
          </a:p>
          <a:p>
            <a:pPr indent="-342900" lvl="0" marL="457200" rtl="0" algn="l">
              <a:spcBef>
                <a:spcPts val="0"/>
              </a:spcBef>
              <a:spcAft>
                <a:spcPts val="0"/>
              </a:spcAft>
              <a:buClr>
                <a:schemeClr val="accent2"/>
              </a:buClr>
              <a:buSzPts val="1800"/>
              <a:buChar char="❏"/>
            </a:pPr>
            <a:r>
              <a:rPr lang="vi">
                <a:solidFill>
                  <a:schemeClr val="accent2"/>
                </a:solidFill>
              </a:rPr>
              <a:t>Middleware: </a:t>
            </a:r>
            <a:endParaRPr>
              <a:solidFill>
                <a:schemeClr val="accent2"/>
              </a:solidFill>
            </a:endParaRPr>
          </a:p>
          <a:p>
            <a:pPr indent="-317500" lvl="1" marL="914400" rtl="0" algn="l">
              <a:spcBef>
                <a:spcPts val="0"/>
              </a:spcBef>
              <a:spcAft>
                <a:spcPts val="0"/>
              </a:spcAft>
              <a:buClr>
                <a:schemeClr val="accent2"/>
              </a:buClr>
              <a:buSzPts val="1400"/>
              <a:buChar char="❏"/>
            </a:pPr>
            <a:r>
              <a:rPr lang="vi">
                <a:solidFill>
                  <a:schemeClr val="accent2"/>
                </a:solidFill>
              </a:rPr>
              <a:t>Postgres instances (DB-per-service)</a:t>
            </a:r>
            <a:endParaRPr>
              <a:solidFill>
                <a:schemeClr val="accent2"/>
              </a:solidFill>
            </a:endParaRPr>
          </a:p>
          <a:p>
            <a:pPr indent="-317500" lvl="1" marL="914400" rtl="0" algn="l">
              <a:spcBef>
                <a:spcPts val="0"/>
              </a:spcBef>
              <a:spcAft>
                <a:spcPts val="0"/>
              </a:spcAft>
              <a:buClr>
                <a:schemeClr val="accent2"/>
              </a:buClr>
              <a:buSzPts val="1400"/>
              <a:buChar char="❏"/>
            </a:pPr>
            <a:r>
              <a:rPr lang="vi">
                <a:solidFill>
                  <a:schemeClr val="accent2"/>
                </a:solidFill>
              </a:rPr>
              <a:t>Redis</a:t>
            </a:r>
            <a:endParaRPr>
              <a:solidFill>
                <a:schemeClr val="accent2"/>
              </a:solidFill>
            </a:endParaRPr>
          </a:p>
          <a:p>
            <a:pPr indent="-317500" lvl="1" marL="914400" rtl="0" algn="l">
              <a:spcBef>
                <a:spcPts val="0"/>
              </a:spcBef>
              <a:spcAft>
                <a:spcPts val="0"/>
              </a:spcAft>
              <a:buClr>
                <a:schemeClr val="accent2"/>
              </a:buClr>
              <a:buSzPts val="1400"/>
              <a:buChar char="❏"/>
            </a:pPr>
            <a:r>
              <a:rPr lang="vi">
                <a:solidFill>
                  <a:schemeClr val="accent2"/>
                </a:solidFill>
              </a:rPr>
              <a:t>Kafka</a:t>
            </a:r>
            <a:endParaRPr>
              <a:solidFill>
                <a:schemeClr val="accent2"/>
              </a:solidFill>
            </a:endParaRPr>
          </a:p>
          <a:p>
            <a:pPr indent="-317500" lvl="1" marL="914400" rtl="0" algn="l">
              <a:spcBef>
                <a:spcPts val="0"/>
              </a:spcBef>
              <a:spcAft>
                <a:spcPts val="0"/>
              </a:spcAft>
              <a:buClr>
                <a:schemeClr val="accent2"/>
              </a:buClr>
              <a:buSzPts val="1400"/>
              <a:buChar char="❏"/>
            </a:pPr>
            <a:r>
              <a:rPr lang="vi">
                <a:solidFill>
                  <a:schemeClr val="accent2"/>
                </a:solidFill>
              </a:rPr>
              <a:t>Spaces (object storage)</a:t>
            </a:r>
            <a:endParaRPr>
              <a:solidFill>
                <a:schemeClr val="accent2"/>
              </a:solidFill>
            </a:endParaRPr>
          </a:p>
          <a:p>
            <a:pPr indent="-317500" lvl="1" marL="914400" rtl="0" algn="l">
              <a:spcBef>
                <a:spcPts val="0"/>
              </a:spcBef>
              <a:spcAft>
                <a:spcPts val="0"/>
              </a:spcAft>
              <a:buClr>
                <a:schemeClr val="accent2"/>
              </a:buClr>
              <a:buSzPts val="1400"/>
              <a:buChar char="❏"/>
            </a:pPr>
            <a:r>
              <a:rPr lang="vi">
                <a:solidFill>
                  <a:schemeClr val="accent2"/>
                </a:solidFill>
              </a:rPr>
              <a:t>Elasticsearch cluster</a:t>
            </a:r>
            <a:endParaRPr>
              <a:solidFill>
                <a:schemeClr val="accent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id="316" name="Google Shape;316;p51" title="Screenshot 2025-10-27 at 12.03.05.png"/>
          <p:cNvPicPr preferRelativeResize="0"/>
          <p:nvPr/>
        </p:nvPicPr>
        <p:blipFill>
          <a:blip r:embed="rId3">
            <a:alphaModFix/>
          </a:blip>
          <a:stretch>
            <a:fillRect/>
          </a:stretch>
        </p:blipFill>
        <p:spPr>
          <a:xfrm>
            <a:off x="645225" y="152400"/>
            <a:ext cx="6156633" cy="4838700"/>
          </a:xfrm>
          <a:prstGeom prst="rect">
            <a:avLst/>
          </a:prstGeom>
          <a:noFill/>
          <a:ln>
            <a:noFill/>
          </a:ln>
        </p:spPr>
      </p:pic>
      <p:pic>
        <p:nvPicPr>
          <p:cNvPr id="317" name="Google Shape;317;p51" title="Screenshot 2025-10-27 at 12.05.53.png"/>
          <p:cNvPicPr preferRelativeResize="0"/>
          <p:nvPr/>
        </p:nvPicPr>
        <p:blipFill>
          <a:blip r:embed="rId4">
            <a:alphaModFix/>
          </a:blip>
          <a:stretch>
            <a:fillRect/>
          </a:stretch>
        </p:blipFill>
        <p:spPr>
          <a:xfrm>
            <a:off x="6995675" y="4437750"/>
            <a:ext cx="2012850" cy="5533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2"/>
          <p:cNvSpPr txBox="1"/>
          <p:nvPr>
            <p:ph type="title"/>
          </p:nvPr>
        </p:nvSpPr>
        <p:spPr>
          <a:xfrm>
            <a:off x="311700" y="4402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Persistence Design</a:t>
            </a:r>
            <a:endParaRPr/>
          </a:p>
        </p:txBody>
      </p:sp>
      <p:graphicFrame>
        <p:nvGraphicFramePr>
          <p:cNvPr id="323" name="Google Shape;323;p52"/>
          <p:cNvGraphicFramePr/>
          <p:nvPr/>
        </p:nvGraphicFramePr>
        <p:xfrm>
          <a:off x="175088" y="1205225"/>
          <a:ext cx="3000000" cy="3000000"/>
        </p:xfrm>
        <a:graphic>
          <a:graphicData uri="http://schemas.openxmlformats.org/drawingml/2006/table">
            <a:tbl>
              <a:tblPr>
                <a:noFill/>
                <a:tableStyleId>{835C393D-EF75-4AB4-8CA3-5B0A3B47D541}</a:tableStyleId>
              </a:tblPr>
              <a:tblGrid>
                <a:gridCol w="1971375"/>
                <a:gridCol w="2772950"/>
                <a:gridCol w="4049475"/>
              </a:tblGrid>
              <a:tr h="378450">
                <a:tc>
                  <a:txBody>
                    <a:bodyPr/>
                    <a:lstStyle/>
                    <a:p>
                      <a:pPr indent="0" lvl="0" marL="0" rtl="0" algn="l">
                        <a:spcBef>
                          <a:spcPts val="0"/>
                        </a:spcBef>
                        <a:spcAft>
                          <a:spcPts val="0"/>
                        </a:spcAft>
                        <a:buNone/>
                      </a:pPr>
                      <a:r>
                        <a:rPr b="1" lang="vi" sz="1300">
                          <a:solidFill>
                            <a:schemeClr val="accent2"/>
                          </a:solidFill>
                        </a:rPr>
                        <a:t>Data Type</a:t>
                      </a:r>
                      <a:endParaRPr b="1" sz="1300">
                        <a:solidFill>
                          <a:schemeClr val="accent2"/>
                        </a:solidFill>
                      </a:endParaRPr>
                    </a:p>
                  </a:txBody>
                  <a:tcPr marT="91425" marB="91425" marR="91425" marL="91425">
                    <a:solidFill>
                      <a:srgbClr val="0969DA"/>
                    </a:solidFill>
                  </a:tcPr>
                </a:tc>
                <a:tc>
                  <a:txBody>
                    <a:bodyPr/>
                    <a:lstStyle/>
                    <a:p>
                      <a:pPr indent="0" lvl="0" marL="0" rtl="0" algn="l">
                        <a:spcBef>
                          <a:spcPts val="0"/>
                        </a:spcBef>
                        <a:spcAft>
                          <a:spcPts val="0"/>
                        </a:spcAft>
                        <a:buNone/>
                      </a:pPr>
                      <a:r>
                        <a:rPr b="1" lang="vi" sz="1300">
                          <a:solidFill>
                            <a:schemeClr val="accent2"/>
                          </a:solidFill>
                        </a:rPr>
                        <a:t>Primary Storage</a:t>
                      </a:r>
                      <a:endParaRPr b="1" sz="1300">
                        <a:solidFill>
                          <a:schemeClr val="accent2"/>
                        </a:solidFill>
                      </a:endParaRPr>
                    </a:p>
                  </a:txBody>
                  <a:tcPr marT="91425" marB="91425" marR="91425" marL="91425">
                    <a:solidFill>
                      <a:srgbClr val="0969DA"/>
                    </a:solidFill>
                  </a:tcPr>
                </a:tc>
                <a:tc>
                  <a:txBody>
                    <a:bodyPr/>
                    <a:lstStyle/>
                    <a:p>
                      <a:pPr indent="0" lvl="0" marL="0" rtl="0" algn="l">
                        <a:spcBef>
                          <a:spcPts val="0"/>
                        </a:spcBef>
                        <a:spcAft>
                          <a:spcPts val="0"/>
                        </a:spcAft>
                        <a:buNone/>
                      </a:pPr>
                      <a:r>
                        <a:rPr b="1" lang="vi" sz="1300">
                          <a:solidFill>
                            <a:schemeClr val="accent2"/>
                          </a:solidFill>
                        </a:rPr>
                        <a:t>Notes</a:t>
                      </a:r>
                      <a:endParaRPr b="1" sz="1300">
                        <a:solidFill>
                          <a:schemeClr val="accent2"/>
                        </a:solidFill>
                      </a:endParaRPr>
                    </a:p>
                  </a:txBody>
                  <a:tcPr marT="91425" marB="91425" marR="91425" marL="91425">
                    <a:solidFill>
                      <a:srgbClr val="0969DA"/>
                    </a:solidFill>
                  </a:tcPr>
                </a:tc>
              </a:tr>
              <a:tr h="484375">
                <a:tc>
                  <a:txBody>
                    <a:bodyPr/>
                    <a:lstStyle/>
                    <a:p>
                      <a:pPr indent="0" lvl="0" marL="0" rtl="0" algn="l">
                        <a:spcBef>
                          <a:spcPts val="0"/>
                        </a:spcBef>
                        <a:spcAft>
                          <a:spcPts val="0"/>
                        </a:spcAft>
                        <a:buNone/>
                      </a:pPr>
                      <a:r>
                        <a:rPr b="1" lang="vi" sz="1100">
                          <a:solidFill>
                            <a:schemeClr val="accent2"/>
                          </a:solidFill>
                        </a:rPr>
                        <a:t>Users &amp; Auth</a:t>
                      </a:r>
                      <a:endParaRPr b="1" sz="1100">
                        <a:solidFill>
                          <a:schemeClr val="accent2"/>
                        </a:solidFill>
                      </a:endParaRPr>
                    </a:p>
                  </a:txBody>
                  <a:tcPr marT="91425" marB="91425" marR="91425" marL="91425"/>
                </a:tc>
                <a:tc>
                  <a:txBody>
                    <a:bodyPr/>
                    <a:lstStyle/>
                    <a:p>
                      <a:pPr indent="0" lvl="0" marL="0" rtl="0" algn="l">
                        <a:spcBef>
                          <a:spcPts val="0"/>
                        </a:spcBef>
                        <a:spcAft>
                          <a:spcPts val="0"/>
                        </a:spcAft>
                        <a:buNone/>
                      </a:pPr>
                      <a:r>
                        <a:rPr b="1" lang="vi" sz="1100">
                          <a:solidFill>
                            <a:schemeClr val="accent2"/>
                          </a:solidFill>
                        </a:rPr>
                        <a:t>Postgres (user-db)</a:t>
                      </a:r>
                      <a:endParaRPr b="1" sz="1100">
                        <a:solidFill>
                          <a:schemeClr val="accent2"/>
                        </a:solidFill>
                      </a:endParaRPr>
                    </a:p>
                  </a:txBody>
                  <a:tcPr marT="91425" marB="91425" marR="91425" marL="91425"/>
                </a:tc>
                <a:tc>
                  <a:txBody>
                    <a:bodyPr/>
                    <a:lstStyle/>
                    <a:p>
                      <a:pPr indent="0" lvl="0" marL="0" rtl="0" algn="l">
                        <a:spcBef>
                          <a:spcPts val="0"/>
                        </a:spcBef>
                        <a:spcAft>
                          <a:spcPts val="0"/>
                        </a:spcAft>
                        <a:buNone/>
                      </a:pPr>
                      <a:r>
                        <a:rPr lang="vi" sz="1100">
                          <a:solidFill>
                            <a:schemeClr val="accent2"/>
                          </a:solidFill>
                        </a:rPr>
                        <a:t>Strong consistency; hashed passwords; Flyway migrations</a:t>
                      </a:r>
                      <a:endParaRPr sz="1100">
                        <a:solidFill>
                          <a:schemeClr val="accent2"/>
                        </a:solidFill>
                      </a:endParaRPr>
                    </a:p>
                  </a:txBody>
                  <a:tcPr marT="91425" marB="91425" marR="91425" marL="91425"/>
                </a:tc>
              </a:tr>
              <a:tr h="378450">
                <a:tc>
                  <a:txBody>
                    <a:bodyPr/>
                    <a:lstStyle/>
                    <a:p>
                      <a:pPr indent="0" lvl="0" marL="0" rtl="0" algn="l">
                        <a:spcBef>
                          <a:spcPts val="0"/>
                        </a:spcBef>
                        <a:spcAft>
                          <a:spcPts val="0"/>
                        </a:spcAft>
                        <a:buNone/>
                      </a:pPr>
                      <a:r>
                        <a:rPr b="1" lang="vi" sz="1100">
                          <a:solidFill>
                            <a:schemeClr val="accent2"/>
                          </a:solidFill>
                        </a:rPr>
                        <a:t>Content metadata &amp; index</a:t>
                      </a:r>
                      <a:endParaRPr b="1" sz="1100">
                        <a:solidFill>
                          <a:schemeClr val="accent2"/>
                        </a:solidFill>
                      </a:endParaRPr>
                    </a:p>
                  </a:txBody>
                  <a:tcPr marT="91425" marB="91425" marR="91425" marL="91425"/>
                </a:tc>
                <a:tc>
                  <a:txBody>
                    <a:bodyPr/>
                    <a:lstStyle/>
                    <a:p>
                      <a:pPr indent="0" lvl="0" marL="0" rtl="0" algn="l">
                        <a:spcBef>
                          <a:spcPts val="0"/>
                        </a:spcBef>
                        <a:spcAft>
                          <a:spcPts val="0"/>
                        </a:spcAft>
                        <a:buNone/>
                      </a:pPr>
                      <a:r>
                        <a:rPr b="1" lang="vi" sz="1100">
                          <a:solidFill>
                            <a:schemeClr val="accent2"/>
                          </a:solidFill>
                        </a:rPr>
                        <a:t>Postgres (content-db) </a:t>
                      </a:r>
                      <a:endParaRPr b="1" sz="1100">
                        <a:solidFill>
                          <a:schemeClr val="accent2"/>
                        </a:solidFill>
                      </a:endParaRPr>
                    </a:p>
                  </a:txBody>
                  <a:tcPr marT="91425" marB="91425" marR="91425" marL="91425"/>
                </a:tc>
                <a:tc>
                  <a:txBody>
                    <a:bodyPr/>
                    <a:lstStyle/>
                    <a:p>
                      <a:pPr indent="0" lvl="0" marL="0" rtl="0" algn="l">
                        <a:spcBef>
                          <a:spcPts val="0"/>
                        </a:spcBef>
                        <a:spcAft>
                          <a:spcPts val="0"/>
                        </a:spcAft>
                        <a:buNone/>
                      </a:pPr>
                      <a:r>
                        <a:rPr lang="vi" sz="1100">
                          <a:solidFill>
                            <a:schemeClr val="accent2"/>
                          </a:solidFill>
                        </a:rPr>
                        <a:t>Metadata and chapter index </a:t>
                      </a:r>
                      <a:endParaRPr sz="1100">
                        <a:solidFill>
                          <a:schemeClr val="accent2"/>
                        </a:solidFill>
                      </a:endParaRPr>
                    </a:p>
                  </a:txBody>
                  <a:tcPr marT="91425" marB="91425" marR="91425" marL="91425"/>
                </a:tc>
              </a:tr>
              <a:tr h="484375">
                <a:tc>
                  <a:txBody>
                    <a:bodyPr/>
                    <a:lstStyle/>
                    <a:p>
                      <a:pPr indent="0" lvl="0" marL="0" rtl="0" algn="l">
                        <a:spcBef>
                          <a:spcPts val="0"/>
                        </a:spcBef>
                        <a:spcAft>
                          <a:spcPts val="0"/>
                        </a:spcAft>
                        <a:buNone/>
                      </a:pPr>
                      <a:r>
                        <a:rPr b="1" lang="vi" sz="1100">
                          <a:solidFill>
                            <a:schemeClr val="accent2"/>
                          </a:solidFill>
                        </a:rPr>
                        <a:t>Chapter body &amp; media</a:t>
                      </a:r>
                      <a:endParaRPr b="1" sz="1100">
                        <a:solidFill>
                          <a:schemeClr val="accent2"/>
                        </a:solidFill>
                      </a:endParaRPr>
                    </a:p>
                  </a:txBody>
                  <a:tcPr marT="91425" marB="91425" marR="91425" marL="91425"/>
                </a:tc>
                <a:tc>
                  <a:txBody>
                    <a:bodyPr/>
                    <a:lstStyle/>
                    <a:p>
                      <a:pPr indent="0" lvl="0" marL="0" rtl="0" algn="l">
                        <a:spcBef>
                          <a:spcPts val="0"/>
                        </a:spcBef>
                        <a:spcAft>
                          <a:spcPts val="0"/>
                        </a:spcAft>
                        <a:buNone/>
                      </a:pPr>
                      <a:r>
                        <a:rPr b="1" lang="vi" sz="1100">
                          <a:solidFill>
                            <a:schemeClr val="accent2"/>
                          </a:solidFill>
                        </a:rPr>
                        <a:t>DigitalOcean Spaces (object storage)</a:t>
                      </a:r>
                      <a:endParaRPr b="1" sz="1100">
                        <a:solidFill>
                          <a:schemeClr val="accent2"/>
                        </a:solidFill>
                      </a:endParaRPr>
                    </a:p>
                  </a:txBody>
                  <a:tcPr marT="91425" marB="91425" marR="91425" marL="91425"/>
                </a:tc>
                <a:tc>
                  <a:txBody>
                    <a:bodyPr/>
                    <a:lstStyle/>
                    <a:p>
                      <a:pPr indent="0" lvl="0" marL="0" rtl="0" algn="l">
                        <a:spcBef>
                          <a:spcPts val="0"/>
                        </a:spcBef>
                        <a:spcAft>
                          <a:spcPts val="0"/>
                        </a:spcAft>
                        <a:buNone/>
                      </a:pPr>
                      <a:r>
                        <a:rPr lang="vi" sz="1100">
                          <a:solidFill>
                            <a:schemeClr val="accent2"/>
                          </a:solidFill>
                        </a:rPr>
                        <a:t>Large text/images; DB stores keys or presigned URLs</a:t>
                      </a:r>
                      <a:endParaRPr sz="1100">
                        <a:solidFill>
                          <a:schemeClr val="accent2"/>
                        </a:solidFill>
                      </a:endParaRPr>
                    </a:p>
                  </a:txBody>
                  <a:tcPr marT="91425" marB="91425" marR="91425" marL="91425"/>
                </a:tc>
              </a:tr>
              <a:tr h="484375">
                <a:tc>
                  <a:txBody>
                    <a:bodyPr/>
                    <a:lstStyle/>
                    <a:p>
                      <a:pPr indent="0" lvl="0" marL="0" rtl="0" algn="l">
                        <a:spcBef>
                          <a:spcPts val="0"/>
                        </a:spcBef>
                        <a:spcAft>
                          <a:spcPts val="0"/>
                        </a:spcAft>
                        <a:buNone/>
                      </a:pPr>
                      <a:r>
                        <a:rPr b="1" lang="vi" sz="1100">
                          <a:solidFill>
                            <a:schemeClr val="accent2"/>
                          </a:solidFill>
                        </a:rPr>
                        <a:t>Full-text search</a:t>
                      </a:r>
                      <a:endParaRPr b="1" sz="1100">
                        <a:solidFill>
                          <a:schemeClr val="accent2"/>
                        </a:solidFill>
                      </a:endParaRPr>
                    </a:p>
                  </a:txBody>
                  <a:tcPr marT="91425" marB="91425" marR="91425" marL="91425"/>
                </a:tc>
                <a:tc>
                  <a:txBody>
                    <a:bodyPr/>
                    <a:lstStyle/>
                    <a:p>
                      <a:pPr indent="0" lvl="0" marL="0" rtl="0" algn="l">
                        <a:spcBef>
                          <a:spcPts val="0"/>
                        </a:spcBef>
                        <a:spcAft>
                          <a:spcPts val="0"/>
                        </a:spcAft>
                        <a:buNone/>
                      </a:pPr>
                      <a:r>
                        <a:rPr b="1" lang="vi" sz="1100">
                          <a:solidFill>
                            <a:schemeClr val="accent2"/>
                          </a:solidFill>
                        </a:rPr>
                        <a:t>Elasticsearch</a:t>
                      </a:r>
                      <a:endParaRPr b="1" sz="1100">
                        <a:solidFill>
                          <a:schemeClr val="accent2"/>
                        </a:solidFill>
                      </a:endParaRPr>
                    </a:p>
                  </a:txBody>
                  <a:tcPr marT="91425" marB="91425" marR="91425" marL="91425"/>
                </a:tc>
                <a:tc>
                  <a:txBody>
                    <a:bodyPr/>
                    <a:lstStyle/>
                    <a:p>
                      <a:pPr indent="0" lvl="0" marL="0" rtl="0" algn="l">
                        <a:spcBef>
                          <a:spcPts val="0"/>
                        </a:spcBef>
                        <a:spcAft>
                          <a:spcPts val="0"/>
                        </a:spcAft>
                        <a:buNone/>
                      </a:pPr>
                      <a:r>
                        <a:rPr lang="vi" sz="1100">
                          <a:solidFill>
                            <a:schemeClr val="accent2"/>
                          </a:solidFill>
                        </a:rPr>
                        <a:t>Search index maintained by content-service</a:t>
                      </a:r>
                      <a:endParaRPr sz="1100">
                        <a:solidFill>
                          <a:schemeClr val="accent2"/>
                        </a:solidFill>
                      </a:endParaRPr>
                    </a:p>
                  </a:txBody>
                  <a:tcPr marT="91425" marB="91425" marR="91425" marL="91425"/>
                </a:tc>
              </a:tr>
              <a:tr h="484375">
                <a:tc>
                  <a:txBody>
                    <a:bodyPr/>
                    <a:lstStyle/>
                    <a:p>
                      <a:pPr indent="0" lvl="0" marL="0" rtl="0" algn="l">
                        <a:spcBef>
                          <a:spcPts val="0"/>
                        </a:spcBef>
                        <a:spcAft>
                          <a:spcPts val="0"/>
                        </a:spcAft>
                        <a:buNone/>
                      </a:pPr>
                      <a:r>
                        <a:rPr b="1" lang="vi" sz="1100">
                          <a:solidFill>
                            <a:schemeClr val="accent2"/>
                          </a:solidFill>
                        </a:rPr>
                        <a:t>Ranking &amp; OTP</a:t>
                      </a:r>
                      <a:endParaRPr b="1" sz="1100">
                        <a:solidFill>
                          <a:schemeClr val="accent2"/>
                        </a:solidFill>
                      </a:endParaRPr>
                    </a:p>
                  </a:txBody>
                  <a:tcPr marT="91425" marB="91425" marR="91425" marL="91425"/>
                </a:tc>
                <a:tc>
                  <a:txBody>
                    <a:bodyPr/>
                    <a:lstStyle/>
                    <a:p>
                      <a:pPr indent="0" lvl="0" marL="0" rtl="0" algn="l">
                        <a:spcBef>
                          <a:spcPts val="0"/>
                        </a:spcBef>
                        <a:spcAft>
                          <a:spcPts val="0"/>
                        </a:spcAft>
                        <a:buNone/>
                      </a:pPr>
                      <a:r>
                        <a:rPr b="1" lang="vi" sz="1100">
                          <a:solidFill>
                            <a:schemeClr val="accent2"/>
                          </a:solidFill>
                        </a:rPr>
                        <a:t>Redis (in-memory)</a:t>
                      </a:r>
                      <a:endParaRPr b="1" sz="1100">
                        <a:solidFill>
                          <a:schemeClr val="accent2"/>
                        </a:solidFill>
                      </a:endParaRPr>
                    </a:p>
                  </a:txBody>
                  <a:tcPr marT="91425" marB="91425" marR="91425" marL="91425"/>
                </a:tc>
                <a:tc>
                  <a:txBody>
                    <a:bodyPr/>
                    <a:lstStyle/>
                    <a:p>
                      <a:pPr indent="0" lvl="0" marL="0" rtl="0" algn="l">
                        <a:spcBef>
                          <a:spcPts val="0"/>
                        </a:spcBef>
                        <a:spcAft>
                          <a:spcPts val="0"/>
                        </a:spcAft>
                        <a:buNone/>
                      </a:pPr>
                      <a:r>
                        <a:rPr lang="vi" sz="1100">
                          <a:solidFill>
                            <a:schemeClr val="accent2"/>
                          </a:solidFill>
                        </a:rPr>
                        <a:t>Get aggregates from Postgres periodically &amp; get one time verification code</a:t>
                      </a:r>
                      <a:endParaRPr sz="1100">
                        <a:solidFill>
                          <a:schemeClr val="accent2"/>
                        </a:solidFill>
                      </a:endParaRPr>
                    </a:p>
                  </a:txBody>
                  <a:tcPr marT="91425" marB="91425" marR="91425" marL="91425"/>
                </a:tc>
              </a:tr>
              <a:tr h="484375">
                <a:tc>
                  <a:txBody>
                    <a:bodyPr/>
                    <a:lstStyle/>
                    <a:p>
                      <a:pPr indent="0" lvl="0" marL="0" rtl="0" algn="l">
                        <a:spcBef>
                          <a:spcPts val="0"/>
                        </a:spcBef>
                        <a:spcAft>
                          <a:spcPts val="0"/>
                        </a:spcAft>
                        <a:buNone/>
                      </a:pPr>
                      <a:r>
                        <a:rPr b="1" lang="vi" sz="1100">
                          <a:solidFill>
                            <a:schemeClr val="accent2"/>
                          </a:solidFill>
                        </a:rPr>
                        <a:t>Event stream</a:t>
                      </a:r>
                      <a:endParaRPr b="1" sz="1100">
                        <a:solidFill>
                          <a:schemeClr val="accent2"/>
                        </a:solidFill>
                      </a:endParaRPr>
                    </a:p>
                  </a:txBody>
                  <a:tcPr marT="91425" marB="91425" marR="91425" marL="91425"/>
                </a:tc>
                <a:tc>
                  <a:txBody>
                    <a:bodyPr/>
                    <a:lstStyle/>
                    <a:p>
                      <a:pPr indent="0" lvl="0" marL="0" rtl="0" algn="l">
                        <a:spcBef>
                          <a:spcPts val="0"/>
                        </a:spcBef>
                        <a:spcAft>
                          <a:spcPts val="0"/>
                        </a:spcAft>
                        <a:buNone/>
                      </a:pPr>
                      <a:r>
                        <a:rPr b="1" lang="vi" sz="1100">
                          <a:solidFill>
                            <a:schemeClr val="accent2"/>
                          </a:solidFill>
                        </a:rPr>
                        <a:t>Kafka (topics: events)</a:t>
                      </a:r>
                      <a:endParaRPr b="1" sz="1100">
                        <a:solidFill>
                          <a:schemeClr val="accent2"/>
                        </a:solidFill>
                      </a:endParaRPr>
                    </a:p>
                  </a:txBody>
                  <a:tcPr marT="91425" marB="91425" marR="91425" marL="91425"/>
                </a:tc>
                <a:tc>
                  <a:txBody>
                    <a:bodyPr/>
                    <a:lstStyle/>
                    <a:p>
                      <a:pPr indent="0" lvl="0" marL="0" rtl="0" algn="l">
                        <a:spcBef>
                          <a:spcPts val="0"/>
                        </a:spcBef>
                        <a:spcAft>
                          <a:spcPts val="0"/>
                        </a:spcAft>
                        <a:buNone/>
                      </a:pPr>
                      <a:r>
                        <a:rPr lang="vi" sz="1100">
                          <a:solidFill>
                            <a:schemeClr val="accent2"/>
                          </a:solidFill>
                        </a:rPr>
                        <a:t>Decouples engagement / analytics / gamification</a:t>
                      </a:r>
                      <a:endParaRPr sz="1100">
                        <a:solidFill>
                          <a:schemeClr val="accent2"/>
                        </a:solidFill>
                      </a:endParaRPr>
                    </a:p>
                  </a:txBody>
                  <a:tcPr marT="91425" marB="91425" marR="91425" marL="91425"/>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Resilience &amp; Ops checklist</a:t>
            </a:r>
            <a:endParaRPr/>
          </a:p>
        </p:txBody>
      </p:sp>
      <p:sp>
        <p:nvSpPr>
          <p:cNvPr id="329" name="Google Shape;329;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accent2"/>
              </a:buClr>
              <a:buSzPts val="1800"/>
              <a:buChar char="❏"/>
            </a:pPr>
            <a:r>
              <a:rPr b="1" lang="vi">
                <a:solidFill>
                  <a:schemeClr val="accent2"/>
                </a:solidFill>
              </a:rPr>
              <a:t>Health checks</a:t>
            </a:r>
            <a:r>
              <a:rPr lang="vi">
                <a:solidFill>
                  <a:schemeClr val="accent2"/>
                </a:solidFill>
              </a:rPr>
              <a:t>: Dockerfiles probe /actuator/health</a:t>
            </a:r>
            <a:endParaRPr>
              <a:solidFill>
                <a:schemeClr val="accent2"/>
              </a:solidFill>
            </a:endParaRPr>
          </a:p>
          <a:p>
            <a:pPr indent="-342900" lvl="0" marL="457200" rtl="0" algn="l">
              <a:spcBef>
                <a:spcPts val="0"/>
              </a:spcBef>
              <a:spcAft>
                <a:spcPts val="0"/>
              </a:spcAft>
              <a:buClr>
                <a:schemeClr val="accent2"/>
              </a:buClr>
              <a:buSzPts val="1800"/>
              <a:buChar char="❏"/>
            </a:pPr>
            <a:r>
              <a:rPr b="1" lang="vi">
                <a:solidFill>
                  <a:schemeClr val="accent2"/>
                </a:solidFill>
              </a:rPr>
              <a:t>Events</a:t>
            </a:r>
            <a:r>
              <a:rPr lang="vi">
                <a:solidFill>
                  <a:schemeClr val="accent2"/>
                </a:solidFill>
              </a:rPr>
              <a:t>: </a:t>
            </a:r>
            <a:endParaRPr>
              <a:solidFill>
                <a:schemeClr val="accent2"/>
              </a:solidFill>
            </a:endParaRPr>
          </a:p>
          <a:p>
            <a:pPr indent="-317500" lvl="1" marL="914400" rtl="0" algn="l">
              <a:spcBef>
                <a:spcPts val="0"/>
              </a:spcBef>
              <a:spcAft>
                <a:spcPts val="0"/>
              </a:spcAft>
              <a:buClr>
                <a:schemeClr val="accent2"/>
              </a:buClr>
              <a:buSzPts val="1400"/>
              <a:buChar char="❏"/>
            </a:pPr>
            <a:r>
              <a:rPr lang="vi">
                <a:solidFill>
                  <a:schemeClr val="accent2"/>
                </a:solidFill>
              </a:rPr>
              <a:t>implement retries &amp; dead-letter queues</a:t>
            </a:r>
            <a:endParaRPr>
              <a:solidFill>
                <a:schemeClr val="accent2"/>
              </a:solidFill>
            </a:endParaRPr>
          </a:p>
          <a:p>
            <a:pPr indent="-317500" lvl="1" marL="914400" rtl="0" algn="l">
              <a:spcBef>
                <a:spcPts val="0"/>
              </a:spcBef>
              <a:spcAft>
                <a:spcPts val="0"/>
              </a:spcAft>
              <a:buClr>
                <a:schemeClr val="accent2"/>
              </a:buClr>
              <a:buSzPts val="1400"/>
              <a:buChar char="❏"/>
            </a:pPr>
            <a:r>
              <a:rPr lang="vi">
                <a:solidFill>
                  <a:schemeClr val="accent2"/>
                </a:solidFill>
              </a:rPr>
              <a:t>use idempotency keys for reward/tx writes</a:t>
            </a:r>
            <a:endParaRPr>
              <a:solidFill>
                <a:schemeClr val="accent2"/>
              </a:solidFill>
            </a:endParaRPr>
          </a:p>
          <a:p>
            <a:pPr indent="-342900" lvl="0" marL="457200" rtl="0" algn="l">
              <a:spcBef>
                <a:spcPts val="0"/>
              </a:spcBef>
              <a:spcAft>
                <a:spcPts val="0"/>
              </a:spcAft>
              <a:buClr>
                <a:schemeClr val="accent2"/>
              </a:buClr>
              <a:buSzPts val="1800"/>
              <a:buChar char="❏"/>
            </a:pPr>
            <a:r>
              <a:rPr b="1" lang="vi">
                <a:solidFill>
                  <a:schemeClr val="accent2"/>
                </a:solidFill>
              </a:rPr>
              <a:t>DNS/TLS</a:t>
            </a:r>
            <a:r>
              <a:rPr lang="vi">
                <a:solidFill>
                  <a:schemeClr val="accent2"/>
                </a:solidFill>
              </a:rPr>
              <a:t>: ensure </a:t>
            </a:r>
            <a:r>
              <a:rPr lang="vi" u="sng">
                <a:solidFill>
                  <a:schemeClr val="accent5"/>
                </a:solidFill>
              </a:rPr>
              <a:t>yushan.duckdns.org</a:t>
            </a:r>
            <a:r>
              <a:rPr lang="vi">
                <a:solidFill>
                  <a:schemeClr val="accent2"/>
                </a:solidFill>
              </a:rPr>
              <a:t> resolves to gateway &amp; automated cert renewal</a:t>
            </a:r>
            <a:endParaRPr>
              <a:solidFill>
                <a:schemeClr val="accent2"/>
              </a:solidFill>
            </a:endParaRPr>
          </a:p>
          <a:p>
            <a:pPr indent="-342900" lvl="0" marL="457200" rtl="0" algn="l">
              <a:spcBef>
                <a:spcPts val="0"/>
              </a:spcBef>
              <a:spcAft>
                <a:spcPts val="0"/>
              </a:spcAft>
              <a:buClr>
                <a:schemeClr val="accent2"/>
              </a:buClr>
              <a:buSzPts val="1800"/>
              <a:buChar char="❏"/>
            </a:pPr>
            <a:r>
              <a:rPr b="1" lang="vi">
                <a:solidFill>
                  <a:schemeClr val="accent2"/>
                </a:solidFill>
              </a:rPr>
              <a:t>Monitoring</a:t>
            </a:r>
            <a:r>
              <a:rPr lang="vi">
                <a:solidFill>
                  <a:schemeClr val="accent2"/>
                </a:solidFill>
              </a:rPr>
              <a:t>: setup Prometheus scrape &amp; Grafana dashboards for SLA alerts</a:t>
            </a:r>
            <a:endParaRPr>
              <a:solidFill>
                <a:schemeClr val="accent2"/>
              </a:solidFill>
            </a:endParaRPr>
          </a:p>
          <a:p>
            <a:pPr indent="-342900" lvl="0" marL="457200" rtl="0" algn="l">
              <a:spcBef>
                <a:spcPts val="0"/>
              </a:spcBef>
              <a:spcAft>
                <a:spcPts val="0"/>
              </a:spcAft>
              <a:buClr>
                <a:schemeClr val="accent2"/>
              </a:buClr>
              <a:buSzPts val="1800"/>
              <a:buChar char="❏"/>
            </a:pPr>
            <a:r>
              <a:rPr b="1" lang="vi">
                <a:solidFill>
                  <a:schemeClr val="accent2"/>
                </a:solidFill>
              </a:rPr>
              <a:t>Alerting</a:t>
            </a:r>
            <a:r>
              <a:rPr lang="vi">
                <a:solidFill>
                  <a:schemeClr val="accent2"/>
                </a:solidFill>
              </a:rPr>
              <a:t>: Automated alerts for critical issues</a:t>
            </a:r>
            <a:endParaRPr>
              <a:solidFill>
                <a:schemeClr val="accent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4"/>
          <p:cNvSpPr txBox="1"/>
          <p:nvPr>
            <p:ph type="title"/>
          </p:nvPr>
        </p:nvSpPr>
        <p:spPr>
          <a:xfrm>
            <a:off x="111952" y="16537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Detailed Design: Writer create a novel and admin review</a:t>
            </a:r>
            <a:endParaRPr/>
          </a:p>
        </p:txBody>
      </p:sp>
      <p:pic>
        <p:nvPicPr>
          <p:cNvPr id="335" name="Google Shape;335;p54"/>
          <p:cNvPicPr preferRelativeResize="0"/>
          <p:nvPr/>
        </p:nvPicPr>
        <p:blipFill>
          <a:blip r:embed="rId3">
            <a:alphaModFix/>
          </a:blip>
          <a:stretch>
            <a:fillRect/>
          </a:stretch>
        </p:blipFill>
        <p:spPr>
          <a:xfrm>
            <a:off x="322165" y="727237"/>
            <a:ext cx="8100649" cy="2413896"/>
          </a:xfrm>
          <a:prstGeom prst="rect">
            <a:avLst/>
          </a:prstGeom>
          <a:noFill/>
          <a:ln>
            <a:noFill/>
          </a:ln>
        </p:spPr>
      </p:pic>
      <p:pic>
        <p:nvPicPr>
          <p:cNvPr id="336" name="Google Shape;336;p54"/>
          <p:cNvPicPr preferRelativeResize="0"/>
          <p:nvPr/>
        </p:nvPicPr>
        <p:blipFill>
          <a:blip r:embed="rId4">
            <a:alphaModFix/>
          </a:blip>
          <a:stretch>
            <a:fillRect/>
          </a:stretch>
        </p:blipFill>
        <p:spPr>
          <a:xfrm>
            <a:off x="299102" y="3098474"/>
            <a:ext cx="8286136" cy="18227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pic>
        <p:nvPicPr>
          <p:cNvPr id="341" name="Google Shape;341;p55"/>
          <p:cNvPicPr preferRelativeResize="0"/>
          <p:nvPr/>
        </p:nvPicPr>
        <p:blipFill>
          <a:blip r:embed="rId3">
            <a:alphaModFix/>
          </a:blip>
          <a:stretch>
            <a:fillRect/>
          </a:stretch>
        </p:blipFill>
        <p:spPr>
          <a:xfrm>
            <a:off x="945150" y="856075"/>
            <a:ext cx="7253701" cy="4193124"/>
          </a:xfrm>
          <a:prstGeom prst="rect">
            <a:avLst/>
          </a:prstGeom>
          <a:noFill/>
          <a:ln>
            <a:noFill/>
          </a:ln>
        </p:spPr>
      </p:pic>
      <p:sp>
        <p:nvSpPr>
          <p:cNvPr id="342" name="Google Shape;342;p55"/>
          <p:cNvSpPr txBox="1"/>
          <p:nvPr>
            <p:ph type="title"/>
          </p:nvPr>
        </p:nvSpPr>
        <p:spPr>
          <a:xfrm>
            <a:off x="311702" y="19737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Detailed Deployment Elements for Novel Creation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6"/>
          <p:cNvSpPr txBox="1"/>
          <p:nvPr>
            <p:ph type="title"/>
          </p:nvPr>
        </p:nvSpPr>
        <p:spPr>
          <a:xfrm>
            <a:off x="111952" y="16537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vi"/>
              <a:t>Detailed Design: Write review and add exp</a:t>
            </a:r>
            <a:endParaRPr/>
          </a:p>
          <a:p>
            <a:pPr indent="0" lvl="0" marL="0" rtl="0" algn="l">
              <a:spcBef>
                <a:spcPts val="0"/>
              </a:spcBef>
              <a:spcAft>
                <a:spcPts val="0"/>
              </a:spcAft>
              <a:buNone/>
            </a:pPr>
            <a:r>
              <a:t/>
            </a:r>
            <a:endParaRPr/>
          </a:p>
        </p:txBody>
      </p:sp>
      <p:pic>
        <p:nvPicPr>
          <p:cNvPr id="348" name="Google Shape;348;p56"/>
          <p:cNvPicPr preferRelativeResize="0"/>
          <p:nvPr/>
        </p:nvPicPr>
        <p:blipFill>
          <a:blip r:embed="rId3">
            <a:alphaModFix/>
          </a:blip>
          <a:stretch>
            <a:fillRect/>
          </a:stretch>
        </p:blipFill>
        <p:spPr>
          <a:xfrm>
            <a:off x="676550" y="1240800"/>
            <a:ext cx="7790899" cy="31974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Appendix A: Service endpoints &amp; infra</a:t>
            </a:r>
            <a:endParaRPr/>
          </a:p>
        </p:txBody>
      </p:sp>
      <p:sp>
        <p:nvSpPr>
          <p:cNvPr id="354" name="Google Shape;354;p57"/>
          <p:cNvSpPr txBox="1"/>
          <p:nvPr>
            <p:ph idx="1" type="body"/>
          </p:nvPr>
        </p:nvSpPr>
        <p:spPr>
          <a:xfrm>
            <a:off x="311700" y="1152475"/>
            <a:ext cx="8520600" cy="3918300"/>
          </a:xfrm>
          <a:prstGeom prst="rect">
            <a:avLst/>
          </a:prstGeom>
        </p:spPr>
        <p:txBody>
          <a:bodyPr anchorCtr="0" anchor="t" bIns="91425" lIns="91425" spcFirstLastPara="1" rIns="91425" wrap="square" tIns="91425">
            <a:noAutofit/>
          </a:bodyPr>
          <a:lstStyle/>
          <a:p>
            <a:pPr indent="-357505" lvl="0" marL="457200" rtl="0" algn="l">
              <a:lnSpc>
                <a:spcPct val="95000"/>
              </a:lnSpc>
              <a:spcBef>
                <a:spcPts val="0"/>
              </a:spcBef>
              <a:spcAft>
                <a:spcPts val="0"/>
              </a:spcAft>
              <a:buSzPts val="2030"/>
              <a:buChar char="❏"/>
            </a:pPr>
            <a:r>
              <a:rPr lang="vi" sz="2029">
                <a:solidFill>
                  <a:schemeClr val="accent2"/>
                </a:solidFill>
              </a:rPr>
              <a:t>Eureka registry:</a:t>
            </a:r>
            <a:r>
              <a:rPr lang="vi" sz="2029"/>
              <a:t> </a:t>
            </a:r>
            <a:r>
              <a:rPr lang="vi" sz="2029" u="sng">
                <a:solidFill>
                  <a:schemeClr val="hlink"/>
                </a:solidFill>
                <a:hlinkClick r:id="rId3"/>
              </a:rPr>
              <a:t>http://167.172.72.189:8761/</a:t>
            </a:r>
            <a:r>
              <a:rPr lang="vi" sz="2029"/>
              <a:t> </a:t>
            </a:r>
            <a:endParaRPr sz="2029"/>
          </a:p>
          <a:p>
            <a:pPr indent="-357505" lvl="0" marL="457200" rtl="0" algn="l">
              <a:lnSpc>
                <a:spcPct val="95000"/>
              </a:lnSpc>
              <a:spcBef>
                <a:spcPts val="0"/>
              </a:spcBef>
              <a:spcAft>
                <a:spcPts val="0"/>
              </a:spcAft>
              <a:buSzPts val="2030"/>
              <a:buChar char="❏"/>
            </a:pPr>
            <a:r>
              <a:rPr lang="vi" sz="2029">
                <a:solidFill>
                  <a:schemeClr val="accent2"/>
                </a:solidFill>
              </a:rPr>
              <a:t>API Gateway (machine):</a:t>
            </a:r>
            <a:r>
              <a:rPr lang="vi" sz="2029"/>
              <a:t> </a:t>
            </a:r>
            <a:r>
              <a:rPr lang="vi" sz="2029" u="sng">
                <a:solidFill>
                  <a:schemeClr val="hlink"/>
                </a:solidFill>
                <a:hlinkClick r:id="rId4"/>
              </a:rPr>
              <a:t>https://yushan.duckdns.org/</a:t>
            </a:r>
            <a:endParaRPr sz="1690"/>
          </a:p>
          <a:p>
            <a:pPr indent="-357505" lvl="0" marL="457200" rtl="0" algn="l">
              <a:lnSpc>
                <a:spcPct val="95000"/>
              </a:lnSpc>
              <a:spcBef>
                <a:spcPts val="0"/>
              </a:spcBef>
              <a:spcAft>
                <a:spcPts val="0"/>
              </a:spcAft>
              <a:buSzPts val="2030"/>
              <a:buChar char="❏"/>
            </a:pPr>
            <a:r>
              <a:rPr lang="vi" sz="2029">
                <a:solidFill>
                  <a:schemeClr val="accent2"/>
                </a:solidFill>
              </a:rPr>
              <a:t>Content:</a:t>
            </a:r>
            <a:r>
              <a:rPr lang="vi" sz="2029"/>
              <a:t> </a:t>
            </a:r>
            <a:r>
              <a:rPr lang="vi" sz="2029" u="sng">
                <a:solidFill>
                  <a:schemeClr val="hlink"/>
                </a:solidFill>
                <a:hlinkClick r:id="rId5"/>
              </a:rPr>
              <a:t>http://157.245.153.167:8082/swagger-ui/index.html</a:t>
            </a:r>
            <a:r>
              <a:rPr lang="vi" sz="2029"/>
              <a:t> </a:t>
            </a:r>
            <a:endParaRPr sz="2029"/>
          </a:p>
          <a:p>
            <a:pPr indent="-357505" lvl="0" marL="457200" rtl="0" algn="l">
              <a:lnSpc>
                <a:spcPct val="95000"/>
              </a:lnSpc>
              <a:spcBef>
                <a:spcPts val="0"/>
              </a:spcBef>
              <a:spcAft>
                <a:spcPts val="0"/>
              </a:spcAft>
              <a:buSzPts val="2030"/>
              <a:buChar char="❏"/>
            </a:pPr>
            <a:r>
              <a:rPr lang="vi" sz="2029">
                <a:solidFill>
                  <a:schemeClr val="accent2"/>
                </a:solidFill>
              </a:rPr>
              <a:t>User:</a:t>
            </a:r>
            <a:r>
              <a:rPr lang="vi" sz="2029"/>
              <a:t> </a:t>
            </a:r>
            <a:r>
              <a:rPr lang="vi" sz="2029" u="sng">
                <a:solidFill>
                  <a:schemeClr val="hlink"/>
                </a:solidFill>
                <a:hlinkClick r:id="rId6"/>
              </a:rPr>
              <a:t>http://167.71.216.54:8081/swagger-ui/index.html</a:t>
            </a:r>
            <a:r>
              <a:rPr lang="vi" sz="2029"/>
              <a:t> </a:t>
            </a:r>
            <a:endParaRPr sz="2029"/>
          </a:p>
          <a:p>
            <a:pPr indent="-357505" lvl="0" marL="457200" rtl="0" algn="l">
              <a:lnSpc>
                <a:spcPct val="95000"/>
              </a:lnSpc>
              <a:spcBef>
                <a:spcPts val="0"/>
              </a:spcBef>
              <a:spcAft>
                <a:spcPts val="0"/>
              </a:spcAft>
              <a:buSzPts val="2030"/>
              <a:buChar char="❏"/>
            </a:pPr>
            <a:r>
              <a:rPr lang="vi" sz="2029">
                <a:solidFill>
                  <a:schemeClr val="accent2"/>
                </a:solidFill>
              </a:rPr>
              <a:t>Engagement:</a:t>
            </a:r>
            <a:r>
              <a:rPr lang="vi" sz="2029"/>
              <a:t> </a:t>
            </a:r>
            <a:r>
              <a:rPr lang="vi" sz="2029" u="sng">
                <a:solidFill>
                  <a:schemeClr val="hlink"/>
                </a:solidFill>
                <a:hlinkClick r:id="rId7"/>
              </a:rPr>
              <a:t>http://167.172.65.76:8084/swagger-ui/index.html</a:t>
            </a:r>
            <a:r>
              <a:rPr lang="vi" sz="2029"/>
              <a:t> </a:t>
            </a:r>
            <a:endParaRPr sz="2029"/>
          </a:p>
          <a:p>
            <a:pPr indent="-357505" lvl="0" marL="457200" rtl="0" algn="l">
              <a:lnSpc>
                <a:spcPct val="95000"/>
              </a:lnSpc>
              <a:spcBef>
                <a:spcPts val="0"/>
              </a:spcBef>
              <a:spcAft>
                <a:spcPts val="0"/>
              </a:spcAft>
              <a:buSzPts val="2030"/>
              <a:buChar char="❏"/>
            </a:pPr>
            <a:r>
              <a:rPr lang="vi" sz="2029">
                <a:solidFill>
                  <a:schemeClr val="accent2"/>
                </a:solidFill>
              </a:rPr>
              <a:t>Gamification:</a:t>
            </a:r>
            <a:r>
              <a:rPr lang="vi" sz="2029"/>
              <a:t> </a:t>
            </a:r>
            <a:r>
              <a:rPr lang="vi" sz="2029" u="sng">
                <a:solidFill>
                  <a:schemeClr val="hlink"/>
                </a:solidFill>
                <a:hlinkClick r:id="rId8"/>
              </a:rPr>
              <a:t>http://139.59.243.188:8085/swagger-ui/index.html</a:t>
            </a:r>
            <a:r>
              <a:rPr lang="vi" sz="2029"/>
              <a:t> </a:t>
            </a:r>
            <a:endParaRPr sz="2029"/>
          </a:p>
          <a:p>
            <a:pPr indent="-357505" lvl="0" marL="457200" rtl="0" algn="l">
              <a:lnSpc>
                <a:spcPct val="95000"/>
              </a:lnSpc>
              <a:spcBef>
                <a:spcPts val="0"/>
              </a:spcBef>
              <a:spcAft>
                <a:spcPts val="0"/>
              </a:spcAft>
              <a:buSzPts val="2030"/>
              <a:buChar char="❏"/>
            </a:pPr>
            <a:r>
              <a:rPr lang="vi" sz="2029">
                <a:solidFill>
                  <a:schemeClr val="accent2"/>
                </a:solidFill>
              </a:rPr>
              <a:t>Analytics:</a:t>
            </a:r>
            <a:r>
              <a:rPr lang="vi" sz="2029"/>
              <a:t> </a:t>
            </a:r>
            <a:r>
              <a:rPr lang="vi" sz="2029" u="sng">
                <a:solidFill>
                  <a:schemeClr val="hlink"/>
                </a:solidFill>
                <a:hlinkClick r:id="rId9"/>
              </a:rPr>
              <a:t>http://139.59.243.188:8083/swagger-ui/index.html</a:t>
            </a:r>
            <a:endParaRPr sz="2029"/>
          </a:p>
          <a:p>
            <a:pPr indent="-357505" lvl="0" marL="457200" rtl="0" algn="l">
              <a:lnSpc>
                <a:spcPct val="95000"/>
              </a:lnSpc>
              <a:spcBef>
                <a:spcPts val="0"/>
              </a:spcBef>
              <a:spcAft>
                <a:spcPts val="0"/>
              </a:spcAft>
              <a:buClr>
                <a:schemeClr val="accent2"/>
              </a:buClr>
              <a:buSzPts val="2030"/>
              <a:buChar char="❏"/>
            </a:pPr>
            <a:r>
              <a:rPr lang="vi" sz="2029">
                <a:solidFill>
                  <a:schemeClr val="accent2"/>
                </a:solidFill>
              </a:rPr>
              <a:t>Object storage: DigitalOcean Spaces (250GB tier)</a:t>
            </a:r>
            <a:endParaRPr sz="2029">
              <a:solidFill>
                <a:schemeClr val="accent2"/>
              </a:solidFill>
            </a:endParaRPr>
          </a:p>
          <a:p>
            <a:pPr indent="-357505" lvl="0" marL="457200" rtl="0" algn="l">
              <a:lnSpc>
                <a:spcPct val="95000"/>
              </a:lnSpc>
              <a:spcBef>
                <a:spcPts val="0"/>
              </a:spcBef>
              <a:spcAft>
                <a:spcPts val="0"/>
              </a:spcAft>
              <a:buClr>
                <a:schemeClr val="accent2"/>
              </a:buClr>
              <a:buSzPts val="2030"/>
              <a:buChar char="❏"/>
            </a:pPr>
            <a:r>
              <a:rPr lang="vi" sz="2029">
                <a:solidFill>
                  <a:schemeClr val="accent2"/>
                </a:solidFill>
              </a:rPr>
              <a:t>Monitoring &amp; Dashboards (internal)</a:t>
            </a:r>
            <a:endParaRPr sz="2029">
              <a:solidFill>
                <a:schemeClr val="accent2"/>
              </a:solidFill>
            </a:endParaRPr>
          </a:p>
          <a:p>
            <a:pPr indent="-335915" lvl="1" marL="914400" rtl="0" algn="l">
              <a:lnSpc>
                <a:spcPct val="95000"/>
              </a:lnSpc>
              <a:spcBef>
                <a:spcPts val="0"/>
              </a:spcBef>
              <a:spcAft>
                <a:spcPts val="0"/>
              </a:spcAft>
              <a:buSzPts val="1690"/>
              <a:buChar char="❏"/>
            </a:pPr>
            <a:r>
              <a:rPr lang="vi" sz="1690">
                <a:solidFill>
                  <a:schemeClr val="accent2"/>
                </a:solidFill>
              </a:rPr>
              <a:t>Grafana:</a:t>
            </a:r>
            <a:r>
              <a:rPr lang="vi" sz="1690"/>
              <a:t> </a:t>
            </a:r>
            <a:r>
              <a:rPr lang="vi" sz="1690" u="sng">
                <a:solidFill>
                  <a:schemeClr val="hlink"/>
                </a:solidFill>
                <a:hlinkClick r:id="rId10"/>
              </a:rPr>
              <a:t>http://157.245.61.206:3000/</a:t>
            </a:r>
            <a:endParaRPr sz="1690"/>
          </a:p>
          <a:p>
            <a:pPr indent="-335915" lvl="1" marL="914400" rtl="0" algn="l">
              <a:lnSpc>
                <a:spcPct val="95000"/>
              </a:lnSpc>
              <a:spcBef>
                <a:spcPts val="0"/>
              </a:spcBef>
              <a:spcAft>
                <a:spcPts val="0"/>
              </a:spcAft>
              <a:buSzPts val="1690"/>
              <a:buChar char="❏"/>
            </a:pPr>
            <a:r>
              <a:rPr lang="vi" sz="1690">
                <a:solidFill>
                  <a:schemeClr val="accent2"/>
                </a:solidFill>
              </a:rPr>
              <a:t>Prometheus:</a:t>
            </a:r>
            <a:r>
              <a:rPr lang="vi" sz="1690"/>
              <a:t> </a:t>
            </a:r>
            <a:r>
              <a:rPr lang="vi" sz="1690" u="sng">
                <a:solidFill>
                  <a:schemeClr val="hlink"/>
                </a:solidFill>
                <a:hlinkClick r:id="rId11"/>
              </a:rPr>
              <a:t>http://157.245.61.206:9090/</a:t>
            </a:r>
            <a:endParaRPr sz="1690"/>
          </a:p>
          <a:p>
            <a:pPr indent="-335915" lvl="1" marL="914400" rtl="0" algn="l">
              <a:lnSpc>
                <a:spcPct val="95000"/>
              </a:lnSpc>
              <a:spcBef>
                <a:spcPts val="0"/>
              </a:spcBef>
              <a:spcAft>
                <a:spcPts val="0"/>
              </a:spcAft>
              <a:buSzPts val="1690"/>
              <a:buChar char="❏"/>
            </a:pPr>
            <a:r>
              <a:rPr lang="vi" sz="1690">
                <a:solidFill>
                  <a:schemeClr val="accent2"/>
                </a:solidFill>
              </a:rPr>
              <a:t>Kibana:</a:t>
            </a:r>
            <a:r>
              <a:rPr lang="vi" sz="1690"/>
              <a:t> </a:t>
            </a:r>
            <a:r>
              <a:rPr lang="vi" sz="1690" u="sng">
                <a:solidFill>
                  <a:schemeClr val="hlink"/>
                </a:solidFill>
                <a:hlinkClick r:id="rId12"/>
              </a:rPr>
              <a:t>http://167.172.77.106:5601/</a:t>
            </a:r>
            <a:endParaRPr sz="1690"/>
          </a:p>
          <a:p>
            <a:pPr indent="-335915" lvl="1" marL="914400" rtl="0" algn="l">
              <a:lnSpc>
                <a:spcPct val="95000"/>
              </a:lnSpc>
              <a:spcBef>
                <a:spcPts val="0"/>
              </a:spcBef>
              <a:spcAft>
                <a:spcPts val="0"/>
              </a:spcAft>
              <a:buSzPts val="1690"/>
              <a:buChar char="❏"/>
            </a:pPr>
            <a:r>
              <a:rPr lang="vi" sz="1690">
                <a:solidFill>
                  <a:schemeClr val="accent2"/>
                </a:solidFill>
              </a:rPr>
              <a:t>Elasticsearch:</a:t>
            </a:r>
            <a:r>
              <a:rPr lang="vi" sz="1690"/>
              <a:t> </a:t>
            </a:r>
            <a:r>
              <a:rPr lang="vi" sz="1690" u="sng">
                <a:solidFill>
                  <a:schemeClr val="hlink"/>
                </a:solidFill>
                <a:hlinkClick r:id="rId13"/>
              </a:rPr>
              <a:t>http://167.172.77.106:9200/</a:t>
            </a:r>
            <a:r>
              <a:rPr lang="vi" sz="1690"/>
              <a:t> </a:t>
            </a:r>
            <a:endParaRPr sz="2029"/>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8"/>
          <p:cNvSpPr txBox="1"/>
          <p:nvPr>
            <p:ph type="title"/>
          </p:nvPr>
        </p:nvSpPr>
        <p:spPr>
          <a:xfrm>
            <a:off x="206325" y="52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System Deployment Overview</a:t>
            </a:r>
            <a:endParaRPr/>
          </a:p>
        </p:txBody>
      </p:sp>
      <p:pic>
        <p:nvPicPr>
          <p:cNvPr id="360" name="Google Shape;360;p58"/>
          <p:cNvPicPr preferRelativeResize="0"/>
          <p:nvPr/>
        </p:nvPicPr>
        <p:blipFill>
          <a:blip r:embed="rId3">
            <a:alphaModFix/>
          </a:blip>
          <a:stretch>
            <a:fillRect/>
          </a:stretch>
        </p:blipFill>
        <p:spPr>
          <a:xfrm>
            <a:off x="1060099" y="565076"/>
            <a:ext cx="6931077" cy="451850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9"/>
          <p:cNvSpPr txBox="1"/>
          <p:nvPr>
            <p:ph type="title"/>
          </p:nvPr>
        </p:nvSpPr>
        <p:spPr>
          <a:xfrm>
            <a:off x="311700" y="2793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1428"/>
              <a:buFont typeface="Arial"/>
              <a:buNone/>
            </a:pPr>
            <a:r>
              <a:rPr b="1" lang="vi" sz="3150"/>
              <a:t>DevOps and Development Lifecycle</a:t>
            </a:r>
            <a:endParaRPr b="1"/>
          </a:p>
        </p:txBody>
      </p:sp>
      <p:sp>
        <p:nvSpPr>
          <p:cNvPr id="366" name="Google Shape;366;p59"/>
          <p:cNvSpPr txBox="1"/>
          <p:nvPr>
            <p:ph idx="1" type="body"/>
          </p:nvPr>
        </p:nvSpPr>
        <p:spPr>
          <a:xfrm>
            <a:off x="311700" y="1101575"/>
            <a:ext cx="8520600" cy="3467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vi">
                <a:solidFill>
                  <a:schemeClr val="dk1"/>
                </a:solidFill>
              </a:rPr>
              <a:t>1. Repository Structure</a:t>
            </a:r>
            <a:endParaRPr b="1">
              <a:solidFill>
                <a:schemeClr val="dk1"/>
              </a:solidFill>
            </a:endParaRPr>
          </a:p>
          <a:p>
            <a:pPr indent="0" lvl="0" marL="0" rtl="0" algn="l">
              <a:spcBef>
                <a:spcPts val="1200"/>
              </a:spcBef>
              <a:spcAft>
                <a:spcPts val="0"/>
              </a:spcAft>
              <a:buNone/>
            </a:pPr>
            <a:r>
              <a:rPr lang="vi">
                <a:solidFill>
                  <a:schemeClr val="dk1"/>
                </a:solidFill>
              </a:rPr>
              <a:t>Multi-Repository Pattern: Each microservice is in its own GitHub repository.</a:t>
            </a:r>
            <a:endParaRPr>
              <a:solidFill>
                <a:schemeClr val="dk1"/>
              </a:solidFill>
            </a:endParaRPr>
          </a:p>
          <a:p>
            <a:pPr indent="-342900" lvl="0" marL="457200" rtl="0" algn="l">
              <a:spcBef>
                <a:spcPts val="1200"/>
              </a:spcBef>
              <a:spcAft>
                <a:spcPts val="0"/>
              </a:spcAft>
              <a:buClr>
                <a:schemeClr val="dk1"/>
              </a:buClr>
              <a:buSzPts val="1800"/>
              <a:buChar char="●"/>
            </a:pPr>
            <a:r>
              <a:rPr lang="vi">
                <a:solidFill>
                  <a:schemeClr val="dk1"/>
                </a:solidFill>
              </a:rPr>
              <a:t>yushan-user-service</a:t>
            </a:r>
            <a:endParaRPr>
              <a:solidFill>
                <a:schemeClr val="dk1"/>
              </a:solidFill>
            </a:endParaRPr>
          </a:p>
          <a:p>
            <a:pPr indent="-342900" lvl="0" marL="457200" rtl="0" algn="l">
              <a:spcBef>
                <a:spcPts val="0"/>
              </a:spcBef>
              <a:spcAft>
                <a:spcPts val="0"/>
              </a:spcAft>
              <a:buClr>
                <a:schemeClr val="dk1"/>
              </a:buClr>
              <a:buSzPts val="1800"/>
              <a:buChar char="●"/>
            </a:pPr>
            <a:r>
              <a:rPr lang="vi">
                <a:solidFill>
                  <a:schemeClr val="dk1"/>
                </a:solidFill>
              </a:rPr>
              <a:t>yushan-content-service</a:t>
            </a:r>
            <a:endParaRPr>
              <a:solidFill>
                <a:schemeClr val="dk1"/>
              </a:solidFill>
            </a:endParaRPr>
          </a:p>
          <a:p>
            <a:pPr indent="-342900" lvl="0" marL="457200" rtl="0" algn="l">
              <a:spcBef>
                <a:spcPts val="0"/>
              </a:spcBef>
              <a:spcAft>
                <a:spcPts val="0"/>
              </a:spcAft>
              <a:buClr>
                <a:schemeClr val="dk1"/>
              </a:buClr>
              <a:buSzPts val="1800"/>
              <a:buChar char="●"/>
            </a:pPr>
            <a:r>
              <a:rPr lang="vi">
                <a:solidFill>
                  <a:schemeClr val="dk1"/>
                </a:solidFill>
              </a:rPr>
              <a:t>yushan-engagement-service</a:t>
            </a:r>
            <a:endParaRPr>
              <a:solidFill>
                <a:schemeClr val="dk1"/>
              </a:solidFill>
            </a:endParaRPr>
          </a:p>
          <a:p>
            <a:pPr indent="-342900" lvl="0" marL="457200" rtl="0" algn="l">
              <a:spcBef>
                <a:spcPts val="0"/>
              </a:spcBef>
              <a:spcAft>
                <a:spcPts val="0"/>
              </a:spcAft>
              <a:buClr>
                <a:schemeClr val="dk1"/>
              </a:buClr>
              <a:buSzPts val="1800"/>
              <a:buChar char="●"/>
            </a:pPr>
            <a:r>
              <a:rPr lang="vi">
                <a:solidFill>
                  <a:schemeClr val="dk1"/>
                </a:solidFill>
              </a:rPr>
              <a:t>yushan-gamification-service</a:t>
            </a:r>
            <a:endParaRPr>
              <a:solidFill>
                <a:schemeClr val="dk1"/>
              </a:solidFill>
            </a:endParaRPr>
          </a:p>
          <a:p>
            <a:pPr indent="-342900" lvl="0" marL="457200" rtl="0" algn="l">
              <a:spcBef>
                <a:spcPts val="0"/>
              </a:spcBef>
              <a:spcAft>
                <a:spcPts val="0"/>
              </a:spcAft>
              <a:buClr>
                <a:schemeClr val="dk1"/>
              </a:buClr>
              <a:buSzPts val="1800"/>
              <a:buChar char="●"/>
            </a:pPr>
            <a:r>
              <a:rPr lang="vi">
                <a:solidFill>
                  <a:schemeClr val="dk1"/>
                </a:solidFill>
              </a:rPr>
              <a:t>yushan-analytics-service</a:t>
            </a:r>
            <a:endParaRPr>
              <a:solidFill>
                <a:schemeClr val="dk1"/>
              </a:solidFill>
            </a:endParaRPr>
          </a:p>
          <a:p>
            <a:pPr indent="-342900" lvl="0" marL="457200" rtl="0" algn="l">
              <a:spcBef>
                <a:spcPts val="0"/>
              </a:spcBef>
              <a:spcAft>
                <a:spcPts val="0"/>
              </a:spcAft>
              <a:buClr>
                <a:schemeClr val="dk1"/>
              </a:buClr>
              <a:buSzPts val="1800"/>
              <a:buChar char="●"/>
            </a:pPr>
            <a:r>
              <a:rPr lang="vi">
                <a:solidFill>
                  <a:schemeClr val="dk1"/>
                </a:solidFill>
              </a:rPr>
              <a:t>yushan-service-registry</a:t>
            </a:r>
            <a:endParaRPr>
              <a:solidFill>
                <a:schemeClr val="dk1"/>
              </a:solidFill>
            </a:endParaRPr>
          </a:p>
          <a:p>
            <a:pPr indent="-342900" lvl="0" marL="457200" rtl="0" algn="l">
              <a:spcBef>
                <a:spcPts val="0"/>
              </a:spcBef>
              <a:spcAft>
                <a:spcPts val="0"/>
              </a:spcAft>
              <a:buClr>
                <a:schemeClr val="dk1"/>
              </a:buClr>
              <a:buSzPts val="1800"/>
              <a:buChar char="●"/>
            </a:pPr>
            <a:r>
              <a:rPr lang="vi">
                <a:solidFill>
                  <a:schemeClr val="dk1"/>
                </a:solidFill>
              </a:rPr>
              <a:t>yushan-config-server</a:t>
            </a:r>
            <a:endParaRPr>
              <a:solidFill>
                <a:schemeClr val="dk1"/>
              </a:solidFill>
            </a:endParaRPr>
          </a:p>
          <a:p>
            <a:pPr indent="-342900" lvl="0" marL="457200" rtl="0" algn="l">
              <a:spcBef>
                <a:spcPts val="0"/>
              </a:spcBef>
              <a:spcAft>
                <a:spcPts val="0"/>
              </a:spcAft>
              <a:buClr>
                <a:schemeClr val="dk1"/>
              </a:buClr>
              <a:buSzPts val="1800"/>
              <a:buChar char="●"/>
            </a:pPr>
            <a:r>
              <a:rPr lang="vi">
                <a:solidFill>
                  <a:schemeClr val="dk1"/>
                </a:solidFill>
              </a:rPr>
              <a:t>yushan-api-gateway</a:t>
            </a:r>
            <a:endParaRPr>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60"/>
          <p:cNvSpPr txBox="1"/>
          <p:nvPr>
            <p:ph idx="1" type="body"/>
          </p:nvPr>
        </p:nvSpPr>
        <p:spPr>
          <a:xfrm>
            <a:off x="311700" y="298175"/>
            <a:ext cx="8520600" cy="427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vi">
                <a:solidFill>
                  <a:schemeClr val="dk1"/>
                </a:solidFill>
              </a:rPr>
              <a:t>Benefit</a:t>
            </a:r>
            <a:endParaRPr b="1">
              <a:solidFill>
                <a:schemeClr val="dk1"/>
              </a:solidFill>
            </a:endParaRPr>
          </a:p>
          <a:p>
            <a:pPr indent="-342900" lvl="0" marL="457200" rtl="0" algn="l">
              <a:spcBef>
                <a:spcPts val="1200"/>
              </a:spcBef>
              <a:spcAft>
                <a:spcPts val="0"/>
              </a:spcAft>
              <a:buClr>
                <a:schemeClr val="dk1"/>
              </a:buClr>
              <a:buSzPts val="1800"/>
              <a:buChar char="●"/>
            </a:pPr>
            <a:r>
              <a:rPr lang="vi">
                <a:solidFill>
                  <a:schemeClr val="dk1"/>
                </a:solidFill>
              </a:rPr>
              <a:t>Independent version control per service</a:t>
            </a:r>
            <a:endParaRPr>
              <a:solidFill>
                <a:schemeClr val="dk1"/>
              </a:solidFill>
            </a:endParaRPr>
          </a:p>
          <a:p>
            <a:pPr indent="-342900" lvl="0" marL="457200" rtl="0" algn="l">
              <a:spcBef>
                <a:spcPts val="0"/>
              </a:spcBef>
              <a:spcAft>
                <a:spcPts val="0"/>
              </a:spcAft>
              <a:buClr>
                <a:schemeClr val="dk1"/>
              </a:buClr>
              <a:buSzPts val="1800"/>
              <a:buChar char="●"/>
            </a:pPr>
            <a:r>
              <a:rPr lang="vi">
                <a:solidFill>
                  <a:schemeClr val="dk1"/>
                </a:solidFill>
              </a:rPr>
              <a:t>Service-specific CI/CD pipelines</a:t>
            </a:r>
            <a:endParaRPr>
              <a:solidFill>
                <a:schemeClr val="dk1"/>
              </a:solidFill>
            </a:endParaRPr>
          </a:p>
          <a:p>
            <a:pPr indent="-342900" lvl="0" marL="457200" rtl="0" algn="l">
              <a:spcBef>
                <a:spcPts val="0"/>
              </a:spcBef>
              <a:spcAft>
                <a:spcPts val="0"/>
              </a:spcAft>
              <a:buClr>
                <a:schemeClr val="dk1"/>
              </a:buClr>
              <a:buSzPts val="1800"/>
              <a:buChar char="●"/>
            </a:pPr>
            <a:r>
              <a:rPr lang="vi">
                <a:solidFill>
                  <a:schemeClr val="dk1"/>
                </a:solidFill>
              </a:rPr>
              <a:t>Team autonomy</a:t>
            </a:r>
            <a:endParaRPr>
              <a:solidFill>
                <a:schemeClr val="dk1"/>
              </a:solidFill>
            </a:endParaRPr>
          </a:p>
          <a:p>
            <a:pPr indent="-342900" lvl="0" marL="457200" rtl="0" algn="l">
              <a:spcBef>
                <a:spcPts val="0"/>
              </a:spcBef>
              <a:spcAft>
                <a:spcPts val="0"/>
              </a:spcAft>
              <a:buClr>
                <a:schemeClr val="dk1"/>
              </a:buClr>
              <a:buSzPts val="1800"/>
              <a:buChar char="●"/>
            </a:pPr>
            <a:r>
              <a:rPr lang="vi">
                <a:solidFill>
                  <a:schemeClr val="dk1"/>
                </a:solidFill>
              </a:rPr>
              <a:t>Granular access control</a:t>
            </a:r>
            <a:endParaRPr>
              <a:solidFill>
                <a:schemeClr val="dk1"/>
              </a:solidFill>
            </a:endParaRPr>
          </a:p>
          <a:p>
            <a:pPr indent="-342900" lvl="0" marL="457200" rtl="0" algn="l">
              <a:spcBef>
                <a:spcPts val="0"/>
              </a:spcBef>
              <a:spcAft>
                <a:spcPts val="0"/>
              </a:spcAft>
              <a:buClr>
                <a:schemeClr val="dk1"/>
              </a:buClr>
              <a:buSzPts val="1800"/>
              <a:buChar char="●"/>
            </a:pPr>
            <a:r>
              <a:rPr lang="vi">
                <a:solidFill>
                  <a:schemeClr val="dk1"/>
                </a:solidFill>
              </a:rPr>
              <a:t>Independent release cycles</a:t>
            </a:r>
            <a:endParaRPr>
              <a:solidFill>
                <a:schemeClr val="dk1"/>
              </a:solidFill>
            </a:endParaRPr>
          </a:p>
        </p:txBody>
      </p:sp>
      <p:pic>
        <p:nvPicPr>
          <p:cNvPr id="372" name="Google Shape;372;p60" title="Screenshot 2025-10-26 at 21.40.12.png"/>
          <p:cNvPicPr preferRelativeResize="0"/>
          <p:nvPr/>
        </p:nvPicPr>
        <p:blipFill>
          <a:blip r:embed="rId3">
            <a:alphaModFix/>
          </a:blip>
          <a:stretch>
            <a:fillRect/>
          </a:stretch>
        </p:blipFill>
        <p:spPr>
          <a:xfrm>
            <a:off x="4389325" y="1500894"/>
            <a:ext cx="4373649" cy="1260825"/>
          </a:xfrm>
          <a:prstGeom prst="rect">
            <a:avLst/>
          </a:prstGeom>
          <a:noFill/>
          <a:ln>
            <a:noFill/>
          </a:ln>
        </p:spPr>
      </p:pic>
      <p:pic>
        <p:nvPicPr>
          <p:cNvPr id="373" name="Google Shape;373;p60" title="Screenshot 2025-10-26 at 21.41.32.png"/>
          <p:cNvPicPr preferRelativeResize="0"/>
          <p:nvPr/>
        </p:nvPicPr>
        <p:blipFill>
          <a:blip r:embed="rId4">
            <a:alphaModFix/>
          </a:blip>
          <a:stretch>
            <a:fillRect/>
          </a:stretch>
        </p:blipFill>
        <p:spPr>
          <a:xfrm>
            <a:off x="521775" y="3309120"/>
            <a:ext cx="8241202" cy="1190125"/>
          </a:xfrm>
          <a:prstGeom prst="rect">
            <a:avLst/>
          </a:prstGeom>
          <a:noFill/>
          <a:ln>
            <a:noFill/>
          </a:ln>
        </p:spPr>
      </p:pic>
      <p:sp>
        <p:nvSpPr>
          <p:cNvPr id="374" name="Google Shape;374;p60"/>
          <p:cNvSpPr txBox="1"/>
          <p:nvPr/>
        </p:nvSpPr>
        <p:spPr>
          <a:xfrm>
            <a:off x="3142375" y="449925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vi"/>
              <a:t>Content Service CI/CD Pipeline</a:t>
            </a:r>
            <a:endParaRPr/>
          </a:p>
        </p:txBody>
      </p:sp>
      <p:sp>
        <p:nvSpPr>
          <p:cNvPr id="375" name="Google Shape;375;p60"/>
          <p:cNvSpPr txBox="1"/>
          <p:nvPr/>
        </p:nvSpPr>
        <p:spPr>
          <a:xfrm>
            <a:off x="5076150" y="2761719"/>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vi"/>
              <a:t>Server Register CI/CD Pipeline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1"/>
          <p:cNvSpPr txBox="1"/>
          <p:nvPr>
            <p:ph idx="1" type="body"/>
          </p:nvPr>
        </p:nvSpPr>
        <p:spPr>
          <a:xfrm>
            <a:off x="311700" y="223625"/>
            <a:ext cx="8520600" cy="434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vi">
                <a:solidFill>
                  <a:schemeClr val="dk1"/>
                </a:solidFill>
              </a:rPr>
              <a:t>2. Artifact Management</a:t>
            </a:r>
            <a:endParaRPr b="1">
              <a:solidFill>
                <a:schemeClr val="dk1"/>
              </a:solidFill>
            </a:endParaRPr>
          </a:p>
          <a:p>
            <a:pPr indent="-342900" lvl="0" marL="457200" rtl="0" algn="l">
              <a:spcBef>
                <a:spcPts val="1200"/>
              </a:spcBef>
              <a:spcAft>
                <a:spcPts val="0"/>
              </a:spcAft>
              <a:buClr>
                <a:schemeClr val="dk1"/>
              </a:buClr>
              <a:buSzPts val="1800"/>
              <a:buChar char="●"/>
            </a:pPr>
            <a:r>
              <a:rPr lang="vi">
                <a:solidFill>
                  <a:schemeClr val="dk1"/>
                </a:solidFill>
              </a:rPr>
              <a:t>Container Image Registry: GitHub Container Registry</a:t>
            </a:r>
            <a:endParaRPr>
              <a:solidFill>
                <a:schemeClr val="dk1"/>
              </a:solidFill>
            </a:endParaRPr>
          </a:p>
          <a:p>
            <a:pPr indent="-342900" lvl="0" marL="457200" rtl="0" algn="l">
              <a:spcBef>
                <a:spcPts val="0"/>
              </a:spcBef>
              <a:spcAft>
                <a:spcPts val="0"/>
              </a:spcAft>
              <a:buClr>
                <a:schemeClr val="dk1"/>
              </a:buClr>
              <a:buSzPts val="1800"/>
              <a:buChar char="●"/>
            </a:pPr>
            <a:r>
              <a:rPr lang="vi">
                <a:solidFill>
                  <a:schemeClr val="dk1"/>
                </a:solidFill>
              </a:rPr>
              <a:t>Location: </a:t>
            </a:r>
            <a:r>
              <a:rPr lang="vi" u="sng">
                <a:solidFill>
                  <a:schemeClr val="hlink"/>
                </a:solidFill>
                <a:hlinkClick r:id="rId3"/>
              </a:rPr>
              <a:t>ghcr.io/maugus0/yushan-</a:t>
            </a:r>
            <a:r>
              <a:rPr lang="vi">
                <a:solidFill>
                  <a:schemeClr val="dk1"/>
                </a:solidFill>
              </a:rPr>
              <a:t>*</a:t>
            </a:r>
            <a:endParaRPr>
              <a:solidFill>
                <a:schemeClr val="dk1"/>
              </a:solidFill>
            </a:endParaRPr>
          </a:p>
          <a:p>
            <a:pPr indent="-342900" lvl="0" marL="457200" rtl="0" algn="l">
              <a:spcBef>
                <a:spcPts val="0"/>
              </a:spcBef>
              <a:spcAft>
                <a:spcPts val="0"/>
              </a:spcAft>
              <a:buClr>
                <a:schemeClr val="dk1"/>
              </a:buClr>
              <a:buSzPts val="1800"/>
              <a:buChar char="●"/>
            </a:pPr>
            <a:r>
              <a:rPr lang="vi">
                <a:solidFill>
                  <a:schemeClr val="dk1"/>
                </a:solidFill>
              </a:rPr>
              <a:t>Multi-Platform Build:</a:t>
            </a:r>
            <a:endParaRPr>
              <a:solidFill>
                <a:schemeClr val="dk1"/>
              </a:solidFill>
            </a:endParaRPr>
          </a:p>
          <a:p>
            <a:pPr indent="-317500" lvl="1" marL="914400" rtl="0" algn="l">
              <a:spcBef>
                <a:spcPts val="0"/>
              </a:spcBef>
              <a:spcAft>
                <a:spcPts val="0"/>
              </a:spcAft>
              <a:buClr>
                <a:schemeClr val="dk1"/>
              </a:buClr>
              <a:buSzPts val="1400"/>
              <a:buChar char="○"/>
            </a:pPr>
            <a:r>
              <a:rPr lang="vi">
                <a:solidFill>
                  <a:schemeClr val="dk1"/>
                </a:solidFill>
              </a:rPr>
              <a:t>Platforms: linux/amd64, linux/arm64</a:t>
            </a:r>
            <a:endParaRPr>
              <a:solidFill>
                <a:schemeClr val="dk1"/>
              </a:solidFill>
            </a:endParaRPr>
          </a:p>
          <a:p>
            <a:pPr indent="-317500" lvl="1" marL="914400" rtl="0" algn="l">
              <a:spcBef>
                <a:spcPts val="0"/>
              </a:spcBef>
              <a:spcAft>
                <a:spcPts val="0"/>
              </a:spcAft>
              <a:buClr>
                <a:schemeClr val="dk1"/>
              </a:buClr>
              <a:buSzPts val="1400"/>
              <a:buChar char="○"/>
            </a:pPr>
            <a:r>
              <a:rPr lang="vi">
                <a:solidFill>
                  <a:schemeClr val="dk1"/>
                </a:solidFill>
              </a:rPr>
              <a:t>Push strategy: Push once, pull by platform</a:t>
            </a:r>
            <a:endParaRPr>
              <a:solidFill>
                <a:schemeClr val="dk1"/>
              </a:solidFill>
            </a:endParaRPr>
          </a:p>
          <a:p>
            <a:pPr indent="-317500" lvl="1" marL="914400" rtl="0" algn="l">
              <a:spcBef>
                <a:spcPts val="0"/>
              </a:spcBef>
              <a:spcAft>
                <a:spcPts val="0"/>
              </a:spcAft>
              <a:buClr>
                <a:schemeClr val="dk1"/>
              </a:buClr>
              <a:buSzPts val="1400"/>
              <a:buChar char="○"/>
            </a:pPr>
            <a:r>
              <a:rPr lang="vi">
                <a:solidFill>
                  <a:schemeClr val="dk1"/>
                </a:solidFill>
              </a:rPr>
              <a:t>Cache: GitHub Actions cache for faster builds</a:t>
            </a:r>
            <a:endParaRPr>
              <a:solidFill>
                <a:schemeClr val="dk1"/>
              </a:solidFill>
            </a:endParaRPr>
          </a:p>
          <a:p>
            <a:pPr indent="-342900" lvl="0" marL="457200" rtl="0" algn="l">
              <a:spcBef>
                <a:spcPts val="0"/>
              </a:spcBef>
              <a:spcAft>
                <a:spcPts val="0"/>
              </a:spcAft>
              <a:buClr>
                <a:schemeClr val="dk1"/>
              </a:buClr>
              <a:buSzPts val="1800"/>
              <a:buChar char="●"/>
            </a:pPr>
            <a:r>
              <a:rPr lang="vi">
                <a:solidFill>
                  <a:schemeClr val="dk1"/>
                </a:solidFill>
              </a:rPr>
              <a:t>GitHub Actions artifacts</a:t>
            </a:r>
            <a:endParaRPr>
              <a:solidFill>
                <a:schemeClr val="dk1"/>
              </a:solidFill>
            </a:endParaRPr>
          </a:p>
        </p:txBody>
      </p:sp>
      <p:pic>
        <p:nvPicPr>
          <p:cNvPr id="381" name="Google Shape;381;p61" title="Screenshot 2025-10-26 at 22.03.18.png"/>
          <p:cNvPicPr preferRelativeResize="0"/>
          <p:nvPr/>
        </p:nvPicPr>
        <p:blipFill>
          <a:blip r:embed="rId4">
            <a:alphaModFix/>
          </a:blip>
          <a:stretch>
            <a:fillRect/>
          </a:stretch>
        </p:blipFill>
        <p:spPr>
          <a:xfrm>
            <a:off x="944725" y="2905700"/>
            <a:ext cx="7254548" cy="1961325"/>
          </a:xfrm>
          <a:prstGeom prst="rect">
            <a:avLst/>
          </a:prstGeom>
          <a:noFill/>
          <a:ln>
            <a:noFill/>
          </a:ln>
        </p:spPr>
      </p:pic>
      <p:sp>
        <p:nvSpPr>
          <p:cNvPr id="382" name="Google Shape;382;p61"/>
          <p:cNvSpPr txBox="1"/>
          <p:nvPr/>
        </p:nvSpPr>
        <p:spPr>
          <a:xfrm>
            <a:off x="3072000" y="46433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2"/>
          <p:cNvSpPr txBox="1"/>
          <p:nvPr>
            <p:ph idx="1" type="body"/>
          </p:nvPr>
        </p:nvSpPr>
        <p:spPr>
          <a:xfrm>
            <a:off x="311700" y="223625"/>
            <a:ext cx="8520600" cy="434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vi">
                <a:solidFill>
                  <a:schemeClr val="dk1"/>
                </a:solidFill>
              </a:rPr>
              <a:t>3. DevOps Pipeline &amp; Procedures</a:t>
            </a:r>
            <a:endParaRPr b="1">
              <a:solidFill>
                <a:schemeClr val="dk1"/>
              </a:solidFill>
            </a:endParaRPr>
          </a:p>
          <a:p>
            <a:pPr indent="-342900" lvl="0" marL="457200" rtl="0" algn="l">
              <a:spcBef>
                <a:spcPts val="1200"/>
              </a:spcBef>
              <a:spcAft>
                <a:spcPts val="0"/>
              </a:spcAft>
              <a:buClr>
                <a:schemeClr val="dk1"/>
              </a:buClr>
              <a:buSzPts val="1800"/>
              <a:buChar char="●"/>
            </a:pPr>
            <a:r>
              <a:rPr lang="vi">
                <a:solidFill>
                  <a:schemeClr val="dk1"/>
                </a:solidFill>
              </a:rPr>
              <a:t>Workflow File: .github/workflows/maven.yml in each service</a:t>
            </a:r>
            <a:endParaRPr>
              <a:solidFill>
                <a:schemeClr val="dk1"/>
              </a:solidFill>
            </a:endParaRPr>
          </a:p>
          <a:p>
            <a:pPr indent="-342900" lvl="0" marL="457200" rtl="0" algn="l">
              <a:spcBef>
                <a:spcPts val="0"/>
              </a:spcBef>
              <a:spcAft>
                <a:spcPts val="0"/>
              </a:spcAft>
              <a:buClr>
                <a:schemeClr val="dk1"/>
              </a:buClr>
              <a:buSzPts val="1800"/>
              <a:buChar char="●"/>
            </a:pPr>
            <a:r>
              <a:rPr lang="vi">
                <a:solidFill>
                  <a:schemeClr val="dk1"/>
                </a:solidFill>
              </a:rPr>
              <a:t>Runner: ubuntu-latest (GitHub-hosted)</a:t>
            </a:r>
            <a:endParaRPr>
              <a:solidFill>
                <a:schemeClr val="dk1"/>
              </a:solidFill>
            </a:endParaRPr>
          </a:p>
          <a:p>
            <a:pPr indent="-342900" lvl="0" marL="457200" rtl="0" algn="l">
              <a:spcBef>
                <a:spcPts val="0"/>
              </a:spcBef>
              <a:spcAft>
                <a:spcPts val="0"/>
              </a:spcAft>
              <a:buClr>
                <a:schemeClr val="dk1"/>
              </a:buClr>
              <a:buSzPts val="1800"/>
              <a:buChar char="●"/>
            </a:pPr>
            <a:r>
              <a:rPr lang="vi">
                <a:solidFill>
                  <a:schemeClr val="dk1"/>
                </a:solidFill>
              </a:rPr>
              <a:t>Trigger:</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342900" lvl="0" marL="457200" rtl="0" algn="l">
              <a:spcBef>
                <a:spcPts val="1200"/>
              </a:spcBef>
              <a:spcAft>
                <a:spcPts val="0"/>
              </a:spcAft>
              <a:buClr>
                <a:schemeClr val="dk1"/>
              </a:buClr>
              <a:buSzPts val="1800"/>
              <a:buChar char="●"/>
            </a:pPr>
            <a:r>
              <a:rPr lang="vi">
                <a:solidFill>
                  <a:schemeClr val="dk1"/>
                </a:solidFill>
              </a:rPr>
              <a:t>Concurrency Control:</a:t>
            </a:r>
            <a:endParaRPr>
              <a:solidFill>
                <a:schemeClr val="dk1"/>
              </a:solidFill>
            </a:endParaRPr>
          </a:p>
        </p:txBody>
      </p:sp>
      <p:pic>
        <p:nvPicPr>
          <p:cNvPr id="388" name="Google Shape;388;p62" title="Screenshot 2025-10-26 at 22.07.04.png"/>
          <p:cNvPicPr preferRelativeResize="0"/>
          <p:nvPr/>
        </p:nvPicPr>
        <p:blipFill>
          <a:blip r:embed="rId3">
            <a:alphaModFix/>
          </a:blip>
          <a:stretch>
            <a:fillRect/>
          </a:stretch>
        </p:blipFill>
        <p:spPr>
          <a:xfrm>
            <a:off x="1776400" y="1843350"/>
            <a:ext cx="5591175" cy="1238250"/>
          </a:xfrm>
          <a:prstGeom prst="rect">
            <a:avLst/>
          </a:prstGeom>
          <a:noFill/>
          <a:ln>
            <a:noFill/>
          </a:ln>
        </p:spPr>
      </p:pic>
      <p:pic>
        <p:nvPicPr>
          <p:cNvPr id="389" name="Google Shape;389;p62" title="Screenshot 2025-10-26 at 22.08.02.png"/>
          <p:cNvPicPr preferRelativeResize="0"/>
          <p:nvPr/>
        </p:nvPicPr>
        <p:blipFill>
          <a:blip r:embed="rId4">
            <a:alphaModFix/>
          </a:blip>
          <a:stretch>
            <a:fillRect/>
          </a:stretch>
        </p:blipFill>
        <p:spPr>
          <a:xfrm>
            <a:off x="1731403" y="3768578"/>
            <a:ext cx="5681200" cy="9327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63"/>
          <p:cNvSpPr txBox="1"/>
          <p:nvPr>
            <p:ph idx="1" type="body"/>
          </p:nvPr>
        </p:nvSpPr>
        <p:spPr>
          <a:xfrm>
            <a:off x="311700" y="223625"/>
            <a:ext cx="8520600" cy="4345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vi">
                <a:solidFill>
                  <a:schemeClr val="dk1"/>
                </a:solidFill>
              </a:rPr>
              <a:t>Yushan Platform Frontend CI/CD Pipeline</a:t>
            </a:r>
            <a:endParaRPr b="1">
              <a:solidFill>
                <a:schemeClr val="dk1"/>
              </a:solidFill>
            </a:endParaRPr>
          </a:p>
        </p:txBody>
      </p:sp>
      <p:pic>
        <p:nvPicPr>
          <p:cNvPr id="395" name="Google Shape;395;p63" title="Screenshot 2025-10-26 at 21.29.52.png"/>
          <p:cNvPicPr preferRelativeResize="0"/>
          <p:nvPr/>
        </p:nvPicPr>
        <p:blipFill>
          <a:blip r:embed="rId3">
            <a:alphaModFix/>
          </a:blip>
          <a:stretch>
            <a:fillRect/>
          </a:stretch>
        </p:blipFill>
        <p:spPr>
          <a:xfrm>
            <a:off x="392175" y="1413258"/>
            <a:ext cx="8359625" cy="2755875"/>
          </a:xfrm>
          <a:prstGeom prst="rect">
            <a:avLst/>
          </a:prstGeom>
          <a:noFill/>
          <a:ln>
            <a:noFill/>
          </a:ln>
        </p:spPr>
      </p:pic>
      <p:sp>
        <p:nvSpPr>
          <p:cNvPr id="396" name="Google Shape;396;p63"/>
          <p:cNvSpPr txBox="1"/>
          <p:nvPr/>
        </p:nvSpPr>
        <p:spPr>
          <a:xfrm>
            <a:off x="392175" y="4376733"/>
            <a:ext cx="2082300" cy="55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vi" sz="1200"/>
              <a:t>Check code style, formatting (Prettier, ESLint)</a:t>
            </a:r>
            <a:endParaRPr sz="1200"/>
          </a:p>
        </p:txBody>
      </p:sp>
      <p:sp>
        <p:nvSpPr>
          <p:cNvPr id="397" name="Google Shape;397;p63"/>
          <p:cNvSpPr txBox="1"/>
          <p:nvPr/>
        </p:nvSpPr>
        <p:spPr>
          <a:xfrm>
            <a:off x="2633675" y="4376733"/>
            <a:ext cx="1709100" cy="55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vi" sz="1200"/>
              <a:t>Find dependency vulnerabilities (Snyk)</a:t>
            </a:r>
            <a:endParaRPr sz="1200"/>
          </a:p>
        </p:txBody>
      </p:sp>
      <p:sp>
        <p:nvSpPr>
          <p:cNvPr id="398" name="Google Shape;398;p63"/>
          <p:cNvSpPr txBox="1"/>
          <p:nvPr/>
        </p:nvSpPr>
        <p:spPr>
          <a:xfrm>
            <a:off x="4572000" y="4376733"/>
            <a:ext cx="1904400" cy="55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vi" sz="1200"/>
              <a:t>Verify production build (npm) -&gt; Build artifacts</a:t>
            </a:r>
            <a:endParaRPr sz="1200"/>
          </a:p>
        </p:txBody>
      </p:sp>
      <p:sp>
        <p:nvSpPr>
          <p:cNvPr id="399" name="Google Shape;399;p63"/>
          <p:cNvSpPr txBox="1"/>
          <p:nvPr/>
        </p:nvSpPr>
        <p:spPr>
          <a:xfrm>
            <a:off x="6705625" y="4284333"/>
            <a:ext cx="2198700" cy="738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vi" sz="1200"/>
              <a:t>Deploy to GitHub Pages (gh-pages CLI, Playwright) - Health check + Auto rollback</a:t>
            </a:r>
            <a:endParaRPr sz="1200"/>
          </a:p>
        </p:txBody>
      </p:sp>
      <p:sp>
        <p:nvSpPr>
          <p:cNvPr id="400" name="Google Shape;400;p63"/>
          <p:cNvSpPr txBox="1"/>
          <p:nvPr/>
        </p:nvSpPr>
        <p:spPr>
          <a:xfrm>
            <a:off x="392175" y="712083"/>
            <a:ext cx="2082300" cy="55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vi" sz="1200"/>
              <a:t>Test components, functions (Jest, React Testing Library)</a:t>
            </a:r>
            <a:endParaRPr sz="1200"/>
          </a:p>
        </p:txBody>
      </p:sp>
      <p:sp>
        <p:nvSpPr>
          <p:cNvPr id="401" name="Google Shape;401;p63"/>
          <p:cNvSpPr txBox="1"/>
          <p:nvPr/>
        </p:nvSpPr>
        <p:spPr>
          <a:xfrm>
            <a:off x="2578600" y="712083"/>
            <a:ext cx="1399200" cy="55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vi" sz="1200"/>
              <a:t>Code quality gate (SonarCloud)</a:t>
            </a:r>
            <a:endParaRPr sz="1200"/>
          </a:p>
        </p:txBody>
      </p:sp>
      <p:sp>
        <p:nvSpPr>
          <p:cNvPr id="402" name="Google Shape;402;p63"/>
          <p:cNvSpPr txBox="1"/>
          <p:nvPr/>
        </p:nvSpPr>
        <p:spPr>
          <a:xfrm>
            <a:off x="4117800" y="712083"/>
            <a:ext cx="1709100" cy="55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vi" sz="1200"/>
              <a:t>Build container image (Docker Buildx, Trivy)</a:t>
            </a:r>
            <a:endParaRPr sz="1200"/>
          </a:p>
        </p:txBody>
      </p:sp>
      <p:sp>
        <p:nvSpPr>
          <p:cNvPr id="403" name="Google Shape;403;p63"/>
          <p:cNvSpPr txBox="1"/>
          <p:nvPr/>
        </p:nvSpPr>
        <p:spPr>
          <a:xfrm>
            <a:off x="5962975" y="712083"/>
            <a:ext cx="1709100" cy="55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vi" sz="1200"/>
              <a:t>Security scan running app (OWASP ZAP)</a:t>
            </a:r>
            <a:endParaRPr sz="1200"/>
          </a:p>
        </p:txBody>
      </p:sp>
      <p:sp>
        <p:nvSpPr>
          <p:cNvPr id="404" name="Google Shape;404;p63"/>
          <p:cNvSpPr txBox="1"/>
          <p:nvPr/>
        </p:nvSpPr>
        <p:spPr>
          <a:xfrm>
            <a:off x="7808138" y="712083"/>
            <a:ext cx="1080000" cy="55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vi" sz="1200"/>
              <a:t>Collect all CI reports</a:t>
            </a:r>
            <a:endParaRPr sz="1200"/>
          </a:p>
        </p:txBody>
      </p:sp>
      <p:cxnSp>
        <p:nvCxnSpPr>
          <p:cNvPr id="405" name="Google Shape;405;p63"/>
          <p:cNvCxnSpPr>
            <a:stCxn id="400" idx="2"/>
          </p:cNvCxnSpPr>
          <p:nvPr/>
        </p:nvCxnSpPr>
        <p:spPr>
          <a:xfrm>
            <a:off x="1433325" y="1266183"/>
            <a:ext cx="727800" cy="1663500"/>
          </a:xfrm>
          <a:prstGeom prst="straightConnector1">
            <a:avLst/>
          </a:prstGeom>
          <a:noFill/>
          <a:ln cap="flat" cmpd="sng" w="19050">
            <a:solidFill>
              <a:srgbClr val="FF0000"/>
            </a:solidFill>
            <a:prstDash val="solid"/>
            <a:round/>
            <a:headEnd len="med" w="med" type="none"/>
            <a:tailEnd len="med" w="med" type="none"/>
          </a:ln>
        </p:spPr>
      </p:cxnSp>
      <p:cxnSp>
        <p:nvCxnSpPr>
          <p:cNvPr id="406" name="Google Shape;406;p63"/>
          <p:cNvCxnSpPr>
            <a:stCxn id="396" idx="0"/>
          </p:cNvCxnSpPr>
          <p:nvPr/>
        </p:nvCxnSpPr>
        <p:spPr>
          <a:xfrm flipH="1" rot="10800000">
            <a:off x="1433325" y="3417933"/>
            <a:ext cx="719700" cy="958800"/>
          </a:xfrm>
          <a:prstGeom prst="straightConnector1">
            <a:avLst/>
          </a:prstGeom>
          <a:noFill/>
          <a:ln cap="flat" cmpd="sng" w="19050">
            <a:solidFill>
              <a:srgbClr val="FF0000"/>
            </a:solidFill>
            <a:prstDash val="solid"/>
            <a:round/>
            <a:headEnd len="med" w="med" type="none"/>
            <a:tailEnd len="med" w="med" type="none"/>
          </a:ln>
        </p:spPr>
      </p:cxnSp>
      <p:cxnSp>
        <p:nvCxnSpPr>
          <p:cNvPr id="407" name="Google Shape;407;p63"/>
          <p:cNvCxnSpPr>
            <a:stCxn id="401" idx="2"/>
          </p:cNvCxnSpPr>
          <p:nvPr/>
        </p:nvCxnSpPr>
        <p:spPr>
          <a:xfrm>
            <a:off x="3278200" y="1266183"/>
            <a:ext cx="203700" cy="1679400"/>
          </a:xfrm>
          <a:prstGeom prst="straightConnector1">
            <a:avLst/>
          </a:prstGeom>
          <a:noFill/>
          <a:ln cap="flat" cmpd="sng" w="19050">
            <a:solidFill>
              <a:srgbClr val="FF0000"/>
            </a:solidFill>
            <a:prstDash val="solid"/>
            <a:round/>
            <a:headEnd len="med" w="med" type="none"/>
            <a:tailEnd len="med" w="med" type="none"/>
          </a:ln>
        </p:spPr>
      </p:cxnSp>
      <p:cxnSp>
        <p:nvCxnSpPr>
          <p:cNvPr id="408" name="Google Shape;408;p63"/>
          <p:cNvCxnSpPr>
            <a:stCxn id="402" idx="2"/>
          </p:cNvCxnSpPr>
          <p:nvPr/>
        </p:nvCxnSpPr>
        <p:spPr>
          <a:xfrm flipH="1">
            <a:off x="4794450" y="1266183"/>
            <a:ext cx="177900" cy="1663500"/>
          </a:xfrm>
          <a:prstGeom prst="straightConnector1">
            <a:avLst/>
          </a:prstGeom>
          <a:noFill/>
          <a:ln cap="flat" cmpd="sng" w="19050">
            <a:solidFill>
              <a:srgbClr val="FF0000"/>
            </a:solidFill>
            <a:prstDash val="solid"/>
            <a:round/>
            <a:headEnd len="med" w="med" type="none"/>
            <a:tailEnd len="med" w="med" type="none"/>
          </a:ln>
        </p:spPr>
      </p:cxnSp>
      <p:cxnSp>
        <p:nvCxnSpPr>
          <p:cNvPr id="409" name="Google Shape;409;p63"/>
          <p:cNvCxnSpPr>
            <a:stCxn id="403" idx="2"/>
          </p:cNvCxnSpPr>
          <p:nvPr/>
        </p:nvCxnSpPr>
        <p:spPr>
          <a:xfrm flipH="1">
            <a:off x="6067225" y="1266183"/>
            <a:ext cx="750300" cy="1655400"/>
          </a:xfrm>
          <a:prstGeom prst="straightConnector1">
            <a:avLst/>
          </a:prstGeom>
          <a:noFill/>
          <a:ln cap="flat" cmpd="sng" w="19050">
            <a:solidFill>
              <a:srgbClr val="FF0000"/>
            </a:solidFill>
            <a:prstDash val="solid"/>
            <a:round/>
            <a:headEnd len="med" w="med" type="none"/>
            <a:tailEnd len="med" w="med" type="none"/>
          </a:ln>
        </p:spPr>
      </p:cxnSp>
      <p:cxnSp>
        <p:nvCxnSpPr>
          <p:cNvPr id="410" name="Google Shape;410;p63"/>
          <p:cNvCxnSpPr>
            <a:stCxn id="404" idx="2"/>
          </p:cNvCxnSpPr>
          <p:nvPr/>
        </p:nvCxnSpPr>
        <p:spPr>
          <a:xfrm flipH="1">
            <a:off x="7339838" y="1266183"/>
            <a:ext cx="1008300" cy="1679400"/>
          </a:xfrm>
          <a:prstGeom prst="straightConnector1">
            <a:avLst/>
          </a:prstGeom>
          <a:noFill/>
          <a:ln cap="flat" cmpd="sng" w="19050">
            <a:solidFill>
              <a:srgbClr val="FF0000"/>
            </a:solidFill>
            <a:prstDash val="solid"/>
            <a:round/>
            <a:headEnd len="med" w="med" type="none"/>
            <a:tailEnd len="med" w="med" type="none"/>
          </a:ln>
        </p:spPr>
      </p:cxnSp>
      <p:cxnSp>
        <p:nvCxnSpPr>
          <p:cNvPr id="411" name="Google Shape;411;p63"/>
          <p:cNvCxnSpPr/>
          <p:nvPr/>
        </p:nvCxnSpPr>
        <p:spPr>
          <a:xfrm flipH="1" rot="10800000">
            <a:off x="2873500" y="3369900"/>
            <a:ext cx="552300" cy="992400"/>
          </a:xfrm>
          <a:prstGeom prst="straightConnector1">
            <a:avLst/>
          </a:prstGeom>
          <a:noFill/>
          <a:ln cap="flat" cmpd="sng" w="19050">
            <a:solidFill>
              <a:srgbClr val="FF0000"/>
            </a:solidFill>
            <a:prstDash val="solid"/>
            <a:round/>
            <a:headEnd len="med" w="med" type="none"/>
            <a:tailEnd len="med" w="med" type="none"/>
          </a:ln>
        </p:spPr>
      </p:cxnSp>
      <p:cxnSp>
        <p:nvCxnSpPr>
          <p:cNvPr id="412" name="Google Shape;412;p63"/>
          <p:cNvCxnSpPr>
            <a:stCxn id="398" idx="0"/>
          </p:cNvCxnSpPr>
          <p:nvPr/>
        </p:nvCxnSpPr>
        <p:spPr>
          <a:xfrm rot="10800000">
            <a:off x="3930000" y="3609933"/>
            <a:ext cx="1594200" cy="766800"/>
          </a:xfrm>
          <a:prstGeom prst="straightConnector1">
            <a:avLst/>
          </a:prstGeom>
          <a:noFill/>
          <a:ln cap="flat" cmpd="sng" w="19050">
            <a:solidFill>
              <a:srgbClr val="FF0000"/>
            </a:solidFill>
            <a:prstDash val="solid"/>
            <a:round/>
            <a:headEnd len="med" w="med" type="none"/>
            <a:tailEnd len="med" w="med" type="none"/>
          </a:ln>
        </p:spPr>
      </p:cxnSp>
      <p:cxnSp>
        <p:nvCxnSpPr>
          <p:cNvPr id="413" name="Google Shape;413;p63"/>
          <p:cNvCxnSpPr>
            <a:stCxn id="399" idx="0"/>
          </p:cNvCxnSpPr>
          <p:nvPr/>
        </p:nvCxnSpPr>
        <p:spPr>
          <a:xfrm rot="10800000">
            <a:off x="7363975" y="3465933"/>
            <a:ext cx="441000" cy="818400"/>
          </a:xfrm>
          <a:prstGeom prst="straightConnector1">
            <a:avLst/>
          </a:prstGeom>
          <a:noFill/>
          <a:ln cap="flat" cmpd="sng" w="19050">
            <a:solidFill>
              <a:srgbClr val="FF0000"/>
            </a:solidFill>
            <a:prstDash val="solid"/>
            <a:round/>
            <a:headEnd len="med" w="med" type="none"/>
            <a:tailEnd len="med" w="med" type="non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4"/>
          <p:cNvSpPr txBox="1"/>
          <p:nvPr>
            <p:ph idx="4294967295" type="body"/>
          </p:nvPr>
        </p:nvSpPr>
        <p:spPr>
          <a:xfrm>
            <a:off x="311700" y="223625"/>
            <a:ext cx="8520600" cy="4345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vi">
                <a:solidFill>
                  <a:schemeClr val="dk1"/>
                </a:solidFill>
              </a:rPr>
              <a:t>Content Service CI/CD Pipeline</a:t>
            </a:r>
            <a:endParaRPr b="1">
              <a:solidFill>
                <a:schemeClr val="dk1"/>
              </a:solidFill>
            </a:endParaRPr>
          </a:p>
        </p:txBody>
      </p:sp>
      <p:pic>
        <p:nvPicPr>
          <p:cNvPr id="419" name="Google Shape;419;p64" title="Screenshot 2025-10-26 at 21.30.41.png"/>
          <p:cNvPicPr preferRelativeResize="0"/>
          <p:nvPr/>
        </p:nvPicPr>
        <p:blipFill>
          <a:blip r:embed="rId3">
            <a:alphaModFix/>
          </a:blip>
          <a:stretch>
            <a:fillRect/>
          </a:stretch>
        </p:blipFill>
        <p:spPr>
          <a:xfrm>
            <a:off x="436075" y="1615675"/>
            <a:ext cx="8271850" cy="2245750"/>
          </a:xfrm>
          <a:prstGeom prst="rect">
            <a:avLst/>
          </a:prstGeom>
          <a:noFill/>
          <a:ln>
            <a:noFill/>
          </a:ln>
        </p:spPr>
      </p:pic>
      <p:sp>
        <p:nvSpPr>
          <p:cNvPr id="420" name="Google Shape;420;p64"/>
          <p:cNvSpPr txBox="1"/>
          <p:nvPr/>
        </p:nvSpPr>
        <p:spPr>
          <a:xfrm>
            <a:off x="436075" y="740000"/>
            <a:ext cx="2033100" cy="738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vi" sz="1200"/>
              <a:t>Test business logic in isolation (Maven, JUnit, </a:t>
            </a:r>
            <a:r>
              <a:rPr lang="vi" sz="1200"/>
              <a:t>Mockito</a:t>
            </a:r>
            <a:r>
              <a:rPr lang="vi" sz="1200"/>
              <a:t>)</a:t>
            </a:r>
            <a:endParaRPr sz="1200"/>
          </a:p>
        </p:txBody>
      </p:sp>
      <p:cxnSp>
        <p:nvCxnSpPr>
          <p:cNvPr id="421" name="Google Shape;421;p64"/>
          <p:cNvCxnSpPr>
            <a:stCxn id="420" idx="2"/>
          </p:cNvCxnSpPr>
          <p:nvPr/>
        </p:nvCxnSpPr>
        <p:spPr>
          <a:xfrm>
            <a:off x="1452625" y="1478900"/>
            <a:ext cx="828600" cy="1498800"/>
          </a:xfrm>
          <a:prstGeom prst="straightConnector1">
            <a:avLst/>
          </a:prstGeom>
          <a:noFill/>
          <a:ln cap="flat" cmpd="sng" w="19050">
            <a:solidFill>
              <a:srgbClr val="FF0000"/>
            </a:solidFill>
            <a:prstDash val="solid"/>
            <a:round/>
            <a:headEnd len="med" w="med" type="none"/>
            <a:tailEnd len="med" w="med" type="none"/>
          </a:ln>
        </p:spPr>
      </p:cxnSp>
      <p:sp>
        <p:nvSpPr>
          <p:cNvPr id="422" name="Google Shape;422;p64"/>
          <p:cNvSpPr txBox="1"/>
          <p:nvPr/>
        </p:nvSpPr>
        <p:spPr>
          <a:xfrm>
            <a:off x="447025" y="4233475"/>
            <a:ext cx="2066400" cy="55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vi" sz="1200"/>
              <a:t>Test with real services (PostgreSQL, Redis, Kafka)</a:t>
            </a:r>
            <a:endParaRPr sz="1200"/>
          </a:p>
        </p:txBody>
      </p:sp>
      <p:cxnSp>
        <p:nvCxnSpPr>
          <p:cNvPr id="423" name="Google Shape;423;p64"/>
          <p:cNvCxnSpPr>
            <a:stCxn id="422" idx="0"/>
          </p:cNvCxnSpPr>
          <p:nvPr/>
        </p:nvCxnSpPr>
        <p:spPr>
          <a:xfrm flipH="1" rot="10800000">
            <a:off x="1480225" y="3217675"/>
            <a:ext cx="801000" cy="1015800"/>
          </a:xfrm>
          <a:prstGeom prst="straightConnector1">
            <a:avLst/>
          </a:prstGeom>
          <a:noFill/>
          <a:ln cap="flat" cmpd="sng" w="19050">
            <a:solidFill>
              <a:srgbClr val="FF0000"/>
            </a:solidFill>
            <a:prstDash val="solid"/>
            <a:round/>
            <a:headEnd len="med" w="med" type="none"/>
            <a:tailEnd len="med" w="med" type="none"/>
          </a:ln>
        </p:spPr>
      </p:cxnSp>
      <p:sp>
        <p:nvSpPr>
          <p:cNvPr id="424" name="Google Shape;424;p64"/>
          <p:cNvSpPr txBox="1"/>
          <p:nvPr/>
        </p:nvSpPr>
        <p:spPr>
          <a:xfrm>
            <a:off x="2588775" y="737025"/>
            <a:ext cx="2189100" cy="738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vi" sz="1200"/>
              <a:t>Check code quality and style (SpotBugs, Checkstyle, JaCoCo, SonarCloud)</a:t>
            </a:r>
            <a:endParaRPr sz="1200"/>
          </a:p>
        </p:txBody>
      </p:sp>
      <p:sp>
        <p:nvSpPr>
          <p:cNvPr id="425" name="Google Shape;425;p64"/>
          <p:cNvSpPr txBox="1"/>
          <p:nvPr/>
        </p:nvSpPr>
        <p:spPr>
          <a:xfrm>
            <a:off x="4897475" y="832400"/>
            <a:ext cx="2033100" cy="55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vi" sz="1200"/>
              <a:t>Build multi-platform image (Docker Buildx, Trivy)</a:t>
            </a:r>
            <a:endParaRPr sz="1200"/>
          </a:p>
        </p:txBody>
      </p:sp>
      <p:sp>
        <p:nvSpPr>
          <p:cNvPr id="426" name="Google Shape;426;p64"/>
          <p:cNvSpPr txBox="1"/>
          <p:nvPr/>
        </p:nvSpPr>
        <p:spPr>
          <a:xfrm>
            <a:off x="7050175" y="832400"/>
            <a:ext cx="1804800" cy="55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vi" sz="1200"/>
              <a:t>Deploy to DigitalOcean and health check</a:t>
            </a:r>
            <a:endParaRPr sz="1200"/>
          </a:p>
        </p:txBody>
      </p:sp>
      <p:sp>
        <p:nvSpPr>
          <p:cNvPr id="427" name="Google Shape;427;p64"/>
          <p:cNvSpPr txBox="1"/>
          <p:nvPr/>
        </p:nvSpPr>
        <p:spPr>
          <a:xfrm>
            <a:off x="2773725" y="4233475"/>
            <a:ext cx="2189100" cy="55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vi" sz="1200"/>
              <a:t>Find vulnerabilities (OWASP Dependency-Check, Snyk)</a:t>
            </a:r>
            <a:endParaRPr sz="1200"/>
          </a:p>
        </p:txBody>
      </p:sp>
      <p:sp>
        <p:nvSpPr>
          <p:cNvPr id="428" name="Google Shape;428;p64"/>
          <p:cNvSpPr txBox="1"/>
          <p:nvPr/>
        </p:nvSpPr>
        <p:spPr>
          <a:xfrm>
            <a:off x="5171513" y="4233475"/>
            <a:ext cx="2033100" cy="55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vi" sz="1200"/>
              <a:t>Security scan in production (OWASP ZAP)</a:t>
            </a:r>
            <a:endParaRPr sz="1200"/>
          </a:p>
        </p:txBody>
      </p:sp>
      <p:cxnSp>
        <p:nvCxnSpPr>
          <p:cNvPr id="429" name="Google Shape;429;p64"/>
          <p:cNvCxnSpPr>
            <a:stCxn id="424" idx="2"/>
          </p:cNvCxnSpPr>
          <p:nvPr/>
        </p:nvCxnSpPr>
        <p:spPr>
          <a:xfrm flipH="1">
            <a:off x="3449925" y="1475925"/>
            <a:ext cx="233400" cy="1469700"/>
          </a:xfrm>
          <a:prstGeom prst="straightConnector1">
            <a:avLst/>
          </a:prstGeom>
          <a:noFill/>
          <a:ln cap="flat" cmpd="sng" w="19050">
            <a:solidFill>
              <a:srgbClr val="FF0000"/>
            </a:solidFill>
            <a:prstDash val="solid"/>
            <a:round/>
            <a:headEnd len="med" w="med" type="none"/>
            <a:tailEnd len="med" w="med" type="none"/>
          </a:ln>
        </p:spPr>
      </p:cxnSp>
      <p:cxnSp>
        <p:nvCxnSpPr>
          <p:cNvPr id="430" name="Google Shape;430;p64"/>
          <p:cNvCxnSpPr>
            <a:stCxn id="425" idx="2"/>
          </p:cNvCxnSpPr>
          <p:nvPr/>
        </p:nvCxnSpPr>
        <p:spPr>
          <a:xfrm flipH="1">
            <a:off x="4530425" y="1386500"/>
            <a:ext cx="1383600" cy="1583100"/>
          </a:xfrm>
          <a:prstGeom prst="straightConnector1">
            <a:avLst/>
          </a:prstGeom>
          <a:noFill/>
          <a:ln cap="flat" cmpd="sng" w="19050">
            <a:solidFill>
              <a:srgbClr val="FF0000"/>
            </a:solidFill>
            <a:prstDash val="solid"/>
            <a:round/>
            <a:headEnd len="med" w="med" type="none"/>
            <a:tailEnd len="med" w="med" type="none"/>
          </a:ln>
        </p:spPr>
      </p:cxnSp>
      <p:cxnSp>
        <p:nvCxnSpPr>
          <p:cNvPr id="431" name="Google Shape;431;p64"/>
          <p:cNvCxnSpPr>
            <a:stCxn id="427" idx="0"/>
          </p:cNvCxnSpPr>
          <p:nvPr/>
        </p:nvCxnSpPr>
        <p:spPr>
          <a:xfrm rot="10800000">
            <a:off x="3457875" y="3265675"/>
            <a:ext cx="410400" cy="967800"/>
          </a:xfrm>
          <a:prstGeom prst="straightConnector1">
            <a:avLst/>
          </a:prstGeom>
          <a:noFill/>
          <a:ln cap="flat" cmpd="sng" w="19050">
            <a:solidFill>
              <a:srgbClr val="FF0000"/>
            </a:solidFill>
            <a:prstDash val="solid"/>
            <a:round/>
            <a:headEnd len="med" w="med" type="none"/>
            <a:tailEnd len="med" w="med" type="none"/>
          </a:ln>
        </p:spPr>
      </p:cxnSp>
      <p:cxnSp>
        <p:nvCxnSpPr>
          <p:cNvPr id="432" name="Google Shape;432;p64"/>
          <p:cNvCxnSpPr>
            <a:stCxn id="426" idx="2"/>
          </p:cNvCxnSpPr>
          <p:nvPr/>
        </p:nvCxnSpPr>
        <p:spPr>
          <a:xfrm flipH="1">
            <a:off x="5538775" y="1386500"/>
            <a:ext cx="2413800" cy="1599000"/>
          </a:xfrm>
          <a:prstGeom prst="straightConnector1">
            <a:avLst/>
          </a:prstGeom>
          <a:noFill/>
          <a:ln cap="flat" cmpd="sng" w="19050">
            <a:solidFill>
              <a:srgbClr val="FF0000"/>
            </a:solidFill>
            <a:prstDash val="solid"/>
            <a:round/>
            <a:headEnd len="med" w="med" type="none"/>
            <a:tailEnd len="med" w="med" type="none"/>
          </a:ln>
        </p:spPr>
      </p:cxnSp>
      <p:cxnSp>
        <p:nvCxnSpPr>
          <p:cNvPr id="433" name="Google Shape;433;p64"/>
          <p:cNvCxnSpPr>
            <a:stCxn id="428" idx="0"/>
          </p:cNvCxnSpPr>
          <p:nvPr/>
        </p:nvCxnSpPr>
        <p:spPr>
          <a:xfrm flipH="1" rot="10800000">
            <a:off x="6188063" y="3089575"/>
            <a:ext cx="359400" cy="1143900"/>
          </a:xfrm>
          <a:prstGeom prst="straightConnector1">
            <a:avLst/>
          </a:prstGeom>
          <a:noFill/>
          <a:ln cap="flat" cmpd="sng" w="19050">
            <a:solidFill>
              <a:srgbClr val="FF0000"/>
            </a:solidFill>
            <a:prstDash val="solid"/>
            <a:round/>
            <a:headEnd len="med" w="med" type="none"/>
            <a:tailEnd len="med" w="med" type="none"/>
          </a:ln>
        </p:spPr>
      </p:cxnSp>
      <p:sp>
        <p:nvSpPr>
          <p:cNvPr id="434" name="Google Shape;434;p64"/>
          <p:cNvSpPr txBox="1"/>
          <p:nvPr/>
        </p:nvSpPr>
        <p:spPr>
          <a:xfrm>
            <a:off x="7413300" y="4233475"/>
            <a:ext cx="1419000" cy="55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vi" sz="1200"/>
              <a:t>Aggregate reports (GitHub Actions)</a:t>
            </a:r>
            <a:endParaRPr sz="1200"/>
          </a:p>
        </p:txBody>
      </p:sp>
      <p:cxnSp>
        <p:nvCxnSpPr>
          <p:cNvPr id="435" name="Google Shape;435;p64"/>
          <p:cNvCxnSpPr>
            <a:stCxn id="434" idx="0"/>
          </p:cNvCxnSpPr>
          <p:nvPr/>
        </p:nvCxnSpPr>
        <p:spPr>
          <a:xfrm rot="10800000">
            <a:off x="7587900" y="3065575"/>
            <a:ext cx="534900" cy="1167900"/>
          </a:xfrm>
          <a:prstGeom prst="straightConnector1">
            <a:avLst/>
          </a:prstGeom>
          <a:noFill/>
          <a:ln cap="flat" cmpd="sng" w="19050">
            <a:solidFill>
              <a:srgbClr val="FF0000"/>
            </a:solidFill>
            <a:prstDash val="solid"/>
            <a:round/>
            <a:headEnd len="med" w="med" type="none"/>
            <a:tailEnd len="med" w="med" type="non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5"/>
          <p:cNvSpPr txBox="1"/>
          <p:nvPr>
            <p:ph idx="1" type="body"/>
          </p:nvPr>
        </p:nvSpPr>
        <p:spPr>
          <a:xfrm>
            <a:off x="311700" y="223625"/>
            <a:ext cx="8520600" cy="4345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vi">
                <a:solidFill>
                  <a:schemeClr val="dk1"/>
                </a:solidFill>
              </a:rPr>
              <a:t>Lint &amp; Quality Checks</a:t>
            </a:r>
            <a:endParaRPr b="1">
              <a:solidFill>
                <a:schemeClr val="dk1"/>
              </a:solidFill>
            </a:endParaRPr>
          </a:p>
          <a:p>
            <a:pPr indent="-342900" lvl="0" marL="457200" rtl="0" algn="l">
              <a:spcBef>
                <a:spcPts val="1200"/>
              </a:spcBef>
              <a:spcAft>
                <a:spcPts val="0"/>
              </a:spcAft>
              <a:buClr>
                <a:schemeClr val="dk1"/>
              </a:buClr>
              <a:buSzPts val="1800"/>
              <a:buChar char="●"/>
            </a:pPr>
            <a:r>
              <a:rPr lang="vi">
                <a:solidFill>
                  <a:schemeClr val="dk1"/>
                </a:solidFill>
              </a:rPr>
              <a:t>SpotBugs: Static analysis for bugs</a:t>
            </a:r>
            <a:endParaRPr>
              <a:solidFill>
                <a:schemeClr val="dk1"/>
              </a:solidFill>
            </a:endParaRPr>
          </a:p>
          <a:p>
            <a:pPr indent="-317500" lvl="1" marL="914400" rtl="0" algn="l">
              <a:spcBef>
                <a:spcPts val="0"/>
              </a:spcBef>
              <a:spcAft>
                <a:spcPts val="0"/>
              </a:spcAft>
              <a:buClr>
                <a:schemeClr val="dk1"/>
              </a:buClr>
              <a:buSzPts val="1400"/>
              <a:buChar char="○"/>
            </a:pPr>
            <a:r>
              <a:rPr lang="vi">
                <a:solidFill>
                  <a:schemeClr val="dk1"/>
                </a:solidFill>
              </a:rPr>
              <a:t>Exclusions: spotbugs-exclude.xml</a:t>
            </a:r>
            <a:endParaRPr>
              <a:solidFill>
                <a:schemeClr val="dk1"/>
              </a:solidFill>
            </a:endParaRPr>
          </a:p>
          <a:p>
            <a:pPr indent="-342900" lvl="0" marL="457200" rtl="0" algn="l">
              <a:spcBef>
                <a:spcPts val="0"/>
              </a:spcBef>
              <a:spcAft>
                <a:spcPts val="0"/>
              </a:spcAft>
              <a:buClr>
                <a:schemeClr val="dk1"/>
              </a:buClr>
              <a:buSzPts val="1800"/>
              <a:buChar char="●"/>
            </a:pPr>
            <a:r>
              <a:rPr lang="vi">
                <a:solidFill>
                  <a:schemeClr val="dk1"/>
                </a:solidFill>
              </a:rPr>
              <a:t>Checkstyle: Code style enforcement</a:t>
            </a:r>
            <a:endParaRPr>
              <a:solidFill>
                <a:schemeClr val="dk1"/>
              </a:solidFill>
            </a:endParaRPr>
          </a:p>
          <a:p>
            <a:pPr indent="-317500" lvl="1" marL="914400" rtl="0" algn="l">
              <a:spcBef>
                <a:spcPts val="0"/>
              </a:spcBef>
              <a:spcAft>
                <a:spcPts val="0"/>
              </a:spcAft>
              <a:buClr>
                <a:schemeClr val="dk1"/>
              </a:buClr>
              <a:buSzPts val="1400"/>
              <a:buChar char="○"/>
            </a:pPr>
            <a:r>
              <a:rPr lang="vi">
                <a:solidFill>
                  <a:schemeClr val="dk1"/>
                </a:solidFill>
              </a:rPr>
              <a:t>Config: checkstyle.xml</a:t>
            </a:r>
            <a:endParaRPr>
              <a:solidFill>
                <a:schemeClr val="dk1"/>
              </a:solidFill>
            </a:endParaRPr>
          </a:p>
          <a:p>
            <a:pPr indent="-317500" lvl="1" marL="914400" rtl="0" algn="l">
              <a:spcBef>
                <a:spcPts val="0"/>
              </a:spcBef>
              <a:spcAft>
                <a:spcPts val="0"/>
              </a:spcAft>
              <a:buClr>
                <a:schemeClr val="dk1"/>
              </a:buClr>
              <a:buSzPts val="1400"/>
              <a:buChar char="○"/>
            </a:pPr>
            <a:r>
              <a:rPr lang="vi">
                <a:solidFill>
                  <a:schemeClr val="dk1"/>
                </a:solidFill>
              </a:rPr>
              <a:t>Rules: Google Java Style Guide</a:t>
            </a:r>
            <a:endParaRPr>
              <a:solidFill>
                <a:schemeClr val="dk1"/>
              </a:solidFill>
            </a:endParaRPr>
          </a:p>
          <a:p>
            <a:pPr indent="-342900" lvl="0" marL="457200" rtl="0" algn="l">
              <a:spcBef>
                <a:spcPts val="0"/>
              </a:spcBef>
              <a:spcAft>
                <a:spcPts val="0"/>
              </a:spcAft>
              <a:buClr>
                <a:schemeClr val="dk1"/>
              </a:buClr>
              <a:buSzPts val="1800"/>
              <a:buChar char="●"/>
            </a:pPr>
            <a:r>
              <a:rPr lang="vi">
                <a:solidFill>
                  <a:schemeClr val="dk1"/>
                </a:solidFill>
              </a:rPr>
              <a:t>JaCoCo: Code coverage</a:t>
            </a:r>
            <a:endParaRPr>
              <a:solidFill>
                <a:schemeClr val="dk1"/>
              </a:solidFill>
            </a:endParaRPr>
          </a:p>
          <a:p>
            <a:pPr indent="-317500" lvl="1" marL="914400" rtl="0" algn="l">
              <a:spcBef>
                <a:spcPts val="0"/>
              </a:spcBef>
              <a:spcAft>
                <a:spcPts val="0"/>
              </a:spcAft>
              <a:buClr>
                <a:schemeClr val="dk1"/>
              </a:buClr>
              <a:buSzPts val="1400"/>
              <a:buChar char="○"/>
            </a:pPr>
            <a:r>
              <a:rPr lang="vi">
                <a:solidFill>
                  <a:schemeClr val="dk1"/>
                </a:solidFill>
              </a:rPr>
              <a:t>Plugin: jacoco-maven-plugin:0.8.11</a:t>
            </a:r>
            <a:endParaRPr>
              <a:solidFill>
                <a:schemeClr val="dk1"/>
              </a:solidFill>
            </a:endParaRPr>
          </a:p>
          <a:p>
            <a:pPr indent="-317500" lvl="1" marL="914400" rtl="0" algn="l">
              <a:spcBef>
                <a:spcPts val="0"/>
              </a:spcBef>
              <a:spcAft>
                <a:spcPts val="0"/>
              </a:spcAft>
              <a:buClr>
                <a:schemeClr val="dk1"/>
              </a:buClr>
              <a:buSzPts val="1400"/>
              <a:buChar char="○"/>
            </a:pPr>
            <a:r>
              <a:rPr lang="vi">
                <a:solidFill>
                  <a:schemeClr val="dk1"/>
                </a:solidFill>
              </a:rPr>
              <a:t>Coverage report: target/site/jacoco/jacoco.xml</a:t>
            </a:r>
            <a:endParaRPr>
              <a:solidFill>
                <a:schemeClr val="dk1"/>
              </a:solidFill>
            </a:endParaRPr>
          </a:p>
          <a:p>
            <a:pPr indent="-342900" lvl="0" marL="457200" rtl="0" algn="l">
              <a:spcBef>
                <a:spcPts val="0"/>
              </a:spcBef>
              <a:spcAft>
                <a:spcPts val="0"/>
              </a:spcAft>
              <a:buClr>
                <a:schemeClr val="dk1"/>
              </a:buClr>
              <a:buSzPts val="1800"/>
              <a:buChar char="●"/>
            </a:pPr>
            <a:r>
              <a:rPr lang="vi">
                <a:solidFill>
                  <a:schemeClr val="dk1"/>
                </a:solidFill>
              </a:rPr>
              <a:t>SonarCloud: Quality gate - SAST</a:t>
            </a:r>
            <a:endParaRPr>
              <a:solidFill>
                <a:schemeClr val="dk1"/>
              </a:solidFill>
            </a:endParaRPr>
          </a:p>
          <a:p>
            <a:pPr indent="-317500" lvl="1" marL="914400" rtl="0" algn="l">
              <a:spcBef>
                <a:spcPts val="0"/>
              </a:spcBef>
              <a:spcAft>
                <a:spcPts val="0"/>
              </a:spcAft>
              <a:buClr>
                <a:schemeClr val="dk1"/>
              </a:buClr>
              <a:buSzPts val="1400"/>
              <a:buChar char="○"/>
            </a:pPr>
            <a:r>
              <a:rPr lang="vi">
                <a:solidFill>
                  <a:schemeClr val="dk1"/>
                </a:solidFill>
              </a:rPr>
              <a:t>Project: maugus0_yushan-&lt;service-name&gt;</a:t>
            </a:r>
            <a:endParaRPr>
              <a:solidFill>
                <a:schemeClr val="dk1"/>
              </a:solidFill>
            </a:endParaRPr>
          </a:p>
          <a:p>
            <a:pPr indent="-317500" lvl="1" marL="914400" rtl="0" algn="l">
              <a:spcBef>
                <a:spcPts val="0"/>
              </a:spcBef>
              <a:spcAft>
                <a:spcPts val="0"/>
              </a:spcAft>
              <a:buClr>
                <a:schemeClr val="dk1"/>
              </a:buClr>
              <a:buSzPts val="1400"/>
              <a:buChar char="○"/>
            </a:pPr>
            <a:r>
              <a:rPr lang="vi">
                <a:solidFill>
                  <a:schemeClr val="dk1"/>
                </a:solidFill>
              </a:rPr>
              <a:t>Organization: yushan</a:t>
            </a:r>
            <a:endParaRPr>
              <a:solidFill>
                <a:schemeClr val="dk1"/>
              </a:solidFill>
            </a:endParaRPr>
          </a:p>
          <a:p>
            <a:pPr indent="-317500" lvl="1" marL="914400" rtl="0" algn="l">
              <a:spcBef>
                <a:spcPts val="0"/>
              </a:spcBef>
              <a:spcAft>
                <a:spcPts val="0"/>
              </a:spcAft>
              <a:buClr>
                <a:schemeClr val="dk1"/>
              </a:buClr>
              <a:buSzPts val="1400"/>
              <a:buChar char="○"/>
            </a:pPr>
            <a:r>
              <a:rPr lang="vi">
                <a:solidFill>
                  <a:schemeClr val="dk1"/>
                </a:solidFill>
              </a:rPr>
              <a:t>Uploads to: </a:t>
            </a:r>
            <a:r>
              <a:rPr lang="vi" u="sng">
                <a:solidFill>
                  <a:schemeClr val="hlink"/>
                </a:solidFill>
                <a:hlinkClick r:id="rId3"/>
              </a:rPr>
              <a:t>https://sonarcloud.io</a:t>
            </a:r>
            <a:endParaRPr>
              <a:solidFill>
                <a:schemeClr val="dk1"/>
              </a:solidFill>
            </a:endParaRPr>
          </a:p>
          <a:p>
            <a:pPr indent="-342900" lvl="0" marL="457200" rtl="0" algn="l">
              <a:spcBef>
                <a:spcPts val="0"/>
              </a:spcBef>
              <a:spcAft>
                <a:spcPts val="0"/>
              </a:spcAft>
              <a:buClr>
                <a:schemeClr val="dk1"/>
              </a:buClr>
              <a:buSzPts val="1800"/>
              <a:buChar char="●"/>
            </a:pPr>
            <a:r>
              <a:rPr lang="vi">
                <a:solidFill>
                  <a:schemeClr val="dk1"/>
                </a:solidFill>
              </a:rPr>
              <a:t>Quality Metrics:</a:t>
            </a:r>
            <a:endParaRPr>
              <a:solidFill>
                <a:schemeClr val="dk1"/>
              </a:solidFill>
            </a:endParaRPr>
          </a:p>
          <a:p>
            <a:pPr indent="-317500" lvl="1" marL="914400" rtl="0" algn="l">
              <a:spcBef>
                <a:spcPts val="0"/>
              </a:spcBef>
              <a:spcAft>
                <a:spcPts val="0"/>
              </a:spcAft>
              <a:buClr>
                <a:schemeClr val="dk1"/>
              </a:buClr>
              <a:buSzPts val="1400"/>
              <a:buChar char="○"/>
            </a:pPr>
            <a:r>
              <a:rPr lang="vi">
                <a:solidFill>
                  <a:schemeClr val="dk1"/>
                </a:solidFill>
              </a:rPr>
              <a:t>Code Smells: Tracked via SonarCloud</a:t>
            </a:r>
            <a:endParaRPr>
              <a:solidFill>
                <a:schemeClr val="dk1"/>
              </a:solidFill>
            </a:endParaRPr>
          </a:p>
          <a:p>
            <a:pPr indent="-317500" lvl="1" marL="914400" rtl="0" algn="l">
              <a:spcBef>
                <a:spcPts val="0"/>
              </a:spcBef>
              <a:spcAft>
                <a:spcPts val="0"/>
              </a:spcAft>
              <a:buClr>
                <a:schemeClr val="dk1"/>
              </a:buClr>
              <a:buSzPts val="1400"/>
              <a:buChar char="○"/>
            </a:pPr>
            <a:r>
              <a:rPr lang="vi">
                <a:solidFill>
                  <a:schemeClr val="dk1"/>
                </a:solidFill>
              </a:rPr>
              <a:t>Duplicated Code: &lt; 3%</a:t>
            </a:r>
            <a:endParaRPr>
              <a:solidFill>
                <a:schemeClr val="dk1"/>
              </a:solidFill>
            </a:endParaRPr>
          </a:p>
          <a:p>
            <a:pPr indent="-317500" lvl="1" marL="914400" rtl="0" algn="l">
              <a:spcBef>
                <a:spcPts val="0"/>
              </a:spcBef>
              <a:spcAft>
                <a:spcPts val="0"/>
              </a:spcAft>
              <a:buClr>
                <a:schemeClr val="dk1"/>
              </a:buClr>
              <a:buSzPts val="1400"/>
              <a:buChar char="○"/>
            </a:pPr>
            <a:r>
              <a:rPr lang="vi">
                <a:solidFill>
                  <a:schemeClr val="dk1"/>
                </a:solidFill>
              </a:rPr>
              <a:t>Test Coverage: &gt; 80% (target)</a:t>
            </a:r>
            <a:endParaRPr>
              <a:solidFill>
                <a:schemeClr val="dk1"/>
              </a:solidFill>
            </a:endParaRPr>
          </a:p>
          <a:p>
            <a:pPr indent="-317500" lvl="1" marL="914400" rtl="0" algn="l">
              <a:spcBef>
                <a:spcPts val="0"/>
              </a:spcBef>
              <a:spcAft>
                <a:spcPts val="0"/>
              </a:spcAft>
              <a:buClr>
                <a:schemeClr val="dk1"/>
              </a:buClr>
              <a:buSzPts val="1400"/>
              <a:buChar char="○"/>
            </a:pPr>
            <a:r>
              <a:rPr lang="vi">
                <a:solidFill>
                  <a:schemeClr val="dk1"/>
                </a:solidFill>
              </a:rPr>
              <a:t>Vulnerabilities: 0 critical</a:t>
            </a:r>
            <a:endParaRPr>
              <a:solidFill>
                <a:schemeClr val="dk1"/>
              </a:solidFill>
            </a:endParaRPr>
          </a:p>
        </p:txBody>
      </p:sp>
      <p:pic>
        <p:nvPicPr>
          <p:cNvPr id="441" name="Google Shape;441;p65" title="Screenshot 2025-10-26 at 22.52.15.png"/>
          <p:cNvPicPr preferRelativeResize="0"/>
          <p:nvPr/>
        </p:nvPicPr>
        <p:blipFill>
          <a:blip r:embed="rId4">
            <a:alphaModFix/>
          </a:blip>
          <a:stretch>
            <a:fillRect/>
          </a:stretch>
        </p:blipFill>
        <p:spPr>
          <a:xfrm>
            <a:off x="5270050" y="613475"/>
            <a:ext cx="3562250" cy="3916551"/>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66"/>
          <p:cNvSpPr txBox="1"/>
          <p:nvPr>
            <p:ph idx="1" type="body"/>
          </p:nvPr>
        </p:nvSpPr>
        <p:spPr>
          <a:xfrm>
            <a:off x="311700" y="223625"/>
            <a:ext cx="8520600" cy="434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vi">
                <a:solidFill>
                  <a:schemeClr val="dk1"/>
                </a:solidFill>
              </a:rPr>
              <a:t>Security Scan</a:t>
            </a:r>
            <a:endParaRPr b="1">
              <a:solidFill>
                <a:schemeClr val="dk1"/>
              </a:solidFill>
            </a:endParaRPr>
          </a:p>
          <a:p>
            <a:pPr indent="-349250" lvl="0" marL="457200" rtl="0" algn="l">
              <a:spcBef>
                <a:spcPts val="1200"/>
              </a:spcBef>
              <a:spcAft>
                <a:spcPts val="0"/>
              </a:spcAft>
              <a:buClr>
                <a:schemeClr val="dk1"/>
              </a:buClr>
              <a:buSzPts val="1900"/>
              <a:buChar char="●"/>
            </a:pPr>
            <a:r>
              <a:rPr lang="vi" sz="1900">
                <a:solidFill>
                  <a:schemeClr val="dk1"/>
                </a:solidFill>
              </a:rPr>
              <a:t>OWASP Dependency Check - SCA</a:t>
            </a:r>
            <a:endParaRPr sz="1900">
              <a:solidFill>
                <a:schemeClr val="dk1"/>
              </a:solidFill>
            </a:endParaRPr>
          </a:p>
          <a:p>
            <a:pPr indent="-323850" lvl="1" marL="914400" rtl="0" algn="l">
              <a:spcBef>
                <a:spcPts val="0"/>
              </a:spcBef>
              <a:spcAft>
                <a:spcPts val="0"/>
              </a:spcAft>
              <a:buClr>
                <a:schemeClr val="dk1"/>
              </a:buClr>
              <a:buSzPts val="1500"/>
              <a:buChar char="○"/>
            </a:pPr>
            <a:r>
              <a:rPr lang="vi" sz="1500">
                <a:solidFill>
                  <a:schemeClr val="dk1"/>
                </a:solidFill>
              </a:rPr>
              <a:t>Plugin: dependency-check-maven:12.1.0</a:t>
            </a:r>
            <a:endParaRPr sz="1500">
              <a:solidFill>
                <a:schemeClr val="dk1"/>
              </a:solidFill>
            </a:endParaRPr>
          </a:p>
          <a:p>
            <a:pPr indent="-323850" lvl="1" marL="914400" rtl="0" algn="l">
              <a:spcBef>
                <a:spcPts val="0"/>
              </a:spcBef>
              <a:spcAft>
                <a:spcPts val="0"/>
              </a:spcAft>
              <a:buClr>
                <a:schemeClr val="dk1"/>
              </a:buClr>
              <a:buSzPts val="1500"/>
              <a:buChar char="○"/>
            </a:pPr>
            <a:r>
              <a:rPr lang="vi" sz="1500">
                <a:solidFill>
                  <a:schemeClr val="dk1"/>
                </a:solidFill>
              </a:rPr>
              <a:t>NVD API: Scans against National Vulnerability Database</a:t>
            </a:r>
            <a:endParaRPr sz="1500">
              <a:solidFill>
                <a:schemeClr val="dk1"/>
              </a:solidFill>
            </a:endParaRPr>
          </a:p>
          <a:p>
            <a:pPr indent="-323850" lvl="1" marL="914400" rtl="0" algn="l">
              <a:spcBef>
                <a:spcPts val="0"/>
              </a:spcBef>
              <a:spcAft>
                <a:spcPts val="0"/>
              </a:spcAft>
              <a:buClr>
                <a:schemeClr val="dk1"/>
              </a:buClr>
              <a:buSzPts val="1500"/>
              <a:buChar char="○"/>
            </a:pPr>
            <a:r>
              <a:rPr lang="vi" sz="1500">
                <a:solidFill>
                  <a:schemeClr val="dk1"/>
                </a:solidFill>
              </a:rPr>
              <a:t>OSS Index: Additional vulnerability database</a:t>
            </a:r>
            <a:endParaRPr sz="1500">
              <a:solidFill>
                <a:schemeClr val="dk1"/>
              </a:solidFill>
            </a:endParaRPr>
          </a:p>
          <a:p>
            <a:pPr indent="-323850" lvl="1" marL="914400" rtl="0" algn="l">
              <a:spcBef>
                <a:spcPts val="0"/>
              </a:spcBef>
              <a:spcAft>
                <a:spcPts val="0"/>
              </a:spcAft>
              <a:buClr>
                <a:schemeClr val="dk1"/>
              </a:buClr>
              <a:buSzPts val="1500"/>
              <a:buChar char="○"/>
            </a:pPr>
            <a:r>
              <a:rPr lang="vi" sz="1500">
                <a:solidFill>
                  <a:schemeClr val="dk1"/>
                </a:solidFill>
              </a:rPr>
              <a:t>Output: HTML, XML, SARIF</a:t>
            </a:r>
            <a:endParaRPr sz="1500">
              <a:solidFill>
                <a:schemeClr val="dk1"/>
              </a:solidFill>
            </a:endParaRPr>
          </a:p>
          <a:p>
            <a:pPr indent="-323850" lvl="1" marL="914400" rtl="0" algn="l">
              <a:spcBef>
                <a:spcPts val="0"/>
              </a:spcBef>
              <a:spcAft>
                <a:spcPts val="0"/>
              </a:spcAft>
              <a:buClr>
                <a:schemeClr val="dk1"/>
              </a:buClr>
              <a:buSzPts val="1500"/>
              <a:buChar char="○"/>
            </a:pPr>
            <a:r>
              <a:rPr lang="vi" sz="1500">
                <a:solidFill>
                  <a:schemeClr val="dk1"/>
                </a:solidFill>
              </a:rPr>
              <a:t>Fail on: CVSS &gt;= 10 (critical)</a:t>
            </a:r>
            <a:endParaRPr sz="1500">
              <a:solidFill>
                <a:schemeClr val="dk1"/>
              </a:solidFill>
            </a:endParaRPr>
          </a:p>
          <a:p>
            <a:pPr indent="-349250" lvl="0" marL="457200" rtl="0" algn="l">
              <a:spcBef>
                <a:spcPts val="0"/>
              </a:spcBef>
              <a:spcAft>
                <a:spcPts val="0"/>
              </a:spcAft>
              <a:buClr>
                <a:schemeClr val="dk1"/>
              </a:buClr>
              <a:buSzPts val="1900"/>
              <a:buChar char="●"/>
            </a:pPr>
            <a:r>
              <a:rPr lang="vi" sz="1900">
                <a:solidFill>
                  <a:schemeClr val="dk1"/>
                </a:solidFill>
              </a:rPr>
              <a:t>Snyk - SCA</a:t>
            </a:r>
            <a:endParaRPr sz="1900">
              <a:solidFill>
                <a:schemeClr val="dk1"/>
              </a:solidFill>
            </a:endParaRPr>
          </a:p>
          <a:p>
            <a:pPr indent="-323850" lvl="1" marL="914400" rtl="0" algn="l">
              <a:spcBef>
                <a:spcPts val="0"/>
              </a:spcBef>
              <a:spcAft>
                <a:spcPts val="0"/>
              </a:spcAft>
              <a:buClr>
                <a:schemeClr val="dk1"/>
              </a:buClr>
              <a:buSzPts val="1500"/>
              <a:buChar char="○"/>
            </a:pPr>
            <a:r>
              <a:rPr lang="vi" sz="1500">
                <a:solidFill>
                  <a:schemeClr val="dk1"/>
                </a:solidFill>
              </a:rPr>
              <a:t>Setup: snyk/actions/setup@master</a:t>
            </a:r>
            <a:endParaRPr sz="1500">
              <a:solidFill>
                <a:schemeClr val="dk1"/>
              </a:solidFill>
            </a:endParaRPr>
          </a:p>
          <a:p>
            <a:pPr indent="-323850" lvl="1" marL="914400" rtl="0" algn="l">
              <a:spcBef>
                <a:spcPts val="0"/>
              </a:spcBef>
              <a:spcAft>
                <a:spcPts val="0"/>
              </a:spcAft>
              <a:buClr>
                <a:schemeClr val="dk1"/>
              </a:buClr>
              <a:buSzPts val="1500"/>
              <a:buChar char="○"/>
            </a:pPr>
            <a:r>
              <a:rPr lang="vi" sz="1500">
                <a:solidFill>
                  <a:schemeClr val="dk1"/>
                </a:solidFill>
              </a:rPr>
              <a:t>Severity: High+ vulnerabilities</a:t>
            </a:r>
            <a:endParaRPr sz="1500">
              <a:solidFill>
                <a:schemeClr val="dk1"/>
              </a:solidFill>
            </a:endParaRPr>
          </a:p>
          <a:p>
            <a:pPr indent="-323850" lvl="1" marL="914400" rtl="0" algn="l">
              <a:spcBef>
                <a:spcPts val="0"/>
              </a:spcBef>
              <a:spcAft>
                <a:spcPts val="0"/>
              </a:spcAft>
              <a:buClr>
                <a:schemeClr val="dk1"/>
              </a:buClr>
              <a:buSzPts val="1500"/>
              <a:buChar char="○"/>
            </a:pPr>
            <a:r>
              <a:rPr lang="vi" sz="1500">
                <a:solidFill>
                  <a:schemeClr val="dk1"/>
                </a:solidFill>
              </a:rPr>
              <a:t>Output: SARIF format</a:t>
            </a:r>
            <a:endParaRPr sz="1500">
              <a:solidFill>
                <a:schemeClr val="dk1"/>
              </a:solidFill>
            </a:endParaRPr>
          </a:p>
          <a:p>
            <a:pPr indent="-323850" lvl="1" marL="914400" rtl="0" algn="l">
              <a:spcBef>
                <a:spcPts val="0"/>
              </a:spcBef>
              <a:spcAft>
                <a:spcPts val="0"/>
              </a:spcAft>
              <a:buClr>
                <a:schemeClr val="dk1"/>
              </a:buClr>
              <a:buSzPts val="1500"/>
              <a:buChar char="○"/>
            </a:pPr>
            <a:r>
              <a:rPr lang="vi" sz="1500">
                <a:solidFill>
                  <a:schemeClr val="dk1"/>
                </a:solidFill>
              </a:rPr>
              <a:t>Upload: To GitHub Security tab</a:t>
            </a:r>
            <a:endParaRPr sz="1500">
              <a:solidFill>
                <a:schemeClr val="dk1"/>
              </a:solidFill>
            </a:endParaRPr>
          </a:p>
        </p:txBody>
      </p:sp>
      <p:pic>
        <p:nvPicPr>
          <p:cNvPr id="447" name="Google Shape;447;p66" title="Screenshot 2025-10-26 at 22.55.32.png"/>
          <p:cNvPicPr preferRelativeResize="0"/>
          <p:nvPr/>
        </p:nvPicPr>
        <p:blipFill>
          <a:blip r:embed="rId3">
            <a:alphaModFix/>
          </a:blip>
          <a:stretch>
            <a:fillRect/>
          </a:stretch>
        </p:blipFill>
        <p:spPr>
          <a:xfrm>
            <a:off x="6301001" y="318850"/>
            <a:ext cx="2416625" cy="450579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67"/>
          <p:cNvSpPr txBox="1"/>
          <p:nvPr>
            <p:ph idx="1" type="body"/>
          </p:nvPr>
        </p:nvSpPr>
        <p:spPr>
          <a:xfrm>
            <a:off x="311700" y="223625"/>
            <a:ext cx="8520600" cy="434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vi">
                <a:solidFill>
                  <a:schemeClr val="dk1"/>
                </a:solidFill>
              </a:rPr>
              <a:t>Build Docker Image &amp; Scan Vulnerabilities</a:t>
            </a:r>
            <a:endParaRPr b="1">
              <a:solidFill>
                <a:schemeClr val="dk1"/>
              </a:solidFill>
            </a:endParaRPr>
          </a:p>
          <a:p>
            <a:pPr indent="-349250" lvl="0" marL="457200" rtl="0" algn="l">
              <a:spcBef>
                <a:spcPts val="1200"/>
              </a:spcBef>
              <a:spcAft>
                <a:spcPts val="0"/>
              </a:spcAft>
              <a:buClr>
                <a:schemeClr val="dk1"/>
              </a:buClr>
              <a:buSzPts val="1900"/>
              <a:buChar char="●"/>
            </a:pPr>
            <a:r>
              <a:rPr lang="vi" sz="1900">
                <a:solidFill>
                  <a:schemeClr val="dk1"/>
                </a:solidFill>
              </a:rPr>
              <a:t>Docker Image Details</a:t>
            </a:r>
            <a:endParaRPr sz="1900">
              <a:solidFill>
                <a:schemeClr val="dk1"/>
              </a:solidFill>
            </a:endParaRPr>
          </a:p>
          <a:p>
            <a:pPr indent="-323850" lvl="1" marL="914400" rtl="0" algn="l">
              <a:spcBef>
                <a:spcPts val="0"/>
              </a:spcBef>
              <a:spcAft>
                <a:spcPts val="0"/>
              </a:spcAft>
              <a:buClr>
                <a:schemeClr val="dk1"/>
              </a:buClr>
              <a:buSzPts val="1500"/>
              <a:buChar char="○"/>
            </a:pPr>
            <a:r>
              <a:rPr lang="vi" sz="1500">
                <a:solidFill>
                  <a:schemeClr val="dk1"/>
                </a:solidFill>
              </a:rPr>
              <a:t>Base Image: eclipse-temurin:21-jdk-alpine (builder), </a:t>
            </a:r>
            <a:br>
              <a:rPr lang="vi" sz="1500">
                <a:solidFill>
                  <a:schemeClr val="dk1"/>
                </a:solidFill>
              </a:rPr>
            </a:br>
            <a:r>
              <a:rPr lang="vi" sz="1500">
                <a:solidFill>
                  <a:schemeClr val="dk1"/>
                </a:solidFill>
              </a:rPr>
              <a:t>eclipse-temurin:21-jre-alpine (runtime)</a:t>
            </a:r>
            <a:endParaRPr sz="1500">
              <a:solidFill>
                <a:schemeClr val="dk1"/>
              </a:solidFill>
            </a:endParaRPr>
          </a:p>
          <a:p>
            <a:pPr indent="-323850" lvl="1" marL="914400" rtl="0" algn="l">
              <a:spcBef>
                <a:spcPts val="0"/>
              </a:spcBef>
              <a:spcAft>
                <a:spcPts val="0"/>
              </a:spcAft>
              <a:buClr>
                <a:schemeClr val="dk1"/>
              </a:buClr>
              <a:buSzPts val="1500"/>
              <a:buChar char="○"/>
            </a:pPr>
            <a:r>
              <a:rPr lang="vi" sz="1500">
                <a:solidFill>
                  <a:schemeClr val="dk1"/>
                </a:solidFill>
              </a:rPr>
              <a:t>Multi-Stage Build: Reduces size by 70%</a:t>
            </a:r>
            <a:endParaRPr sz="1500">
              <a:solidFill>
                <a:schemeClr val="dk1"/>
              </a:solidFill>
            </a:endParaRPr>
          </a:p>
          <a:p>
            <a:pPr indent="-323850" lvl="1" marL="914400" rtl="0" algn="l">
              <a:spcBef>
                <a:spcPts val="0"/>
              </a:spcBef>
              <a:spcAft>
                <a:spcPts val="0"/>
              </a:spcAft>
              <a:buClr>
                <a:schemeClr val="dk1"/>
              </a:buClr>
              <a:buSzPts val="1500"/>
              <a:buChar char="○"/>
            </a:pPr>
            <a:r>
              <a:rPr lang="vi" sz="1500">
                <a:solidFill>
                  <a:schemeClr val="dk1"/>
                </a:solidFill>
              </a:rPr>
              <a:t>Security: Non-root user (appuser, UID 1001)</a:t>
            </a:r>
            <a:endParaRPr sz="1500">
              <a:solidFill>
                <a:schemeClr val="dk1"/>
              </a:solidFill>
            </a:endParaRPr>
          </a:p>
          <a:p>
            <a:pPr indent="-323850" lvl="1" marL="914400" rtl="0" algn="l">
              <a:spcBef>
                <a:spcPts val="0"/>
              </a:spcBef>
              <a:spcAft>
                <a:spcPts val="0"/>
              </a:spcAft>
              <a:buClr>
                <a:schemeClr val="dk1"/>
              </a:buClr>
              <a:buSzPts val="1500"/>
              <a:buChar char="○"/>
            </a:pPr>
            <a:r>
              <a:rPr lang="vi" sz="1500">
                <a:solidFill>
                  <a:schemeClr val="dk1"/>
                </a:solidFill>
              </a:rPr>
              <a:t>Health Check: Built-in Docker healthcheck</a:t>
            </a:r>
            <a:endParaRPr sz="1500">
              <a:solidFill>
                <a:schemeClr val="dk1"/>
              </a:solidFill>
            </a:endParaRPr>
          </a:p>
          <a:p>
            <a:pPr indent="-323850" lvl="1" marL="914400" rtl="0" algn="l">
              <a:spcBef>
                <a:spcPts val="0"/>
              </a:spcBef>
              <a:spcAft>
                <a:spcPts val="0"/>
              </a:spcAft>
              <a:buClr>
                <a:schemeClr val="dk1"/>
              </a:buClr>
              <a:buSzPts val="1500"/>
              <a:buChar char="○"/>
            </a:pPr>
            <a:r>
              <a:rPr lang="vi" sz="1500">
                <a:solidFill>
                  <a:schemeClr val="dk1"/>
                </a:solidFill>
              </a:rPr>
              <a:t>Size: ~150-200MB (optimized from 500MB+)</a:t>
            </a:r>
            <a:endParaRPr sz="1500">
              <a:solidFill>
                <a:schemeClr val="dk1"/>
              </a:solidFill>
            </a:endParaRPr>
          </a:p>
          <a:p>
            <a:pPr indent="-349250" lvl="0" marL="457200" rtl="0" algn="l">
              <a:spcBef>
                <a:spcPts val="0"/>
              </a:spcBef>
              <a:spcAft>
                <a:spcPts val="0"/>
              </a:spcAft>
              <a:buClr>
                <a:schemeClr val="dk1"/>
              </a:buClr>
              <a:buSzPts val="1900"/>
              <a:buChar char="●"/>
            </a:pPr>
            <a:r>
              <a:rPr lang="vi" sz="1900">
                <a:solidFill>
                  <a:schemeClr val="dk1"/>
                </a:solidFill>
              </a:rPr>
              <a:t>Trivy Scanning</a:t>
            </a:r>
            <a:endParaRPr sz="1900">
              <a:solidFill>
                <a:schemeClr val="dk1"/>
              </a:solidFill>
            </a:endParaRPr>
          </a:p>
          <a:p>
            <a:pPr indent="-323850" lvl="1" marL="914400" rtl="0" algn="l">
              <a:spcBef>
                <a:spcPts val="0"/>
              </a:spcBef>
              <a:spcAft>
                <a:spcPts val="0"/>
              </a:spcAft>
              <a:buClr>
                <a:schemeClr val="dk1"/>
              </a:buClr>
              <a:buSzPts val="1500"/>
              <a:buChar char="○"/>
            </a:pPr>
            <a:r>
              <a:rPr lang="vi" sz="1500">
                <a:solidFill>
                  <a:schemeClr val="dk1"/>
                </a:solidFill>
              </a:rPr>
              <a:t>Tool: aquasecurity/trivy-action@master</a:t>
            </a:r>
            <a:endParaRPr sz="1500">
              <a:solidFill>
                <a:schemeClr val="dk1"/>
              </a:solidFill>
            </a:endParaRPr>
          </a:p>
          <a:p>
            <a:pPr indent="-323850" lvl="1" marL="914400" rtl="0" algn="l">
              <a:spcBef>
                <a:spcPts val="0"/>
              </a:spcBef>
              <a:spcAft>
                <a:spcPts val="0"/>
              </a:spcAft>
              <a:buClr>
                <a:schemeClr val="dk1"/>
              </a:buClr>
              <a:buSzPts val="1500"/>
              <a:buChar char="○"/>
            </a:pPr>
            <a:r>
              <a:rPr lang="vi" sz="1500">
                <a:solidFill>
                  <a:schemeClr val="dk1"/>
                </a:solidFill>
              </a:rPr>
              <a:t>Format: SARIF for GitHub Security tab</a:t>
            </a:r>
            <a:endParaRPr sz="1500">
              <a:solidFill>
                <a:schemeClr val="dk1"/>
              </a:solidFill>
            </a:endParaRPr>
          </a:p>
          <a:p>
            <a:pPr indent="-323850" lvl="1" marL="914400" rtl="0" algn="l">
              <a:spcBef>
                <a:spcPts val="0"/>
              </a:spcBef>
              <a:spcAft>
                <a:spcPts val="0"/>
              </a:spcAft>
              <a:buClr>
                <a:schemeClr val="dk1"/>
              </a:buClr>
              <a:buSzPts val="1500"/>
              <a:buChar char="○"/>
            </a:pPr>
            <a:r>
              <a:rPr lang="vi" sz="1500">
                <a:solidFill>
                  <a:schemeClr val="dk1"/>
                </a:solidFill>
              </a:rPr>
              <a:t>Scans: OS packages, application dependencies</a:t>
            </a:r>
            <a:endParaRPr sz="1500">
              <a:solidFill>
                <a:schemeClr val="dk1"/>
              </a:solidFill>
            </a:endParaRPr>
          </a:p>
          <a:p>
            <a:pPr indent="-323850" lvl="1" marL="914400" rtl="0" algn="l">
              <a:spcBef>
                <a:spcPts val="0"/>
              </a:spcBef>
              <a:spcAft>
                <a:spcPts val="0"/>
              </a:spcAft>
              <a:buClr>
                <a:schemeClr val="dk1"/>
              </a:buClr>
              <a:buSzPts val="1500"/>
              <a:buChar char="○"/>
            </a:pPr>
            <a:r>
              <a:rPr lang="vi" sz="1500">
                <a:solidFill>
                  <a:schemeClr val="dk1"/>
                </a:solidFill>
              </a:rPr>
              <a:t>Upload: Results uploaded as artifacts</a:t>
            </a:r>
            <a:endParaRPr sz="1500">
              <a:solidFill>
                <a:schemeClr val="dk1"/>
              </a:solidFill>
            </a:endParaRPr>
          </a:p>
        </p:txBody>
      </p:sp>
      <p:pic>
        <p:nvPicPr>
          <p:cNvPr id="453" name="Google Shape;453;p67" title="Screenshot 2025-10-26 at 22.59.01.png"/>
          <p:cNvPicPr preferRelativeResize="0"/>
          <p:nvPr/>
        </p:nvPicPr>
        <p:blipFill>
          <a:blip r:embed="rId3">
            <a:alphaModFix/>
          </a:blip>
          <a:stretch>
            <a:fillRect/>
          </a:stretch>
        </p:blipFill>
        <p:spPr>
          <a:xfrm>
            <a:off x="6073151" y="242163"/>
            <a:ext cx="2504875" cy="465917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68"/>
          <p:cNvSpPr txBox="1"/>
          <p:nvPr>
            <p:ph idx="1" type="body"/>
          </p:nvPr>
        </p:nvSpPr>
        <p:spPr>
          <a:xfrm>
            <a:off x="311700" y="223625"/>
            <a:ext cx="8520600" cy="434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vi">
                <a:solidFill>
                  <a:schemeClr val="dk1"/>
                </a:solidFill>
              </a:rPr>
              <a:t>OWASP ZAP Baseline - DAST</a:t>
            </a:r>
            <a:endParaRPr b="1">
              <a:solidFill>
                <a:schemeClr val="dk1"/>
              </a:solidFill>
            </a:endParaRPr>
          </a:p>
          <a:p>
            <a:pPr indent="-361950" lvl="0" marL="457200" rtl="0" algn="l">
              <a:spcBef>
                <a:spcPts val="1200"/>
              </a:spcBef>
              <a:spcAft>
                <a:spcPts val="0"/>
              </a:spcAft>
              <a:buClr>
                <a:schemeClr val="dk1"/>
              </a:buClr>
              <a:buSzPts val="2100"/>
              <a:buChar char="●"/>
            </a:pPr>
            <a:r>
              <a:rPr lang="vi" sz="2100">
                <a:solidFill>
                  <a:schemeClr val="dk1"/>
                </a:solidFill>
              </a:rPr>
              <a:t>What It Tests:</a:t>
            </a:r>
            <a:endParaRPr sz="2100">
              <a:solidFill>
                <a:schemeClr val="dk1"/>
              </a:solidFill>
            </a:endParaRPr>
          </a:p>
          <a:p>
            <a:pPr indent="-336550" lvl="1" marL="914400" rtl="0" algn="l">
              <a:spcBef>
                <a:spcPts val="0"/>
              </a:spcBef>
              <a:spcAft>
                <a:spcPts val="0"/>
              </a:spcAft>
              <a:buClr>
                <a:schemeClr val="dk1"/>
              </a:buClr>
              <a:buSzPts val="1700"/>
              <a:buChar char="○"/>
            </a:pPr>
            <a:r>
              <a:rPr lang="vi" sz="1700">
                <a:solidFill>
                  <a:schemeClr val="dk1"/>
                </a:solidFill>
              </a:rPr>
              <a:t>SQL injection vulnerabilities</a:t>
            </a:r>
            <a:endParaRPr sz="1700">
              <a:solidFill>
                <a:schemeClr val="dk1"/>
              </a:solidFill>
            </a:endParaRPr>
          </a:p>
          <a:p>
            <a:pPr indent="-336550" lvl="1" marL="914400" rtl="0" algn="l">
              <a:spcBef>
                <a:spcPts val="0"/>
              </a:spcBef>
              <a:spcAft>
                <a:spcPts val="0"/>
              </a:spcAft>
              <a:buClr>
                <a:schemeClr val="dk1"/>
              </a:buClr>
              <a:buSzPts val="1700"/>
              <a:buChar char="○"/>
            </a:pPr>
            <a:r>
              <a:rPr lang="vi" sz="1700">
                <a:solidFill>
                  <a:schemeClr val="dk1"/>
                </a:solidFill>
              </a:rPr>
              <a:t>XSS (Cross-Site Scripting)</a:t>
            </a:r>
            <a:endParaRPr sz="1700">
              <a:solidFill>
                <a:schemeClr val="dk1"/>
              </a:solidFill>
            </a:endParaRPr>
          </a:p>
          <a:p>
            <a:pPr indent="-336550" lvl="1" marL="914400" rtl="0" algn="l">
              <a:spcBef>
                <a:spcPts val="0"/>
              </a:spcBef>
              <a:spcAft>
                <a:spcPts val="0"/>
              </a:spcAft>
              <a:buClr>
                <a:schemeClr val="dk1"/>
              </a:buClr>
              <a:buSzPts val="1700"/>
              <a:buChar char="○"/>
            </a:pPr>
            <a:r>
              <a:rPr lang="vi" sz="1700">
                <a:solidFill>
                  <a:schemeClr val="dk1"/>
                </a:solidFill>
              </a:rPr>
              <a:t>Authentication flaws</a:t>
            </a:r>
            <a:endParaRPr sz="1700">
              <a:solidFill>
                <a:schemeClr val="dk1"/>
              </a:solidFill>
            </a:endParaRPr>
          </a:p>
          <a:p>
            <a:pPr indent="-336550" lvl="1" marL="914400" rtl="0" algn="l">
              <a:spcBef>
                <a:spcPts val="0"/>
              </a:spcBef>
              <a:spcAft>
                <a:spcPts val="0"/>
              </a:spcAft>
              <a:buClr>
                <a:schemeClr val="dk1"/>
              </a:buClr>
              <a:buSzPts val="1700"/>
              <a:buChar char="○"/>
            </a:pPr>
            <a:r>
              <a:rPr lang="vi" sz="1700">
                <a:solidFill>
                  <a:schemeClr val="dk1"/>
                </a:solidFill>
              </a:rPr>
              <a:t>Security misconfigurations</a:t>
            </a:r>
            <a:endParaRPr sz="1700">
              <a:solidFill>
                <a:schemeClr val="dk1"/>
              </a:solidFill>
            </a:endParaRPr>
          </a:p>
          <a:p>
            <a:pPr indent="-336550" lvl="1" marL="914400" rtl="0" algn="l">
              <a:spcBef>
                <a:spcPts val="0"/>
              </a:spcBef>
              <a:spcAft>
                <a:spcPts val="0"/>
              </a:spcAft>
              <a:buClr>
                <a:schemeClr val="dk1"/>
              </a:buClr>
              <a:buSzPts val="1700"/>
              <a:buChar char="○"/>
            </a:pPr>
            <a:r>
              <a:rPr lang="vi" sz="1700">
                <a:solidFill>
                  <a:schemeClr val="dk1"/>
                </a:solidFill>
              </a:rPr>
              <a:t>Target: https://yushan.duckdns.org</a:t>
            </a:r>
            <a:endParaRPr sz="1700">
              <a:solidFill>
                <a:schemeClr val="dk1"/>
              </a:solidFill>
            </a:endParaRPr>
          </a:p>
        </p:txBody>
      </p:sp>
      <p:pic>
        <p:nvPicPr>
          <p:cNvPr id="459" name="Google Shape;459;p68" title="Screenshot 2025-10-26 at 23.03.42.png"/>
          <p:cNvPicPr preferRelativeResize="0"/>
          <p:nvPr/>
        </p:nvPicPr>
        <p:blipFill>
          <a:blip r:embed="rId3">
            <a:alphaModFix/>
          </a:blip>
          <a:stretch>
            <a:fillRect/>
          </a:stretch>
        </p:blipFill>
        <p:spPr>
          <a:xfrm>
            <a:off x="5223363" y="781738"/>
            <a:ext cx="2943225" cy="32289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69"/>
          <p:cNvSpPr txBox="1"/>
          <p:nvPr>
            <p:ph idx="1" type="body"/>
          </p:nvPr>
        </p:nvSpPr>
        <p:spPr>
          <a:xfrm>
            <a:off x="311700" y="223625"/>
            <a:ext cx="8520600" cy="434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vi">
                <a:solidFill>
                  <a:schemeClr val="dk1"/>
                </a:solidFill>
              </a:rPr>
              <a:t>4. Improvements</a:t>
            </a:r>
            <a:endParaRPr b="1">
              <a:solidFill>
                <a:schemeClr val="dk1"/>
              </a:solidFill>
            </a:endParaRPr>
          </a:p>
          <a:p>
            <a:pPr indent="-342900" lvl="0" marL="457200" rtl="0" algn="l">
              <a:spcBef>
                <a:spcPts val="1200"/>
              </a:spcBef>
              <a:spcAft>
                <a:spcPts val="0"/>
              </a:spcAft>
              <a:buClr>
                <a:schemeClr val="dk1"/>
              </a:buClr>
              <a:buSzPts val="1800"/>
              <a:buChar char="●"/>
            </a:pPr>
            <a:r>
              <a:rPr lang="vi">
                <a:solidFill>
                  <a:schemeClr val="dk1"/>
                </a:solidFill>
              </a:rPr>
              <a:t>Docker Build Optimization</a:t>
            </a:r>
            <a:endParaRPr>
              <a:solidFill>
                <a:schemeClr val="dk1"/>
              </a:solidFill>
            </a:endParaRPr>
          </a:p>
          <a:p>
            <a:pPr indent="-317500" lvl="1" marL="914400" rtl="0" algn="l">
              <a:spcBef>
                <a:spcPts val="0"/>
              </a:spcBef>
              <a:spcAft>
                <a:spcPts val="0"/>
              </a:spcAft>
              <a:buClr>
                <a:schemeClr val="dk1"/>
              </a:buClr>
              <a:buSzPts val="1400"/>
              <a:buChar char="○"/>
            </a:pPr>
            <a:r>
              <a:rPr lang="vi">
                <a:solidFill>
                  <a:schemeClr val="dk1"/>
                </a:solidFill>
              </a:rPr>
              <a:t>Before: Single-stage build, large images (500MB+)</a:t>
            </a:r>
            <a:endParaRPr>
              <a:solidFill>
                <a:schemeClr val="dk1"/>
              </a:solidFill>
            </a:endParaRPr>
          </a:p>
          <a:p>
            <a:pPr indent="-317500" lvl="1" marL="914400" rtl="0" algn="l">
              <a:spcBef>
                <a:spcPts val="0"/>
              </a:spcBef>
              <a:spcAft>
                <a:spcPts val="0"/>
              </a:spcAft>
              <a:buClr>
                <a:schemeClr val="dk1"/>
              </a:buClr>
              <a:buSzPts val="1400"/>
              <a:buChar char="○"/>
            </a:pPr>
            <a:r>
              <a:rPr lang="vi">
                <a:solidFill>
                  <a:schemeClr val="dk1"/>
                </a:solidFill>
              </a:rPr>
              <a:t>After: Multi-stage build with Alpine Linux</a:t>
            </a:r>
            <a:endParaRPr>
              <a:solidFill>
                <a:schemeClr val="dk1"/>
              </a:solidFill>
            </a:endParaRPr>
          </a:p>
          <a:p>
            <a:pPr indent="-317500" lvl="1" marL="914400" rtl="0" algn="l">
              <a:spcBef>
                <a:spcPts val="0"/>
              </a:spcBef>
              <a:spcAft>
                <a:spcPts val="0"/>
              </a:spcAft>
              <a:buClr>
                <a:schemeClr val="dk1"/>
              </a:buClr>
              <a:buSzPts val="1400"/>
              <a:buChar char="○"/>
            </a:pPr>
            <a:r>
              <a:rPr lang="vi">
                <a:solidFill>
                  <a:schemeClr val="dk1"/>
                </a:solidFill>
              </a:rPr>
              <a:t>Result: 70% smaller images (150-200MB)</a:t>
            </a:r>
            <a:endParaRPr>
              <a:solidFill>
                <a:schemeClr val="dk1"/>
              </a:solidFill>
            </a:endParaRPr>
          </a:p>
          <a:p>
            <a:pPr indent="-342900" lvl="0" marL="457200" rtl="0" algn="l">
              <a:spcBef>
                <a:spcPts val="0"/>
              </a:spcBef>
              <a:spcAft>
                <a:spcPts val="0"/>
              </a:spcAft>
              <a:buClr>
                <a:schemeClr val="dk1"/>
              </a:buClr>
              <a:buSzPts val="1800"/>
              <a:buChar char="●"/>
            </a:pPr>
            <a:r>
              <a:rPr lang="vi">
                <a:solidFill>
                  <a:schemeClr val="dk1"/>
                </a:solidFill>
              </a:rPr>
              <a:t>Maven Dependency Caching</a:t>
            </a:r>
            <a:endParaRPr>
              <a:solidFill>
                <a:schemeClr val="dk1"/>
              </a:solidFill>
            </a:endParaRPr>
          </a:p>
          <a:p>
            <a:pPr indent="-317500" lvl="1" marL="914400" rtl="0" algn="l">
              <a:spcBef>
                <a:spcPts val="0"/>
              </a:spcBef>
              <a:spcAft>
                <a:spcPts val="0"/>
              </a:spcAft>
              <a:buClr>
                <a:schemeClr val="dk1"/>
              </a:buClr>
              <a:buSzPts val="1400"/>
              <a:buChar char="○"/>
            </a:pPr>
            <a:r>
              <a:rPr lang="vi">
                <a:solidFill>
                  <a:schemeClr val="dk1"/>
                </a:solidFill>
              </a:rPr>
              <a:t>Implementation: GitHub Actions cache for .m2/repository</a:t>
            </a:r>
            <a:endParaRPr>
              <a:solidFill>
                <a:schemeClr val="dk1"/>
              </a:solidFill>
            </a:endParaRPr>
          </a:p>
          <a:p>
            <a:pPr indent="-317500" lvl="1" marL="914400" rtl="0" algn="l">
              <a:spcBef>
                <a:spcPts val="0"/>
              </a:spcBef>
              <a:spcAft>
                <a:spcPts val="0"/>
              </a:spcAft>
              <a:buClr>
                <a:schemeClr val="dk1"/>
              </a:buClr>
              <a:buSzPts val="1400"/>
              <a:buChar char="○"/>
            </a:pPr>
            <a:r>
              <a:rPr lang="vi">
                <a:solidFill>
                  <a:schemeClr val="dk1"/>
                </a:solidFill>
              </a:rPr>
              <a:t>Result: Dependency download reduced from 5 minutes to 1 </a:t>
            </a:r>
            <a:r>
              <a:rPr lang="vi">
                <a:solidFill>
                  <a:schemeClr val="dk1"/>
                </a:solidFill>
              </a:rPr>
              <a:t>minutes</a:t>
            </a:r>
            <a:endParaRPr>
              <a:solidFill>
                <a:schemeClr val="dk1"/>
              </a:solidFill>
            </a:endParaRPr>
          </a:p>
          <a:p>
            <a:pPr indent="-342900" lvl="0" marL="457200" rtl="0" algn="l">
              <a:spcBef>
                <a:spcPts val="0"/>
              </a:spcBef>
              <a:spcAft>
                <a:spcPts val="0"/>
              </a:spcAft>
              <a:buClr>
                <a:schemeClr val="dk1"/>
              </a:buClr>
              <a:buSzPts val="1800"/>
              <a:buChar char="●"/>
            </a:pPr>
            <a:r>
              <a:rPr lang="vi">
                <a:solidFill>
                  <a:schemeClr val="dk1"/>
                </a:solidFill>
              </a:rPr>
              <a:t>Test Execution Parallelization</a:t>
            </a:r>
            <a:endParaRPr>
              <a:solidFill>
                <a:schemeClr val="dk1"/>
              </a:solidFill>
            </a:endParaRPr>
          </a:p>
          <a:p>
            <a:pPr indent="-317500" lvl="1" marL="914400" rtl="0" algn="l">
              <a:spcBef>
                <a:spcPts val="0"/>
              </a:spcBef>
              <a:spcAft>
                <a:spcPts val="0"/>
              </a:spcAft>
              <a:buClr>
                <a:schemeClr val="dk1"/>
              </a:buClr>
              <a:buSzPts val="1400"/>
              <a:buChar char="○"/>
            </a:pPr>
            <a:r>
              <a:rPr lang="vi">
                <a:solidFill>
                  <a:schemeClr val="dk1"/>
                </a:solidFill>
              </a:rPr>
              <a:t>Implementation: Run unit and integration tests in separate jobs instead of sequentially. Same for Lint &amp; Quality Checks and Security Scans</a:t>
            </a:r>
            <a:endParaRPr>
              <a:solidFill>
                <a:schemeClr val="dk1"/>
              </a:solidFill>
            </a:endParaRPr>
          </a:p>
          <a:p>
            <a:pPr indent="-342900" lvl="0" marL="457200" rtl="0" algn="l">
              <a:spcBef>
                <a:spcPts val="0"/>
              </a:spcBef>
              <a:spcAft>
                <a:spcPts val="0"/>
              </a:spcAft>
              <a:buClr>
                <a:schemeClr val="dk1"/>
              </a:buClr>
              <a:buSzPts val="1800"/>
              <a:buChar char="●"/>
            </a:pPr>
            <a:r>
              <a:rPr lang="vi">
                <a:solidFill>
                  <a:schemeClr val="dk1"/>
                </a:solidFill>
              </a:rPr>
              <a:t>Logging Strategy (Monitoring &amp; Observability)</a:t>
            </a:r>
            <a:endParaRPr>
              <a:solidFill>
                <a:schemeClr val="dk1"/>
              </a:solidFill>
            </a:endParaRPr>
          </a:p>
          <a:p>
            <a:pPr indent="-317500" lvl="1" marL="914400" rtl="0" algn="l">
              <a:spcBef>
                <a:spcPts val="0"/>
              </a:spcBef>
              <a:spcAft>
                <a:spcPts val="0"/>
              </a:spcAft>
              <a:buClr>
                <a:schemeClr val="dk1"/>
              </a:buClr>
              <a:buSzPts val="1400"/>
              <a:buChar char="○"/>
            </a:pPr>
            <a:r>
              <a:rPr lang="vi">
                <a:solidFill>
                  <a:schemeClr val="dk1"/>
                </a:solidFill>
              </a:rPr>
              <a:t>Implementation: Docker syslog driver for centralized logging</a:t>
            </a:r>
            <a:endParaRPr>
              <a:solidFill>
                <a:schemeClr val="dk1"/>
              </a:solidFill>
            </a:endParaRPr>
          </a:p>
          <a:p>
            <a:pPr indent="-317500" lvl="1" marL="914400" rtl="0" algn="l">
              <a:spcBef>
                <a:spcPts val="0"/>
              </a:spcBef>
              <a:spcAft>
                <a:spcPts val="0"/>
              </a:spcAft>
              <a:buClr>
                <a:schemeClr val="dk1"/>
              </a:buClr>
              <a:buSzPts val="1400"/>
              <a:buChar char="○"/>
            </a:pPr>
            <a:r>
              <a:rPr lang="vi">
                <a:solidFill>
                  <a:schemeClr val="dk1"/>
                </a:solidFill>
              </a:rPr>
              <a:t>Container → Docker Syslog Driver → Logstash (UDP 514) → Elasticsearch → Kibana</a:t>
            </a:r>
            <a:endParaRPr>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70"/>
          <p:cNvSpPr txBox="1"/>
          <p:nvPr>
            <p:ph idx="1" type="body"/>
          </p:nvPr>
        </p:nvSpPr>
        <p:spPr>
          <a:xfrm>
            <a:off x="311700" y="223625"/>
            <a:ext cx="8520600" cy="4345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vi">
                <a:solidFill>
                  <a:schemeClr val="dk1"/>
                </a:solidFill>
              </a:rPr>
              <a:t>5</a:t>
            </a:r>
            <a:r>
              <a:rPr b="1" lang="vi">
                <a:solidFill>
                  <a:schemeClr val="dk1"/>
                </a:solidFill>
              </a:rPr>
              <a:t>. Demo CI/CD Pipeline - Demo 1</a:t>
            </a:r>
            <a:endParaRPr b="1">
              <a:solidFill>
                <a:schemeClr val="dk1"/>
              </a:solidFill>
            </a:endParaRPr>
          </a:p>
        </p:txBody>
      </p:sp>
      <p:pic>
        <p:nvPicPr>
          <p:cNvPr id="470" name="Google Shape;470;p70" title="CICD-1_3.mp4">
            <a:hlinkClick r:id="rId3"/>
          </p:cNvPr>
          <p:cNvPicPr preferRelativeResize="0"/>
          <p:nvPr/>
        </p:nvPicPr>
        <p:blipFill>
          <a:blip r:embed="rId4">
            <a:alphaModFix/>
          </a:blip>
          <a:stretch>
            <a:fillRect/>
          </a:stretch>
        </p:blipFill>
        <p:spPr>
          <a:xfrm>
            <a:off x="1027025" y="741300"/>
            <a:ext cx="7089926" cy="39880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
                                        </p:tgtEl>
                                        <p:attrNameLst>
                                          <p:attrName>style.visibility</p:attrName>
                                        </p:attrNameLst>
                                      </p:cBhvr>
                                      <p:to>
                                        <p:strVal val="visible"/>
                                      </p:to>
                                    </p:set>
                                    <p:animEffect filter="fade" transition="in">
                                      <p:cBhvr>
                                        <p:cTn dur="1000"/>
                                        <p:tgtEl>
                                          <p:spTgt spid="4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71"/>
          <p:cNvSpPr txBox="1"/>
          <p:nvPr>
            <p:ph idx="1" type="body"/>
          </p:nvPr>
        </p:nvSpPr>
        <p:spPr>
          <a:xfrm>
            <a:off x="311700" y="223625"/>
            <a:ext cx="8520600" cy="4345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vi">
                <a:solidFill>
                  <a:schemeClr val="dk1"/>
                </a:solidFill>
              </a:rPr>
              <a:t>5</a:t>
            </a:r>
            <a:r>
              <a:rPr b="1" lang="vi">
                <a:solidFill>
                  <a:schemeClr val="dk1"/>
                </a:solidFill>
              </a:rPr>
              <a:t>. Demo CI/CD Pipeline - Demo 2</a:t>
            </a:r>
            <a:endParaRPr b="1">
              <a:solidFill>
                <a:schemeClr val="dk1"/>
              </a:solidFill>
            </a:endParaRPr>
          </a:p>
        </p:txBody>
      </p:sp>
      <p:pic>
        <p:nvPicPr>
          <p:cNvPr id="476" name="Google Shape;476;p71" title="CICD-2_1.mp4">
            <a:hlinkClick r:id="rId3"/>
          </p:cNvPr>
          <p:cNvPicPr preferRelativeResize="0"/>
          <p:nvPr/>
        </p:nvPicPr>
        <p:blipFill>
          <a:blip r:embed="rId4">
            <a:alphaModFix/>
          </a:blip>
          <a:stretch>
            <a:fillRect/>
          </a:stretch>
        </p:blipFill>
        <p:spPr>
          <a:xfrm>
            <a:off x="977350" y="743375"/>
            <a:ext cx="7189301" cy="40439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1000"/>
                                        <p:tgtEl>
                                          <p:spTgt spid="4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72"/>
          <p:cNvSpPr txBox="1"/>
          <p:nvPr>
            <p:ph type="title"/>
          </p:nvPr>
        </p:nvSpPr>
        <p:spPr>
          <a:xfrm>
            <a:off x="311700" y="10922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vi" sz="3120"/>
              <a:t>Thank you!</a:t>
            </a:r>
            <a:endParaRPr b="1" sz="3120"/>
          </a:p>
        </p:txBody>
      </p:sp>
      <p:sp>
        <p:nvSpPr>
          <p:cNvPr id="482" name="Google Shape;482;p72"/>
          <p:cNvSpPr txBox="1"/>
          <p:nvPr>
            <p:ph idx="1" type="body"/>
          </p:nvPr>
        </p:nvSpPr>
        <p:spPr>
          <a:xfrm>
            <a:off x="311700" y="1720900"/>
            <a:ext cx="8520600" cy="2847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vi" sz="2000"/>
              <a:t>Now, we would like to move to the live demo of our application! </a:t>
            </a:r>
            <a:endParaRPr sz="2000"/>
          </a:p>
          <a:p>
            <a:pPr indent="0" lvl="0" marL="0" rtl="0" algn="l">
              <a:spcBef>
                <a:spcPts val="1200"/>
              </a:spcBef>
              <a:spcAft>
                <a:spcPts val="1200"/>
              </a:spcAft>
              <a:buNone/>
            </a:pPr>
            <a:r>
              <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